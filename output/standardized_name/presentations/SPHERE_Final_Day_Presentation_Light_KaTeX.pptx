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Default ContentType="application/vnd.openxmlformats-officedocument.spreadsheetml.sheet" Extension="xlsx"/>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hH4fCwlrG7SKHNSx508JCEfIs2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F42712-D0EC-4517-BA7C-B1604880E71E}">
  <a:tblStyle styleId="{65F42712-D0EC-4517-BA7C-B1604880E71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Relationships xmlns="http://schemas.openxmlformats.org/package/2006/relationships"><Relationship Id="rIdChartSnapshot1" Type="http://schemas.openxmlformats.org/officeDocument/2006/relationships/package" Target="../embeddings/Microsoft_Excel_Sheet1.xlsx"/></Relationships>
</file>

<file path=ppt/charts/_rels/chart2.xml.rels><?xml version="1.0" encoding="UTF-8" standalone="yes"?><Relationships xmlns="http://schemas.openxmlformats.org/package/2006/relationships"><Relationship Id="rIdChartSnapshot1" Type="http://schemas.openxmlformats.org/officeDocument/2006/relationships/package" Target="../embeddings/Microsoft_Excel_Sheet2.xlsx"/></Relationships>
</file>

<file path=ppt/charts/chart1.xml><?xml version="1.0" encoding="utf-8"?>
<c:chartSpace xmlns:r="http://schemas.openxmlformats.org/officeDocument/2006/relationships" xmlns:c="http://schemas.openxmlformats.org/drawingml/2006/chart">
  <c:lang val="en-US"/>
  <c:chart>
    <c:plotArea>
      <c:lineChart>
        <c:grouping val="standard"/>
        <c:varyColors val="0"/>
        <c:ser>
          <c:idx val="0"/>
          <c:order val="0"/>
          <c:tx>
            <c:v>Bare control</c:v>
          </c:tx>
          <c:spPr>
            <a:ln xmlns:a="http://schemas.openxmlformats.org/drawingml/2006/main" w="28575">
              <a:solidFill>
                <a:srgbClr val="C83A3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B66A00"/>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0B8B61"/>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legend>
    <c:plotVisOnly val="1"/>
  </c:chart>
  <c:externalData r:id="rIdChartSnapshot1">
    <c:autoUpdate val="0"/>
  </c:externalData>
</c:chartSpace>
</file>

<file path=ppt/charts/chart2.xml><?xml version="1.0" encoding="utf-8"?>
<c:chartSpace xmlns:r="http://schemas.openxmlformats.org/officeDocument/2006/relationships" xmlns:c="http://schemas.openxmlformats.org/drawingml/2006/chart">
  <c:lang val="en-US"/>
  <c:chart>
    <c:plotArea>
      <c:lineChart>
        <c:grouping val="standard"/>
        <c:varyColors val="0"/>
        <c:ser>
          <c:idx val="0"/>
          <c:order val="0"/>
          <c:tx>
            <c:v>Full MLI</c:v>
          </c:tx>
          <c:spPr>
            <a:ln xmlns:a="http://schemas.openxmlformats.org/drawingml/2006/main" w="38100">
              <a:solidFill>
                <a:srgbClr val="0B8B61"/>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10253F"/>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B66A00"/>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29455F"/>
              </a:solidFill>
              <a:latin typeface="Avenir Next"/>
              <a:ea typeface="Avenir Next"/>
              <a:cs typeface="Avenir Next"/>
            </a:defRPr>
          </a:pPr>
        </a:p>
      </c:txPr>
    </c:legend>
    <c:plotVisOnly val="1"/>
  </c:chart>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Open with the project purpose: SPHERE turns a spacesuit thermal-control challenge into a measurable classroom experiment. Introduce the four-person team and preview the link between theory, the physical test, and Mission Control.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output/pdf/SPHERE_Thermal_Insulation_Project_Report_Updated.pdf</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Frame the laboratory as an engineering analogy. The ice bath emphasizes conduction and convection, while a real spacesuit in vacuum relies heavily on radiation control and active thermal management. Avoid claiming that the setup reproduces space.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1 and 2</a:t>
            </a:r>
            <a:endParaRPr/>
          </a:p>
          <a:p>
            <a:pPr indent="0" lvl="0" marL="0" rtl="0" algn="l">
              <a:spcBef>
                <a:spcPts val="0"/>
              </a:spcBef>
              <a:spcAft>
                <a:spcPts val="0"/>
              </a:spcAft>
              <a:buNone/>
            </a:pPr>
            <a:r>
              <a:rPr lang="en-US" sz="1200"/>
              <a:t>- SPHERE Mission Control overview</a:t>
            </a:r>
            <a:endParaRPr/>
          </a:p>
        </p:txBody>
      </p:sp>
      <p:sp>
        <p:nvSpPr>
          <p:cNvPr id="30" name="Google Shape;3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that the strongest project outcome is integration. Students move from theory to assembly, prediction, measurement, analysis and assessment without changing tools or terminology.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index.html</a:t>
            </a:r>
            <a:endParaRPr/>
          </a:p>
          <a:p>
            <a:pPr indent="0" lvl="0" marL="0" rtl="0" algn="l">
              <a:spcBef>
                <a:spcPts val="0"/>
              </a:spcBef>
              <a:spcAft>
                <a:spcPts val="0"/>
              </a:spcAft>
              <a:buNone/>
            </a:pPr>
            <a:r>
              <a:rPr lang="en-US" sz="1200"/>
              <a:t>- student_manual.html</a:t>
            </a:r>
            <a:endParaRPr/>
          </a:p>
          <a:p>
            <a:pPr indent="0" lvl="0" marL="0" rtl="0" algn="l">
              <a:spcBef>
                <a:spcPts val="0"/>
              </a:spcBef>
              <a:spcAft>
                <a:spcPts val="0"/>
              </a:spcAft>
              <a:buNone/>
            </a:pPr>
            <a:r>
              <a:rPr lang="en-US" sz="1200"/>
              <a:t>- teacher_manual.html</a:t>
            </a:r>
            <a:endParaRPr/>
          </a:p>
        </p:txBody>
      </p:sp>
      <p:sp>
        <p:nvSpPr>
          <p:cNvPr id="53" name="Google Shape;5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Connect each learning objective to an observable student action. The complete classroom run takes about 55 to 70 minutes, although the final presentation summarizes it in under 15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Engineering Project Report, Section 1</a:t>
            </a:r>
            <a:endParaRPr/>
          </a:p>
        </p:txBody>
      </p:sp>
      <p:sp>
        <p:nvSpPr>
          <p:cNvPr id="78" name="Google Shape;7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Point out the separate bath probe, the centered core probe and the need for consistent immersion depth. The apparatus is deliberately simple, reusable and browser-independent at the sensing stage.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3 and 10</a:t>
            </a:r>
            <a:endParaRPr/>
          </a:p>
          <a:p>
            <a:pPr indent="0" lvl="0" marL="0" rtl="0" algn="l">
              <a:spcBef>
                <a:spcPts val="0"/>
              </a:spcBef>
              <a:spcAft>
                <a:spcPts val="0"/>
              </a:spcAft>
              <a:buNone/>
            </a:pPr>
            <a:r>
              <a:rPr lang="en-US" sz="1200"/>
              <a:t>- Thermal_Insulation_SOP.docx</a:t>
            </a:r>
            <a:endParaRPr/>
          </a:p>
        </p:txBody>
      </p:sp>
      <p:sp>
        <p:nvSpPr>
          <p:cNvPr id="123" name="Google Shape;12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Describe the physical construction and keep the distinction between effective system coefficient k and material thermal conductivity λ. The current verified Mylar setting is 0.121 min⁻¹.</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app.js, modelConstants</a:t>
            </a:r>
            <a:endParaRPr/>
          </a:p>
          <a:p>
            <a:pPr indent="0" lvl="0" marL="0" rtl="0" algn="l">
              <a:spcBef>
                <a:spcPts val="0"/>
              </a:spcBef>
              <a:spcAft>
                <a:spcPts val="0"/>
              </a:spcAft>
              <a:buNone/>
            </a:pPr>
            <a:r>
              <a:rPr lang="en-US" sz="1200"/>
              <a:t>- Student Manual, test configurations</a:t>
            </a:r>
            <a:endParaRPr/>
          </a:p>
          <a:p>
            <a:pPr indent="0" lvl="0" marL="0" rtl="0" algn="l">
              <a:spcBef>
                <a:spcPts val="0"/>
              </a:spcBef>
              <a:spcAft>
                <a:spcPts val="0"/>
              </a:spcAft>
              <a:buNone/>
            </a:pPr>
            <a:r>
              <a:rPr lang="en-US" sz="1200"/>
              <a:t>- Engineering Project Report, Section 3</a:t>
            </a:r>
            <a:endParaRPr/>
          </a:p>
        </p:txBody>
      </p:sp>
      <p:sp>
        <p:nvSpPr>
          <p:cNvPr id="145" name="Google Shape;14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the model as a lumped-parameter approximation. The effective k captures geometry, thermal mass, the boundary and every heat-loss path. It must not be presented as the thermal conductivity of cotton, bubble wrap or Mylar.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2</a:t>
            </a:r>
            <a:endParaRPr/>
          </a:p>
          <a:p>
            <a:pPr indent="0" lvl="0" marL="0" rtl="0" algn="l">
              <a:spcBef>
                <a:spcPts val="0"/>
              </a:spcBef>
              <a:spcAft>
                <a:spcPts val="0"/>
              </a:spcAft>
              <a:buNone/>
            </a:pPr>
            <a:r>
              <a:rPr lang="en-US" sz="1200"/>
              <a:t>- README.md, Engineering model</a:t>
            </a:r>
            <a:endParaRPr/>
          </a:p>
        </p:txBody>
      </p:sp>
      <p:sp>
        <p:nvSpPr>
          <p:cNvPr id="172" name="Google Shape;17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Present safety as a design requirement. An adult handles hot water, every capsule is leak-tested, and only the metal probe enters water. Mention that the appendix contains the complete 12-step procedure.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4 and 10</a:t>
            </a:r>
            <a:endParaRPr/>
          </a:p>
          <a:p>
            <a:pPr indent="0" lvl="0" marL="0" rtl="0" algn="l">
              <a:spcBef>
                <a:spcPts val="0"/>
              </a:spcBef>
              <a:spcAft>
                <a:spcPts val="0"/>
              </a:spcAft>
              <a:buNone/>
            </a:pPr>
            <a:r>
              <a:rPr lang="en-US" sz="1200"/>
              <a:t>- Thermal Insulation SOP, Safety and Control Requirements</a:t>
            </a:r>
            <a:endParaRPr/>
          </a:p>
        </p:txBody>
      </p:sp>
      <p:sp>
        <p:nvSpPr>
          <p:cNvPr id="196" name="Google Shape;19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the closed loop. The website calculates the model but does not automate the thermometer. Students still observe and enter every value, then receive immediate visual and numerical feedback.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index.html</a:t>
            </a:r>
            <a:endParaRPr/>
          </a:p>
          <a:p>
            <a:pPr indent="0" lvl="0" marL="0" rtl="0" algn="l">
              <a:spcBef>
                <a:spcPts val="0"/>
              </a:spcBef>
              <a:spcAft>
                <a:spcPts val="0"/>
              </a:spcAft>
              <a:buNone/>
            </a:pPr>
            <a:r>
              <a:rPr lang="en-US" sz="1200"/>
              <a:t>- app.js</a:t>
            </a:r>
            <a:endParaRPr/>
          </a:p>
          <a:p>
            <a:pPr indent="0" lvl="0" marL="0" rtl="0" algn="l">
              <a:spcBef>
                <a:spcPts val="0"/>
              </a:spcBef>
              <a:spcAft>
                <a:spcPts val="0"/>
              </a:spcAft>
              <a:buNone/>
            </a:pPr>
            <a:r>
              <a:rPr lang="en-US" sz="1200"/>
              <a:t>- Engineering Project Report, Section 6</a:t>
            </a:r>
            <a:endParaRPr/>
          </a:p>
        </p:txBody>
      </p:sp>
      <p:sp>
        <p:nvSpPr>
          <p:cNvPr id="239" name="Google Shape;23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2:00–3:00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DEMO SCRIPT</a:t>
            </a:r>
            <a:endParaRPr/>
          </a:p>
          <a:p>
            <a:pPr indent="0" lvl="0" marL="0" rtl="0" algn="l">
              <a:spcBef>
                <a:spcPts val="0"/>
              </a:spcBef>
              <a:spcAft>
                <a:spcPts val="0"/>
              </a:spcAft>
              <a:buNone/>
            </a:pPr>
            <a:r>
              <a:rPr lang="en-US" sz="1200"/>
              <a:t>1. Open Simulator. Select Multilayer assembly. Confirm T₀ = 80 °C, Tenv = 0 °C and 15 minutes.</a:t>
            </a:r>
            <a:endParaRPr/>
          </a:p>
          <a:p>
            <a:pPr indent="0" lvl="0" marL="0" rtl="0" algn="l">
              <a:spcBef>
                <a:spcPts val="0"/>
              </a:spcBef>
              <a:spcAft>
                <a:spcPts val="0"/>
              </a:spcAft>
              <a:buNone/>
            </a:pPr>
            <a:r>
              <a:rPr lang="en-US" sz="1200"/>
              <a:t>2. Run the model and point to T(15) = 63.9 °C.</a:t>
            </a:r>
            <a:endParaRPr/>
          </a:p>
          <a:p>
            <a:pPr indent="0" lvl="0" marL="0" rtl="0" algn="l">
              <a:spcBef>
                <a:spcPts val="0"/>
              </a:spcBef>
              <a:spcAft>
                <a:spcPts val="0"/>
              </a:spcAft>
              <a:buNone/>
            </a:pPr>
            <a:r>
              <a:rPr lang="en-US" sz="1200"/>
              <a:t>3. Open Measurements. Load or show the supplied full-MLI series. Point to 16/16 points and MAE = 0.98 °C.</a:t>
            </a:r>
            <a:endParaRPr/>
          </a:p>
          <a:p>
            <a:pPr indent="0" lvl="0" marL="0" rtl="0" algn="l">
              <a:spcBef>
                <a:spcPts val="0"/>
              </a:spcBef>
              <a:spcAft>
                <a:spcPts val="0"/>
              </a:spcAft>
              <a:buNone/>
            </a:pPr>
            <a:r>
              <a:rPr lang="en-US" sz="1200"/>
              <a:t>4. Explain that residuals change sign because the measured curve does not follow one perfect exponential.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Fallback: remain on this slide if Chart.js, KaTeX or web fonts do not load. The screenshots preserve the exact demonstration state.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SPHERE Mission Control local website</a:t>
            </a:r>
            <a:endParaRPr/>
          </a:p>
          <a:p>
            <a:pPr indent="0" lvl="0" marL="0" rtl="0" algn="l">
              <a:spcBef>
                <a:spcPts val="0"/>
              </a:spcBef>
              <a:spcAft>
                <a:spcPts val="0"/>
              </a:spcAft>
              <a:buNone/>
            </a:pPr>
            <a:r>
              <a:rPr lang="en-US" sz="1200"/>
              <a:t>- Worked telemetry from Engineering Project Report, Section 8</a:t>
            </a:r>
            <a:endParaRPr/>
          </a:p>
        </p:txBody>
      </p:sp>
      <p:sp>
        <p:nvSpPr>
          <p:cNvPr id="263" name="Google Shape;26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the chart to establish the expected ranking under one common starting point and boundary. State clearly that the coefficients are teaching references that require calibration for a new geometry or build.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app.js, modelConstants</a:t>
            </a:r>
            <a:endParaRPr/>
          </a:p>
          <a:p>
            <a:pPr indent="0" lvl="0" marL="0" rtl="0" algn="l">
              <a:spcBef>
                <a:spcPts val="0"/>
              </a:spcBef>
              <a:spcAft>
                <a:spcPts val="0"/>
              </a:spcAft>
              <a:buNone/>
            </a:pPr>
            <a:r>
              <a:rPr lang="en-US" sz="1200"/>
              <a:t>- Engineering Project Report, Section 7</a:t>
            </a:r>
            <a:endParaRPr/>
          </a:p>
        </p:txBody>
      </p:sp>
      <p:sp>
        <p:nvSpPr>
          <p:cNvPr id="284" name="Google Shape;28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1:10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Compare temperature drop rather than final temperature alone because the four trials started at different values. The full MLI produced the smallest drop. Bubble wrap ranked second. The example is illustrative and does not replace repeated trials.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8</a:t>
            </a:r>
            <a:endParaRPr/>
          </a:p>
          <a:p>
            <a:pPr indent="0" lvl="0" marL="0" rtl="0" algn="l">
              <a:spcBef>
                <a:spcPts val="0"/>
              </a:spcBef>
              <a:spcAft>
                <a:spcPts val="0"/>
              </a:spcAft>
              <a:buNone/>
            </a:pPr>
            <a:r>
              <a:rPr lang="en-US" sz="1200"/>
              <a:t>- Thermal Insulation SOP, complete observed series</a:t>
            </a:r>
            <a:endParaRPr/>
          </a:p>
        </p:txBody>
      </p:sp>
      <p:sp>
        <p:nvSpPr>
          <p:cNvPr id="309" name="Google Shape;30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the Mylar result to demonstrate engineering interpretation. The correct conclusion concerns the boundary and construction, not a universal property of reflective insulation. Name two or three uncertainty sources and explain their direction of influence.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9</a:t>
            </a:r>
            <a:endParaRPr/>
          </a:p>
        </p:txBody>
      </p:sp>
      <p:sp>
        <p:nvSpPr>
          <p:cNvPr id="338" name="Google Shape;33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Close on the integration outcome. State the current contribution attribution exactly as documented. Invite questions on the experiment, model, website or classroom implementation.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11 and 12</a:t>
            </a:r>
            <a:endParaRPr/>
          </a:p>
          <a:p>
            <a:pPr indent="0" lvl="0" marL="0" rtl="0" algn="l">
              <a:spcBef>
                <a:spcPts val="0"/>
              </a:spcBef>
              <a:spcAft>
                <a:spcPts val="0"/>
              </a:spcAft>
              <a:buNone/>
            </a:pPr>
            <a:r>
              <a:rPr lang="en-US" sz="1200"/>
              <a:t>- README.md</a:t>
            </a:r>
            <a:endParaRPr/>
          </a:p>
        </p:txBody>
      </p:sp>
      <p:sp>
        <p:nvSpPr>
          <p:cNvPr id="364" name="Google Shape;36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only if the audience asks about kit contents, reuse or feasibility.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10</a:t>
            </a:r>
            <a:endParaRPr/>
          </a:p>
          <a:p>
            <a:pPr indent="0" lvl="0" marL="0" rtl="0" algn="l">
              <a:spcBef>
                <a:spcPts val="0"/>
              </a:spcBef>
              <a:spcAft>
                <a:spcPts val="0"/>
              </a:spcAft>
              <a:buNone/>
            </a:pPr>
            <a:r>
              <a:rPr lang="en-US" sz="1200"/>
              <a:t>- Thermal Insulation SOP, Hardware Checklist</a:t>
            </a:r>
            <a:endParaRPr/>
          </a:p>
        </p:txBody>
      </p:sp>
      <p:sp>
        <p:nvSpPr>
          <p:cNvPr id="390" name="Google Shape;390;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condensed presenter version of the complete SOP. Emphasize steps 5–7 when discussing hot-water handling.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Thermal_Insulation_SOP.docx</a:t>
            </a:r>
            <a:endParaRPr/>
          </a:p>
          <a:p>
            <a:pPr indent="0" lvl="0" marL="0" rtl="0" algn="l">
              <a:spcBef>
                <a:spcPts val="0"/>
              </a:spcBef>
              <a:spcAft>
                <a:spcPts val="0"/>
              </a:spcAft>
              <a:buNone/>
            </a:pPr>
            <a:r>
              <a:rPr lang="en-US" sz="1200"/>
              <a:t>- Experimental_Toolkit_Thermal_Insulation_SOP_Illustrated.docx</a:t>
            </a:r>
            <a:endParaRPr/>
          </a:p>
        </p:txBody>
      </p:sp>
      <p:sp>
        <p:nvSpPr>
          <p:cNvPr id="402" name="Google Shape;402;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to answer questions about individual readings or to verify the plotted series.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8</a:t>
            </a:r>
            <a:endParaRPr/>
          </a:p>
          <a:p>
            <a:pPr indent="0" lvl="0" marL="0" rtl="0" algn="l">
              <a:spcBef>
                <a:spcPts val="0"/>
              </a:spcBef>
              <a:spcAft>
                <a:spcPts val="0"/>
              </a:spcAft>
              <a:buNone/>
            </a:pPr>
            <a:r>
              <a:rPr lang="en-US" sz="1200"/>
              <a:t>- Thermal Insulation SOP, Table 7</a:t>
            </a:r>
            <a:endParaRPr/>
          </a:p>
        </p:txBody>
      </p:sp>
      <p:sp>
        <p:nvSpPr>
          <p:cNvPr id="448" name="Google Shape;44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why MAE is easier to interpret than signed average error: positive and negative residuals cannot cancel. A fitted k is a system-level estimate for the tested boundary and geometry.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Engineering Project Report, Section 9</a:t>
            </a:r>
            <a:endParaRPr/>
          </a:p>
          <a:p>
            <a:pPr indent="0" lvl="0" marL="0" rtl="0" algn="l">
              <a:spcBef>
                <a:spcPts val="0"/>
              </a:spcBef>
              <a:spcAft>
                <a:spcPts val="0"/>
              </a:spcAft>
              <a:buNone/>
            </a:pPr>
            <a:r>
              <a:rPr lang="en-US" sz="1200"/>
              <a:t>- app.js, telemetry calculation</a:t>
            </a:r>
            <a:endParaRPr/>
          </a:p>
        </p:txBody>
      </p:sp>
      <p:sp>
        <p:nvSpPr>
          <p:cNvPr id="457" name="Google Shape;45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for questions about marking and learning verification. Question 4 remains open response because students must identify plausible physical causes of model deviation.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Teacher Manual, Assessment Guide</a:t>
            </a:r>
            <a:endParaRPr/>
          </a:p>
          <a:p>
            <a:pPr indent="0" lvl="0" marL="0" rtl="0" algn="l">
              <a:spcBef>
                <a:spcPts val="0"/>
              </a:spcBef>
              <a:spcAft>
                <a:spcPts val="0"/>
              </a:spcAft>
              <a:buNone/>
            </a:pPr>
            <a:r>
              <a:rPr lang="en-US" sz="1200"/>
              <a:t>- index.html, Question Sheet</a:t>
            </a:r>
            <a:endParaRPr/>
          </a:p>
          <a:p>
            <a:pPr indent="0" lvl="0" marL="0" rtl="0" algn="l">
              <a:spcBef>
                <a:spcPts val="0"/>
              </a:spcBef>
              <a:spcAft>
                <a:spcPts val="0"/>
              </a:spcAft>
              <a:buNone/>
            </a:pPr>
            <a:r>
              <a:rPr lang="en-US" sz="1200"/>
              <a:t>- README.md</a:t>
            </a:r>
            <a:endParaRPr/>
          </a:p>
        </p:txBody>
      </p:sp>
      <p:sp>
        <p:nvSpPr>
          <p:cNvPr id="485" name="Google Shape;48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4.jp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5" name="Shape 15"/>
        <p:cNvGrpSpPr/>
        <p:nvPr/>
      </p:nvGrpSpPr>
      <p:grpSpPr>
        <a:xfrm>
          <a:off x="0" y="0"/>
          <a:ext cx="0" cy="0"/>
          <a:chOff x="0" y="0"/>
          <a:chExt cx="0" cy="0"/>
        </a:xfrm>
      </p:grpSpPr>
      <p:pic>
        <p:nvPicPr>
          <p:cNvPr id="16" name="Google Shape;16;p1"/>
          <p:cNvPicPr preferRelativeResize="0"/>
          <p:nvPr/>
        </p:nvPicPr>
        <p:blipFill rotWithShape="1">
          <a:blip r:embed="rId3">
            <a:alphaModFix/>
          </a:blip>
          <a:srcRect b="0" l="9028" r="9028" t="0"/>
          <a:stretch/>
        </p:blipFill>
        <p:spPr>
          <a:xfrm>
            <a:off x="6572250" y="0"/>
            <a:ext cx="5619750" cy="6858000"/>
          </a:xfrm>
          <a:prstGeom prst="roundRect">
            <a:avLst>
              <a:gd fmla="val 2034" name="adj"/>
            </a:avLst>
          </a:prstGeom>
          <a:noFill/>
          <a:ln>
            <a:noFill/>
          </a:ln>
        </p:spPr>
      </p:pic>
      <p:sp>
        <p:nvSpPr>
          <p:cNvPr id="17" name="Google Shape;17;p1"/>
          <p:cNvSpPr/>
          <p:nvPr/>
        </p:nvSpPr>
        <p:spPr>
          <a:xfrm>
            <a:off x="0" y="0"/>
            <a:ext cx="7239000" cy="6858000"/>
          </a:xfrm>
          <a:prstGeom prst="rect">
            <a:avLst/>
          </a:prstGeom>
          <a:solidFill>
            <a:srgbClr val="F7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572250" y="0"/>
            <a:ext cx="809625" cy="6858000"/>
          </a:xfrm>
          <a:prstGeom prst="rect">
            <a:avLst/>
          </a:prstGeom>
          <a:solidFill>
            <a:srgbClr val="E8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590550" y="51435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900"/>
              <a:buFont typeface="Avenir"/>
              <a:buNone/>
            </a:pPr>
            <a:r>
              <a:rPr b="1" lang="en-US" sz="900">
                <a:solidFill>
                  <a:srgbClr val="007FA8"/>
                </a:solidFill>
                <a:latin typeface="Avenir"/>
                <a:ea typeface="Avenir"/>
                <a:cs typeface="Avenir"/>
                <a:sym typeface="Avenir"/>
              </a:rPr>
              <a:t>TUM HUMAN SPACEFLIGHT TECHNOLOGY</a:t>
            </a:r>
            <a:endParaRPr/>
          </a:p>
        </p:txBody>
      </p:sp>
      <p:sp>
        <p:nvSpPr>
          <p:cNvPr id="20" name="Google Shape;20;p1"/>
          <p:cNvSpPr/>
          <p:nvPr/>
        </p:nvSpPr>
        <p:spPr>
          <a:xfrm>
            <a:off x="590550" y="1257300"/>
            <a:ext cx="4953000" cy="685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3899"/>
              <a:buFont typeface="Avenir"/>
              <a:buNone/>
            </a:pPr>
            <a:r>
              <a:rPr b="1" lang="en-US" sz="3900">
                <a:solidFill>
                  <a:srgbClr val="10253F"/>
                </a:solidFill>
                <a:latin typeface="Avenir"/>
                <a:ea typeface="Avenir"/>
                <a:cs typeface="Avenir"/>
                <a:sym typeface="Avenir"/>
              </a:rPr>
              <a:t>SPHERE</a:t>
            </a:r>
            <a:endParaRPr/>
          </a:p>
        </p:txBody>
      </p:sp>
      <p:sp>
        <p:nvSpPr>
          <p:cNvPr id="21" name="Google Shape;21;p1"/>
          <p:cNvSpPr/>
          <p:nvPr/>
        </p:nvSpPr>
        <p:spPr>
          <a:xfrm>
            <a:off x="590550" y="1971675"/>
            <a:ext cx="5524500" cy="647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2700"/>
              <a:buFont typeface="Avenir"/>
              <a:buNone/>
            </a:pPr>
            <a:r>
              <a:rPr b="1" lang="en-US" sz="2700">
                <a:solidFill>
                  <a:srgbClr val="167A9D"/>
                </a:solidFill>
                <a:latin typeface="Avenir"/>
                <a:ea typeface="Avenir"/>
                <a:cs typeface="Avenir"/>
                <a:sym typeface="Avenir"/>
              </a:rPr>
              <a:t>SPACESUIT THERMAL SHIELDING KIT</a:t>
            </a:r>
            <a:endParaRPr/>
          </a:p>
        </p:txBody>
      </p:sp>
      <p:sp>
        <p:nvSpPr>
          <p:cNvPr id="22" name="Google Shape;22;p1"/>
          <p:cNvSpPr/>
          <p:nvPr/>
        </p:nvSpPr>
        <p:spPr>
          <a:xfrm>
            <a:off x="590550" y="2876550"/>
            <a:ext cx="5286375" cy="8382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800"/>
              <a:buFont typeface="Avenir"/>
              <a:buNone/>
            </a:pPr>
            <a:r>
              <a:rPr b="0" lang="en-US" sz="1800">
                <a:solidFill>
                  <a:srgbClr val="29455F"/>
                </a:solidFill>
                <a:latin typeface="Avenir"/>
                <a:ea typeface="Avenir"/>
                <a:cs typeface="Avenir"/>
                <a:sym typeface="Avenir"/>
              </a:rPr>
              <a:t>A classroom experiment linking transient heat transfer, physical testing and model validation</a:t>
            </a:r>
            <a:endParaRPr/>
          </a:p>
        </p:txBody>
      </p:sp>
      <p:sp>
        <p:nvSpPr>
          <p:cNvPr id="23" name="Google Shape;23;p1"/>
          <p:cNvSpPr/>
          <p:nvPr/>
        </p:nvSpPr>
        <p:spPr>
          <a:xfrm>
            <a:off x="590550" y="4019550"/>
            <a:ext cx="4762500" cy="38100"/>
          </a:xfrm>
          <a:prstGeom prst="rect">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590550" y="4248150"/>
            <a:ext cx="4572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149"/>
              <a:buFont typeface="Avenir"/>
              <a:buNone/>
            </a:pPr>
            <a:r>
              <a:rPr b="1" lang="en-US" sz="1150">
                <a:solidFill>
                  <a:srgbClr val="B66A00"/>
                </a:solidFill>
                <a:latin typeface="Avenir"/>
                <a:ea typeface="Avenir"/>
                <a:cs typeface="Avenir"/>
                <a:sym typeface="Avenir"/>
              </a:rPr>
              <a:t>FINAL PROJECT PRESENTATION</a:t>
            </a:r>
            <a:endParaRPr/>
          </a:p>
        </p:txBody>
      </p:sp>
      <p:sp>
        <p:nvSpPr>
          <p:cNvPr id="25" name="Google Shape;25;p1"/>
          <p:cNvSpPr/>
          <p:nvPr/>
        </p:nvSpPr>
        <p:spPr>
          <a:xfrm>
            <a:off x="590550" y="4714875"/>
            <a:ext cx="5381625" cy="647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500"/>
              <a:buFont typeface="Avenir"/>
              <a:buNone/>
            </a:pPr>
            <a:r>
              <a:rPr b="0" lang="en-US" sz="1500">
                <a:solidFill>
                  <a:srgbClr val="10253F"/>
                </a:solidFill>
                <a:latin typeface="Avenir"/>
                <a:ea typeface="Avenir"/>
                <a:cs typeface="Avenir"/>
                <a:sym typeface="Avenir"/>
              </a:rPr>
              <a:t>Piyath Vithanage  ·  Elio Krollpfeiffer</a:t>
            </a:r>
            <a:endParaRPr/>
          </a:p>
          <a:p>
            <a:pPr indent="0" lvl="0" marL="0" marR="0" rtl="0" algn="l">
              <a:spcBef>
                <a:spcPts val="0"/>
              </a:spcBef>
              <a:spcAft>
                <a:spcPts val="0"/>
              </a:spcAft>
              <a:buClr>
                <a:srgbClr val="10253F"/>
              </a:buClr>
              <a:buSzPts val="1500"/>
              <a:buFont typeface="Avenir"/>
              <a:buNone/>
            </a:pPr>
            <a:r>
              <a:rPr b="0" lang="en-US" sz="1500">
                <a:solidFill>
                  <a:srgbClr val="10253F"/>
                </a:solidFill>
                <a:latin typeface="Avenir"/>
                <a:ea typeface="Avenir"/>
                <a:cs typeface="Avenir"/>
                <a:sym typeface="Avenir"/>
              </a:rPr>
              <a:t>Dilan Fernando  ·  Nuhansee Migelhewage</a:t>
            </a:r>
            <a:endParaRPr/>
          </a:p>
        </p:txBody>
      </p:sp>
      <p:sp>
        <p:nvSpPr>
          <p:cNvPr id="26" name="Google Shape;26;p1"/>
          <p:cNvSpPr/>
          <p:nvPr/>
        </p:nvSpPr>
        <p:spPr>
          <a:xfrm>
            <a:off x="590550" y="6057900"/>
            <a:ext cx="22860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025"/>
              <a:buFont typeface="Avenir"/>
              <a:buNone/>
            </a:pPr>
            <a:r>
              <a:rPr b="0" lang="en-US" sz="1025">
                <a:solidFill>
                  <a:srgbClr val="61758A"/>
                </a:solidFill>
                <a:latin typeface="Avenir"/>
                <a:ea typeface="Avenir"/>
                <a:cs typeface="Avenir"/>
                <a:sym typeface="Avenir"/>
              </a:rPr>
              <a:t>9 September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1" name="Shape 31"/>
        <p:cNvGrpSpPr/>
        <p:nvPr/>
      </p:nvGrpSpPr>
      <p:grpSpPr>
        <a:xfrm>
          <a:off x="0" y="0"/>
          <a:ext cx="0" cy="0"/>
          <a:chOff x="0" y="0"/>
          <a:chExt cx="0" cy="0"/>
        </a:xfrm>
      </p:grpSpPr>
      <p:sp>
        <p:nvSpPr>
          <p:cNvPr id="32" name="Google Shape;32;p2"/>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33" name="Google Shape;33;p2"/>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From spacesuit thermal control to a classroom experiment</a:t>
            </a:r>
            <a:endParaRPr/>
          </a:p>
        </p:txBody>
      </p:sp>
      <p:sp>
        <p:nvSpPr>
          <p:cNvPr id="34" name="Google Shape;34;p2"/>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36" name="Google Shape;36;p2"/>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02</a:t>
            </a:r>
            <a:endParaRPr/>
          </a:p>
        </p:txBody>
      </p:sp>
      <p:pic>
        <p:nvPicPr>
          <p:cNvPr id="37" name="Google Shape;37;p2"/>
          <p:cNvPicPr preferRelativeResize="0"/>
          <p:nvPr/>
        </p:nvPicPr>
        <p:blipFill rotWithShape="1">
          <a:blip r:embed="rId3">
            <a:alphaModFix/>
          </a:blip>
          <a:srcRect b="0" l="2909" r="2909" t="0"/>
          <a:stretch/>
        </p:blipFill>
        <p:spPr>
          <a:xfrm>
            <a:off x="495300" y="1409700"/>
            <a:ext cx="5286375" cy="4191000"/>
          </a:xfrm>
          <a:prstGeom prst="roundRect">
            <a:avLst>
              <a:gd fmla="val 2727" name="adj"/>
            </a:avLst>
          </a:prstGeom>
          <a:noFill/>
          <a:ln>
            <a:noFill/>
          </a:ln>
        </p:spPr>
      </p:pic>
      <p:sp>
        <p:nvSpPr>
          <p:cNvPr id="38" name="Google Shape;38;p2"/>
          <p:cNvSpPr/>
          <p:nvPr/>
        </p:nvSpPr>
        <p:spPr>
          <a:xfrm>
            <a:off x="6210300" y="1476375"/>
            <a:ext cx="4572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THE ENGINEERING QUESTION</a:t>
            </a:r>
            <a:endParaRPr/>
          </a:p>
        </p:txBody>
      </p:sp>
      <p:sp>
        <p:nvSpPr>
          <p:cNvPr id="39" name="Google Shape;39;p2"/>
          <p:cNvSpPr/>
          <p:nvPr/>
        </p:nvSpPr>
        <p:spPr>
          <a:xfrm>
            <a:off x="6210300" y="1790700"/>
            <a:ext cx="4953000" cy="952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883"/>
              <a:buFont typeface="Avenir"/>
              <a:buNone/>
            </a:pPr>
            <a:r>
              <a:rPr b="1" lang="en-US" sz="1883">
                <a:solidFill>
                  <a:srgbClr val="10253F"/>
                </a:solidFill>
                <a:latin typeface="Avenir"/>
                <a:ea typeface="Avenir"/>
                <a:cs typeface="Avenir"/>
                <a:sym typeface="Avenir"/>
              </a:rPr>
              <a:t>How do layered materials change the transient cooling of a protected thermal mass?</a:t>
            </a:r>
            <a:endParaRPr/>
          </a:p>
        </p:txBody>
      </p:sp>
      <p:sp>
        <p:nvSpPr>
          <p:cNvPr id="40" name="Google Shape;40;p2"/>
          <p:cNvSpPr/>
          <p:nvPr/>
        </p:nvSpPr>
        <p:spPr>
          <a:xfrm>
            <a:off x="6210300" y="31242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438900" y="304800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16"/>
              <a:buFont typeface="Avenir"/>
              <a:buNone/>
            </a:pPr>
            <a:r>
              <a:rPr b="0" lang="en-US" sz="1517">
                <a:solidFill>
                  <a:srgbClr val="29455F"/>
                </a:solidFill>
                <a:latin typeface="Avenir"/>
                <a:ea typeface="Avenir"/>
                <a:cs typeface="Avenir"/>
                <a:sym typeface="Avenir"/>
              </a:rPr>
              <a:t>Warm water represents the protected thermal mass.</a:t>
            </a:r>
            <a:endParaRPr/>
          </a:p>
        </p:txBody>
      </p:sp>
      <p:sp>
        <p:nvSpPr>
          <p:cNvPr id="42" name="Google Shape;42;p2"/>
          <p:cNvSpPr/>
          <p:nvPr/>
        </p:nvSpPr>
        <p:spPr>
          <a:xfrm>
            <a:off x="6210300" y="36766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438900" y="360045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1"/>
              <a:buFont typeface="Avenir"/>
              <a:buNone/>
            </a:pPr>
            <a:r>
              <a:rPr b="0" lang="en-US" sz="1421">
                <a:solidFill>
                  <a:srgbClr val="29455F"/>
                </a:solidFill>
                <a:latin typeface="Avenir"/>
                <a:ea typeface="Avenir"/>
                <a:cs typeface="Avenir"/>
                <a:sym typeface="Avenir"/>
              </a:rPr>
              <a:t>An ice-water bath supplies a repeatable cold boundary.</a:t>
            </a:r>
            <a:endParaRPr/>
          </a:p>
        </p:txBody>
      </p:sp>
      <p:sp>
        <p:nvSpPr>
          <p:cNvPr id="44" name="Google Shape;44;p2"/>
          <p:cNvSpPr/>
          <p:nvPr/>
        </p:nvSpPr>
        <p:spPr>
          <a:xfrm>
            <a:off x="6210300" y="42291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438900" y="415290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62"/>
              <a:buFont typeface="Avenir"/>
              <a:buNone/>
            </a:pPr>
            <a:r>
              <a:rPr b="0" lang="en-US" sz="1463">
                <a:solidFill>
                  <a:srgbClr val="29455F"/>
                </a:solidFill>
                <a:latin typeface="Avenir"/>
                <a:ea typeface="Avenir"/>
                <a:cs typeface="Avenir"/>
                <a:sym typeface="Avenir"/>
              </a:rPr>
              <a:t>Four insulation builds create a controlled comparison.</a:t>
            </a:r>
            <a:endParaRPr/>
          </a:p>
        </p:txBody>
      </p:sp>
      <p:sp>
        <p:nvSpPr>
          <p:cNvPr id="46" name="Google Shape;46;p2"/>
          <p:cNvSpPr/>
          <p:nvPr/>
        </p:nvSpPr>
        <p:spPr>
          <a:xfrm>
            <a:off x="6210300" y="47815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438900" y="470535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32"/>
              <a:buFont typeface="Avenir"/>
              <a:buNone/>
            </a:pPr>
            <a:r>
              <a:rPr b="0" lang="en-US" sz="1432">
                <a:solidFill>
                  <a:srgbClr val="29455F"/>
                </a:solidFill>
                <a:latin typeface="Avenir"/>
                <a:ea typeface="Avenir"/>
                <a:cs typeface="Avenir"/>
                <a:sym typeface="Avenir"/>
              </a:rPr>
              <a:t>Prediction and observation meet in the same workflow.</a:t>
            </a:r>
            <a:endParaRPr/>
          </a:p>
        </p:txBody>
      </p:sp>
      <p:sp>
        <p:nvSpPr>
          <p:cNvPr id="48" name="Google Shape;48;p2"/>
          <p:cNvSpPr/>
          <p:nvPr/>
        </p:nvSpPr>
        <p:spPr>
          <a:xfrm>
            <a:off x="6210300" y="5391150"/>
            <a:ext cx="4953000" cy="533400"/>
          </a:xfrm>
          <a:prstGeom prst="roundRect">
            <a:avLst>
              <a:gd fmla="val 14286" name="adj"/>
            </a:avLst>
          </a:prstGeom>
          <a:solidFill>
            <a:srgbClr val="E4EEF7"/>
          </a:solidFill>
          <a:ln cap="flat" cmpd="sng" w="9525">
            <a:solidFill>
              <a:srgbClr val="C8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6419850" y="5524500"/>
            <a:ext cx="4572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128"/>
              <a:buFont typeface="Avenir"/>
              <a:buNone/>
            </a:pPr>
            <a:r>
              <a:rPr b="1" lang="en-US" sz="1129">
                <a:solidFill>
                  <a:srgbClr val="167A9D"/>
                </a:solidFill>
                <a:latin typeface="Avenir"/>
                <a:ea typeface="Avenir"/>
                <a:cs typeface="Avenir"/>
                <a:sym typeface="Avenir"/>
              </a:rPr>
              <a:t>Analogy to spacecraft thermal control, not a vacuum simulation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54" name="Shape 54"/>
        <p:cNvGrpSpPr/>
        <p:nvPr/>
      </p:nvGrpSpPr>
      <p:grpSpPr>
        <a:xfrm>
          <a:off x="0" y="0"/>
          <a:ext cx="0" cy="0"/>
          <a:chOff x="0" y="0"/>
          <a:chExt cx="0" cy="0"/>
        </a:xfrm>
      </p:grpSpPr>
      <p:sp>
        <p:nvSpPr>
          <p:cNvPr id="55" name="Google Shape;55;p3"/>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56" name="Google Shape;56;p3"/>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One project connects experiment, software and assessment</a:t>
            </a:r>
            <a:endParaRPr/>
          </a:p>
        </p:txBody>
      </p:sp>
      <p:sp>
        <p:nvSpPr>
          <p:cNvPr id="57" name="Google Shape;57;p3"/>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59" name="Google Shape;59;p3"/>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03</a:t>
            </a:r>
            <a:endParaRPr/>
          </a:p>
        </p:txBody>
      </p:sp>
      <p:pic>
        <p:nvPicPr>
          <p:cNvPr id="60" name="Google Shape;60;p3"/>
          <p:cNvPicPr preferRelativeResize="0"/>
          <p:nvPr/>
        </p:nvPicPr>
        <p:blipFill rotWithShape="1">
          <a:blip r:embed="rId3">
            <a:alphaModFix/>
          </a:blip>
          <a:srcRect b="1429" l="0" r="0" t="1429"/>
          <a:stretch/>
        </p:blipFill>
        <p:spPr>
          <a:xfrm>
            <a:off x="495300" y="1428750"/>
            <a:ext cx="6667500" cy="4048125"/>
          </a:xfrm>
          <a:prstGeom prst="roundRect">
            <a:avLst>
              <a:gd fmla="val 2824" name="adj"/>
            </a:avLst>
          </a:prstGeom>
          <a:noFill/>
          <a:ln>
            <a:noFill/>
          </a:ln>
        </p:spPr>
      </p:pic>
      <p:sp>
        <p:nvSpPr>
          <p:cNvPr id="61" name="Google Shape;61;p3"/>
          <p:cNvSpPr/>
          <p:nvPr/>
        </p:nvSpPr>
        <p:spPr>
          <a:xfrm>
            <a:off x="7639050" y="1476375"/>
            <a:ext cx="3048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DELIVERABLE SUITE</a:t>
            </a:r>
            <a:endParaRPr/>
          </a:p>
        </p:txBody>
      </p:sp>
      <p:sp>
        <p:nvSpPr>
          <p:cNvPr id="62" name="Google Shape;62;p3"/>
          <p:cNvSpPr/>
          <p:nvPr/>
        </p:nvSpPr>
        <p:spPr>
          <a:xfrm>
            <a:off x="7639050" y="19240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7867650" y="184785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61"/>
              <a:buFont typeface="Avenir"/>
              <a:buNone/>
            </a:pPr>
            <a:r>
              <a:rPr b="0" lang="en-US" sz="1561">
                <a:solidFill>
                  <a:srgbClr val="29455F"/>
                </a:solidFill>
                <a:latin typeface="Avenir"/>
                <a:ea typeface="Avenir"/>
                <a:cs typeface="Avenir"/>
                <a:sym typeface="Avenir"/>
              </a:rPr>
              <a:t>Mission Control browser application</a:t>
            </a:r>
            <a:endParaRPr/>
          </a:p>
        </p:txBody>
      </p:sp>
      <p:sp>
        <p:nvSpPr>
          <p:cNvPr id="64" name="Google Shape;64;p3"/>
          <p:cNvSpPr/>
          <p:nvPr/>
        </p:nvSpPr>
        <p:spPr>
          <a:xfrm>
            <a:off x="7639050" y="2486025"/>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7867650" y="240982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Student and teacher manuals</a:t>
            </a:r>
            <a:endParaRPr/>
          </a:p>
        </p:txBody>
      </p:sp>
      <p:sp>
        <p:nvSpPr>
          <p:cNvPr id="66" name="Google Shape;66;p3"/>
          <p:cNvSpPr/>
          <p:nvPr/>
        </p:nvSpPr>
        <p:spPr>
          <a:xfrm>
            <a:off x="7639050" y="30480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7867650" y="297180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Illustrated experimental SOP</a:t>
            </a:r>
            <a:endParaRPr/>
          </a:p>
        </p:txBody>
      </p:sp>
      <p:sp>
        <p:nvSpPr>
          <p:cNvPr id="68" name="Google Shape;68;p3"/>
          <p:cNvSpPr/>
          <p:nvPr/>
        </p:nvSpPr>
        <p:spPr>
          <a:xfrm>
            <a:off x="7639050" y="3609975"/>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867650" y="353377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Two-page task sheet</a:t>
            </a:r>
            <a:endParaRPr/>
          </a:p>
        </p:txBody>
      </p:sp>
      <p:sp>
        <p:nvSpPr>
          <p:cNvPr id="70" name="Google Shape;70;p3"/>
          <p:cNvSpPr/>
          <p:nvPr/>
        </p:nvSpPr>
        <p:spPr>
          <a:xfrm>
            <a:off x="7639050" y="41719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7867650" y="409575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Revision flashcards</a:t>
            </a:r>
            <a:endParaRPr/>
          </a:p>
        </p:txBody>
      </p:sp>
      <p:sp>
        <p:nvSpPr>
          <p:cNvPr id="72" name="Google Shape;72;p3"/>
          <p:cNvSpPr/>
          <p:nvPr/>
        </p:nvSpPr>
        <p:spPr>
          <a:xfrm>
            <a:off x="7639050" y="4733925"/>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867650" y="465772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Unified ten-question assessment</a:t>
            </a:r>
            <a:endParaRPr/>
          </a:p>
        </p:txBody>
      </p:sp>
      <p:sp>
        <p:nvSpPr>
          <p:cNvPr id="74" name="Google Shape;74;p3"/>
          <p:cNvSpPr/>
          <p:nvPr/>
        </p:nvSpPr>
        <p:spPr>
          <a:xfrm>
            <a:off x="7639050" y="5391150"/>
            <a:ext cx="3600450" cy="609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389"/>
              <a:buFont typeface="Avenir"/>
              <a:buNone/>
            </a:pPr>
            <a:r>
              <a:rPr b="1" lang="en-US" sz="1390">
                <a:solidFill>
                  <a:srgbClr val="167A9D"/>
                </a:solidFill>
                <a:latin typeface="Avenir"/>
                <a:ea typeface="Avenir"/>
                <a:cs typeface="Avenir"/>
                <a:sym typeface="Avenir"/>
              </a:rPr>
              <a:t>The same settings and terminology now appear across every learning resource.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79" name="Shape 79"/>
        <p:cNvGrpSpPr/>
        <p:nvPr/>
      </p:nvGrpSpPr>
      <p:grpSpPr>
        <a:xfrm>
          <a:off x="0" y="0"/>
          <a:ext cx="0" cy="0"/>
          <a:chOff x="0" y="0"/>
          <a:chExt cx="0" cy="0"/>
        </a:xfrm>
      </p:grpSpPr>
      <p:sp>
        <p:nvSpPr>
          <p:cNvPr id="80" name="Google Shape;80;p4"/>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81" name="Google Shape;81;p4"/>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Learning objectives and classroom constraints</a:t>
            </a:r>
            <a:endParaRPr/>
          </a:p>
        </p:txBody>
      </p:sp>
      <p:sp>
        <p:nvSpPr>
          <p:cNvPr id="82" name="Google Shape;82;p4"/>
          <p:cNvSpPr/>
          <p:nvPr/>
        </p:nvSpPr>
        <p:spPr>
          <a:xfrm>
            <a:off x="495300" y="1066800"/>
            <a:ext cx="11201400" cy="9600"/>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84" name="Google Shape;84;p4"/>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04</a:t>
            </a:r>
            <a:endParaRPr/>
          </a:p>
        </p:txBody>
      </p:sp>
      <p:grpSp>
        <p:nvGrpSpPr>
          <p:cNvPr id="85" name="Google Shape;85;p4"/>
          <p:cNvGrpSpPr/>
          <p:nvPr/>
        </p:nvGrpSpPr>
        <p:grpSpPr>
          <a:xfrm>
            <a:off x="495300" y="1314450"/>
            <a:ext cx="5410200" cy="1714500"/>
            <a:chOff x="0" y="0"/>
            <a:chExt cx="5410200" cy="1714500"/>
          </a:xfrm>
        </p:grpSpPr>
        <p:sp>
          <p:nvSpPr>
            <p:cNvPr id="86" name="Google Shape;86;p4"/>
            <p:cNvSpPr/>
            <p:nvPr/>
          </p:nvSpPr>
          <p:spPr>
            <a:xfrm>
              <a:off x="0" y="0"/>
              <a:ext cx="5410200" cy="1714500"/>
            </a:xfrm>
            <a:prstGeom prst="roundRect">
              <a:avLst>
                <a:gd fmla="val 66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4"/>
            <p:cNvSpPr/>
            <p:nvPr/>
          </p:nvSpPr>
          <p:spPr>
            <a:xfrm>
              <a:off x="228600" y="228600"/>
              <a:ext cx="495300" cy="495300"/>
            </a:xfrm>
            <a:prstGeom prst="roundRect">
              <a:avLst>
                <a:gd fmla="val 19230" name="adj"/>
              </a:avLst>
            </a:prstGeom>
            <a:solidFill>
              <a:srgbClr val="E4EE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4"/>
            <p:cNvSpPr txBox="1"/>
            <p:nvPr/>
          </p:nvSpPr>
          <p:spPr>
            <a:xfrm>
              <a:off x="228600" y="228600"/>
              <a:ext cx="4953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7FA8"/>
                  </a:solidFill>
                  <a:latin typeface="Avenir"/>
                  <a:ea typeface="Avenir"/>
                  <a:cs typeface="Avenir"/>
                  <a:sym typeface="Avenir"/>
                </a:rPr>
                <a:t>01</a:t>
              </a:r>
              <a:endParaRPr b="1" sz="1800">
                <a:solidFill>
                  <a:srgbClr val="007FA8"/>
                </a:solidFill>
                <a:latin typeface="Avenir"/>
                <a:ea typeface="Avenir"/>
                <a:cs typeface="Avenir"/>
                <a:sym typeface="Avenir"/>
              </a:endParaRPr>
            </a:p>
          </p:txBody>
        </p:sp>
        <p:sp>
          <p:nvSpPr>
            <p:cNvPr id="89" name="Google Shape;89;p4"/>
            <p:cNvSpPr txBox="1"/>
            <p:nvPr/>
          </p:nvSpPr>
          <p:spPr>
            <a:xfrm>
              <a:off x="876300" y="209550"/>
              <a:ext cx="4305300" cy="129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0253F"/>
                  </a:solidFill>
                  <a:latin typeface="Avenir"/>
                  <a:ea typeface="Avenir"/>
                  <a:cs typeface="Avenir"/>
                  <a:sym typeface="Avenir"/>
                </a:rPr>
                <a:t>Heat-transfer mechanisms</a:t>
              </a:r>
              <a:endParaRPr b="1" sz="1600">
                <a:solidFill>
                  <a:srgbClr val="10253F"/>
                </a:solidFill>
                <a:latin typeface="Avenir"/>
                <a:ea typeface="Avenir"/>
                <a:cs typeface="Avenir"/>
                <a:sym typeface="Avenir"/>
              </a:endParaRPr>
            </a:p>
            <a:p>
              <a:pPr indent="0" lvl="0" marL="0" rtl="0" algn="l">
                <a:spcBef>
                  <a:spcPts val="600"/>
                </a:spcBef>
                <a:spcAft>
                  <a:spcPts val="0"/>
                </a:spcAft>
                <a:buNone/>
              </a:pPr>
              <a:r>
                <a:rPr lang="en-US" sz="1300">
                  <a:solidFill>
                    <a:srgbClr val="29455F"/>
                  </a:solidFill>
                  <a:latin typeface="Avenir"/>
                  <a:ea typeface="Avenir"/>
                  <a:cs typeface="Avenir"/>
                  <a:sym typeface="Avenir"/>
                </a:rPr>
                <a:t>Distinguish conduction, convection and radiation in the test system.</a:t>
              </a:r>
              <a:endParaRPr sz="1300">
                <a:solidFill>
                  <a:srgbClr val="29455F"/>
                </a:solidFill>
                <a:latin typeface="Avenir"/>
                <a:ea typeface="Avenir"/>
                <a:cs typeface="Avenir"/>
                <a:sym typeface="Avenir"/>
              </a:endParaRPr>
            </a:p>
          </p:txBody>
        </p:sp>
      </p:grpSp>
      <p:grpSp>
        <p:nvGrpSpPr>
          <p:cNvPr id="90" name="Google Shape;90;p4"/>
          <p:cNvGrpSpPr/>
          <p:nvPr/>
        </p:nvGrpSpPr>
        <p:grpSpPr>
          <a:xfrm>
            <a:off x="6286500" y="1314450"/>
            <a:ext cx="5410200" cy="1714500"/>
            <a:chOff x="0" y="0"/>
            <a:chExt cx="5410200" cy="1714500"/>
          </a:xfrm>
        </p:grpSpPr>
        <p:sp>
          <p:nvSpPr>
            <p:cNvPr id="91" name="Google Shape;91;p4"/>
            <p:cNvSpPr/>
            <p:nvPr/>
          </p:nvSpPr>
          <p:spPr>
            <a:xfrm>
              <a:off x="0" y="0"/>
              <a:ext cx="5410200" cy="1714500"/>
            </a:xfrm>
            <a:prstGeom prst="roundRect">
              <a:avLst>
                <a:gd fmla="val 66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4"/>
            <p:cNvSpPr/>
            <p:nvPr/>
          </p:nvSpPr>
          <p:spPr>
            <a:xfrm>
              <a:off x="228600" y="228600"/>
              <a:ext cx="495300" cy="495300"/>
            </a:xfrm>
            <a:prstGeom prst="roundRect">
              <a:avLst>
                <a:gd fmla="val 19230" name="adj"/>
              </a:avLst>
            </a:prstGeom>
            <a:solidFill>
              <a:srgbClr val="E4EE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4"/>
            <p:cNvSpPr txBox="1"/>
            <p:nvPr/>
          </p:nvSpPr>
          <p:spPr>
            <a:xfrm>
              <a:off x="228600" y="228600"/>
              <a:ext cx="4953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7FA8"/>
                  </a:solidFill>
                  <a:latin typeface="Avenir"/>
                  <a:ea typeface="Avenir"/>
                  <a:cs typeface="Avenir"/>
                  <a:sym typeface="Avenir"/>
                </a:rPr>
                <a:t>02</a:t>
              </a:r>
              <a:endParaRPr b="1" sz="1800">
                <a:solidFill>
                  <a:srgbClr val="007FA8"/>
                </a:solidFill>
                <a:latin typeface="Avenir"/>
                <a:ea typeface="Avenir"/>
                <a:cs typeface="Avenir"/>
                <a:sym typeface="Avenir"/>
              </a:endParaRPr>
            </a:p>
          </p:txBody>
        </p:sp>
        <p:sp>
          <p:nvSpPr>
            <p:cNvPr id="94" name="Google Shape;94;p4"/>
            <p:cNvSpPr txBox="1"/>
            <p:nvPr/>
          </p:nvSpPr>
          <p:spPr>
            <a:xfrm>
              <a:off x="876300" y="209550"/>
              <a:ext cx="4305300" cy="129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0253F"/>
                  </a:solidFill>
                  <a:latin typeface="Avenir"/>
                  <a:ea typeface="Avenir"/>
                  <a:cs typeface="Avenir"/>
                  <a:sym typeface="Avenir"/>
                </a:rPr>
                <a:t>Newton cooling model</a:t>
              </a:r>
              <a:endParaRPr b="1" sz="1600">
                <a:solidFill>
                  <a:srgbClr val="10253F"/>
                </a:solidFill>
                <a:latin typeface="Avenir"/>
                <a:ea typeface="Avenir"/>
                <a:cs typeface="Avenir"/>
                <a:sym typeface="Avenir"/>
              </a:endParaRPr>
            </a:p>
            <a:p>
              <a:pPr indent="0" lvl="0" marL="0" rtl="0" algn="l">
                <a:spcBef>
                  <a:spcPts val="600"/>
                </a:spcBef>
                <a:spcAft>
                  <a:spcPts val="0"/>
                </a:spcAft>
                <a:buNone/>
              </a:pPr>
              <a:r>
                <a:rPr lang="en-US" sz="1300">
                  <a:solidFill>
                    <a:srgbClr val="29455F"/>
                  </a:solidFill>
                  <a:latin typeface="Avenir"/>
                  <a:ea typeface="Avenir"/>
                  <a:cs typeface="Avenir"/>
                  <a:sym typeface="Avenir"/>
                </a:rPr>
                <a:t>Interpret the effective cooling constant and calculate a reference curve.</a:t>
              </a:r>
              <a:endParaRPr sz="1300">
                <a:solidFill>
                  <a:srgbClr val="29455F"/>
                </a:solidFill>
                <a:latin typeface="Avenir"/>
                <a:ea typeface="Avenir"/>
                <a:cs typeface="Avenir"/>
                <a:sym typeface="Avenir"/>
              </a:endParaRPr>
            </a:p>
          </p:txBody>
        </p:sp>
      </p:grpSp>
      <p:grpSp>
        <p:nvGrpSpPr>
          <p:cNvPr id="95" name="Google Shape;95;p4"/>
          <p:cNvGrpSpPr/>
          <p:nvPr/>
        </p:nvGrpSpPr>
        <p:grpSpPr>
          <a:xfrm>
            <a:off x="495300" y="3181350"/>
            <a:ext cx="5410200" cy="1714500"/>
            <a:chOff x="0" y="0"/>
            <a:chExt cx="5410200" cy="1714500"/>
          </a:xfrm>
        </p:grpSpPr>
        <p:sp>
          <p:nvSpPr>
            <p:cNvPr id="96" name="Google Shape;96;p4"/>
            <p:cNvSpPr/>
            <p:nvPr/>
          </p:nvSpPr>
          <p:spPr>
            <a:xfrm>
              <a:off x="0" y="0"/>
              <a:ext cx="5410200" cy="1714500"/>
            </a:xfrm>
            <a:prstGeom prst="roundRect">
              <a:avLst>
                <a:gd fmla="val 66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4"/>
            <p:cNvSpPr/>
            <p:nvPr/>
          </p:nvSpPr>
          <p:spPr>
            <a:xfrm>
              <a:off x="228600" y="228600"/>
              <a:ext cx="495300" cy="495300"/>
            </a:xfrm>
            <a:prstGeom prst="roundRect">
              <a:avLst>
                <a:gd fmla="val 19230" name="adj"/>
              </a:avLst>
            </a:prstGeom>
            <a:solidFill>
              <a:srgbClr val="E4EE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4"/>
            <p:cNvSpPr txBox="1"/>
            <p:nvPr/>
          </p:nvSpPr>
          <p:spPr>
            <a:xfrm>
              <a:off x="228600" y="228600"/>
              <a:ext cx="4953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7FA8"/>
                  </a:solidFill>
                  <a:latin typeface="Avenir"/>
                  <a:ea typeface="Avenir"/>
                  <a:cs typeface="Avenir"/>
                  <a:sym typeface="Avenir"/>
                </a:rPr>
                <a:t>03</a:t>
              </a:r>
              <a:endParaRPr b="1" sz="1800">
                <a:solidFill>
                  <a:srgbClr val="007FA8"/>
                </a:solidFill>
                <a:latin typeface="Avenir"/>
                <a:ea typeface="Avenir"/>
                <a:cs typeface="Avenir"/>
                <a:sym typeface="Avenir"/>
              </a:endParaRPr>
            </a:p>
          </p:txBody>
        </p:sp>
        <p:sp>
          <p:nvSpPr>
            <p:cNvPr id="99" name="Google Shape;99;p4"/>
            <p:cNvSpPr txBox="1"/>
            <p:nvPr/>
          </p:nvSpPr>
          <p:spPr>
            <a:xfrm>
              <a:off x="876300" y="209550"/>
              <a:ext cx="4305300" cy="129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0253F"/>
                  </a:solidFill>
                  <a:latin typeface="Avenir"/>
                  <a:ea typeface="Avenir"/>
                  <a:cs typeface="Avenir"/>
                  <a:sym typeface="Avenir"/>
                </a:rPr>
                <a:t>Experimental evidence</a:t>
              </a:r>
              <a:endParaRPr b="1" sz="1600">
                <a:solidFill>
                  <a:srgbClr val="10253F"/>
                </a:solidFill>
                <a:latin typeface="Avenir"/>
                <a:ea typeface="Avenir"/>
                <a:cs typeface="Avenir"/>
                <a:sym typeface="Avenir"/>
              </a:endParaRPr>
            </a:p>
            <a:p>
              <a:pPr indent="0" lvl="0" marL="0" rtl="0" algn="l">
                <a:spcBef>
                  <a:spcPts val="600"/>
                </a:spcBef>
                <a:spcAft>
                  <a:spcPts val="0"/>
                </a:spcAft>
                <a:buNone/>
              </a:pPr>
              <a:r>
                <a:rPr lang="en-US" sz="1300">
                  <a:solidFill>
                    <a:srgbClr val="29455F"/>
                  </a:solidFill>
                  <a:latin typeface="Avenir"/>
                  <a:ea typeface="Avenir"/>
                  <a:cs typeface="Avenir"/>
                  <a:sym typeface="Avenir"/>
                </a:rPr>
                <a:t>Collect a controlled 16-point temperature history and plot it.</a:t>
              </a:r>
              <a:endParaRPr sz="1300">
                <a:solidFill>
                  <a:srgbClr val="29455F"/>
                </a:solidFill>
                <a:latin typeface="Avenir"/>
                <a:ea typeface="Avenir"/>
                <a:cs typeface="Avenir"/>
                <a:sym typeface="Avenir"/>
              </a:endParaRPr>
            </a:p>
          </p:txBody>
        </p:sp>
      </p:grpSp>
      <p:grpSp>
        <p:nvGrpSpPr>
          <p:cNvPr id="100" name="Google Shape;100;p4"/>
          <p:cNvGrpSpPr/>
          <p:nvPr/>
        </p:nvGrpSpPr>
        <p:grpSpPr>
          <a:xfrm>
            <a:off x="6286500" y="3181350"/>
            <a:ext cx="5410200" cy="1714500"/>
            <a:chOff x="0" y="0"/>
            <a:chExt cx="5410200" cy="1714500"/>
          </a:xfrm>
        </p:grpSpPr>
        <p:sp>
          <p:nvSpPr>
            <p:cNvPr id="101" name="Google Shape;101;p4"/>
            <p:cNvSpPr/>
            <p:nvPr/>
          </p:nvSpPr>
          <p:spPr>
            <a:xfrm>
              <a:off x="0" y="0"/>
              <a:ext cx="5410200" cy="1714500"/>
            </a:xfrm>
            <a:prstGeom prst="roundRect">
              <a:avLst>
                <a:gd fmla="val 66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4"/>
            <p:cNvSpPr/>
            <p:nvPr/>
          </p:nvSpPr>
          <p:spPr>
            <a:xfrm>
              <a:off x="228600" y="228600"/>
              <a:ext cx="495300" cy="495300"/>
            </a:xfrm>
            <a:prstGeom prst="roundRect">
              <a:avLst>
                <a:gd fmla="val 19230" name="adj"/>
              </a:avLst>
            </a:prstGeom>
            <a:solidFill>
              <a:srgbClr val="E4EE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4"/>
            <p:cNvSpPr txBox="1"/>
            <p:nvPr/>
          </p:nvSpPr>
          <p:spPr>
            <a:xfrm>
              <a:off x="228600" y="228600"/>
              <a:ext cx="4953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7FA8"/>
                  </a:solidFill>
                  <a:latin typeface="Avenir"/>
                  <a:ea typeface="Avenir"/>
                  <a:cs typeface="Avenir"/>
                  <a:sym typeface="Avenir"/>
                </a:rPr>
                <a:t>04</a:t>
              </a:r>
              <a:endParaRPr b="1" sz="1800">
                <a:solidFill>
                  <a:srgbClr val="007FA8"/>
                </a:solidFill>
                <a:latin typeface="Avenir"/>
                <a:ea typeface="Avenir"/>
                <a:cs typeface="Avenir"/>
                <a:sym typeface="Avenir"/>
              </a:endParaRPr>
            </a:p>
          </p:txBody>
        </p:sp>
        <p:sp>
          <p:nvSpPr>
            <p:cNvPr id="104" name="Google Shape;104;p4"/>
            <p:cNvSpPr txBox="1"/>
            <p:nvPr/>
          </p:nvSpPr>
          <p:spPr>
            <a:xfrm>
              <a:off x="876300" y="209550"/>
              <a:ext cx="4305300" cy="129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0253F"/>
                  </a:solidFill>
                  <a:latin typeface="Avenir"/>
                  <a:ea typeface="Avenir"/>
                  <a:cs typeface="Avenir"/>
                  <a:sym typeface="Avenir"/>
                </a:rPr>
                <a:t>Model evaluation</a:t>
              </a:r>
              <a:endParaRPr b="1" sz="1600">
                <a:solidFill>
                  <a:srgbClr val="10253F"/>
                </a:solidFill>
                <a:latin typeface="Avenir"/>
                <a:ea typeface="Avenir"/>
                <a:cs typeface="Avenir"/>
                <a:sym typeface="Avenir"/>
              </a:endParaRPr>
            </a:p>
            <a:p>
              <a:pPr indent="0" lvl="0" marL="0" rtl="0" algn="l">
                <a:spcBef>
                  <a:spcPts val="600"/>
                </a:spcBef>
                <a:spcAft>
                  <a:spcPts val="0"/>
                </a:spcAft>
                <a:buNone/>
              </a:pPr>
              <a:r>
                <a:rPr lang="en-US" sz="1300">
                  <a:solidFill>
                    <a:srgbClr val="29455F"/>
                  </a:solidFill>
                  <a:latin typeface="Avenir"/>
                  <a:ea typeface="Avenir"/>
                  <a:cs typeface="Avenir"/>
                  <a:sym typeface="Avenir"/>
                </a:rPr>
                <a:t>Use residuals and MAE to explain agreement and uncertainty.</a:t>
              </a:r>
              <a:endParaRPr sz="1300">
                <a:solidFill>
                  <a:srgbClr val="29455F"/>
                </a:solidFill>
                <a:latin typeface="Avenir"/>
                <a:ea typeface="Avenir"/>
                <a:cs typeface="Avenir"/>
                <a:sym typeface="Avenir"/>
              </a:endParaRPr>
            </a:p>
          </p:txBody>
        </p:sp>
      </p:grpSp>
      <p:grpSp>
        <p:nvGrpSpPr>
          <p:cNvPr id="105" name="Google Shape;105;p4"/>
          <p:cNvGrpSpPr/>
          <p:nvPr/>
        </p:nvGrpSpPr>
        <p:grpSpPr>
          <a:xfrm>
            <a:off x="495300" y="5067300"/>
            <a:ext cx="11201400" cy="1219200"/>
            <a:chOff x="0" y="0"/>
            <a:chExt cx="11201400" cy="1219200"/>
          </a:xfrm>
        </p:grpSpPr>
        <p:sp>
          <p:nvSpPr>
            <p:cNvPr id="106" name="Google Shape;106;p4"/>
            <p:cNvSpPr/>
            <p:nvPr/>
          </p:nvSpPr>
          <p:spPr>
            <a:xfrm>
              <a:off x="0" y="0"/>
              <a:ext cx="11201400" cy="1219200"/>
            </a:xfrm>
            <a:prstGeom prst="roundRect">
              <a:avLst>
                <a:gd fmla="val 9375" name="adj"/>
              </a:avLst>
            </a:prstGeom>
            <a:solidFill>
              <a:srgbClr val="E4EEF7"/>
            </a:solidFill>
            <a:ln cap="flat" cmpd="sng" w="9525">
              <a:solidFill>
                <a:srgbClr val="C8D6E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4"/>
            <p:cNvSpPr txBox="1"/>
            <p:nvPr/>
          </p:nvSpPr>
          <p:spPr>
            <a:xfrm>
              <a:off x="228600" y="152400"/>
              <a:ext cx="10744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B66A00"/>
                  </a:solidFill>
                  <a:latin typeface="Avenir"/>
                  <a:ea typeface="Avenir"/>
                  <a:cs typeface="Avenir"/>
                  <a:sym typeface="Avenir"/>
                </a:rPr>
                <a:t>CLASS FORMAT &amp; CONSTRAINTS</a:t>
              </a:r>
              <a:endParaRPr b="1" sz="900">
                <a:solidFill>
                  <a:srgbClr val="B66A00"/>
                </a:solidFill>
                <a:latin typeface="Avenir"/>
                <a:ea typeface="Avenir"/>
                <a:cs typeface="Avenir"/>
                <a:sym typeface="Avenir"/>
              </a:endParaRPr>
            </a:p>
          </p:txBody>
        </p:sp>
        <p:grpSp>
          <p:nvGrpSpPr>
            <p:cNvPr id="108" name="Google Shape;108;p4"/>
            <p:cNvGrpSpPr/>
            <p:nvPr/>
          </p:nvGrpSpPr>
          <p:grpSpPr>
            <a:xfrm>
              <a:off x="228600" y="457200"/>
              <a:ext cx="2543100" cy="533400"/>
              <a:chOff x="0" y="0"/>
              <a:chExt cx="2543100" cy="533400"/>
            </a:xfrm>
          </p:grpSpPr>
          <p:sp>
            <p:nvSpPr>
              <p:cNvPr id="109" name="Google Shape;109;p4"/>
              <p:cNvSpPr/>
              <p:nvPr/>
            </p:nvSpPr>
            <p:spPr>
              <a:xfrm>
                <a:off x="0" y="0"/>
                <a:ext cx="2543100" cy="533400"/>
              </a:xfrm>
              <a:prstGeom prst="roundRect">
                <a:avLst>
                  <a:gd fmla="val 14285"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4"/>
              <p:cNvSpPr txBox="1"/>
              <p:nvPr/>
            </p:nvSpPr>
            <p:spPr>
              <a:xfrm>
                <a:off x="0" y="0"/>
                <a:ext cx="2543100" cy="5334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1200">
                    <a:solidFill>
                      <a:srgbClr val="10253F"/>
                    </a:solidFill>
                    <a:latin typeface="Avenir"/>
                    <a:ea typeface="Avenir"/>
                    <a:cs typeface="Avenir"/>
                    <a:sym typeface="Avenir"/>
                  </a:rPr>
                  <a:t>Four groups in parallel</a:t>
                </a:r>
                <a:endParaRPr b="1" sz="1200">
                  <a:solidFill>
                    <a:srgbClr val="10253F"/>
                  </a:solidFill>
                  <a:latin typeface="Avenir"/>
                  <a:ea typeface="Avenir"/>
                  <a:cs typeface="Avenir"/>
                  <a:sym typeface="Avenir"/>
                </a:endParaRPr>
              </a:p>
            </p:txBody>
          </p:sp>
        </p:grpSp>
        <p:grpSp>
          <p:nvGrpSpPr>
            <p:cNvPr id="111" name="Google Shape;111;p4"/>
            <p:cNvGrpSpPr/>
            <p:nvPr/>
          </p:nvGrpSpPr>
          <p:grpSpPr>
            <a:xfrm>
              <a:off x="2962275" y="457200"/>
              <a:ext cx="2543100" cy="533400"/>
              <a:chOff x="0" y="0"/>
              <a:chExt cx="2543100" cy="533400"/>
            </a:xfrm>
          </p:grpSpPr>
          <p:sp>
            <p:nvSpPr>
              <p:cNvPr id="112" name="Google Shape;112;p4"/>
              <p:cNvSpPr/>
              <p:nvPr/>
            </p:nvSpPr>
            <p:spPr>
              <a:xfrm>
                <a:off x="0" y="0"/>
                <a:ext cx="2543100" cy="533400"/>
              </a:xfrm>
              <a:prstGeom prst="roundRect">
                <a:avLst>
                  <a:gd fmla="val 14285"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4"/>
              <p:cNvSpPr txBox="1"/>
              <p:nvPr/>
            </p:nvSpPr>
            <p:spPr>
              <a:xfrm>
                <a:off x="0" y="0"/>
                <a:ext cx="2543100" cy="5334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1200">
                    <a:solidFill>
                      <a:srgbClr val="10253F"/>
                    </a:solidFill>
                    <a:latin typeface="Avenir"/>
                    <a:ea typeface="Avenir"/>
                    <a:cs typeface="Avenir"/>
                    <a:sym typeface="Avenir"/>
                  </a:rPr>
                  <a:t>55–70 minutes duration</a:t>
                </a:r>
                <a:endParaRPr b="1" sz="1200">
                  <a:solidFill>
                    <a:srgbClr val="10253F"/>
                  </a:solidFill>
                  <a:latin typeface="Avenir"/>
                  <a:ea typeface="Avenir"/>
                  <a:cs typeface="Avenir"/>
                  <a:sym typeface="Avenir"/>
                </a:endParaRPr>
              </a:p>
            </p:txBody>
          </p:sp>
        </p:grpSp>
        <p:grpSp>
          <p:nvGrpSpPr>
            <p:cNvPr id="114" name="Google Shape;114;p4"/>
            <p:cNvGrpSpPr/>
            <p:nvPr/>
          </p:nvGrpSpPr>
          <p:grpSpPr>
            <a:xfrm>
              <a:off x="5695950" y="457200"/>
              <a:ext cx="2543100" cy="533400"/>
              <a:chOff x="0" y="0"/>
              <a:chExt cx="2543100" cy="533400"/>
            </a:xfrm>
          </p:grpSpPr>
          <p:sp>
            <p:nvSpPr>
              <p:cNvPr id="115" name="Google Shape;115;p4"/>
              <p:cNvSpPr/>
              <p:nvPr/>
            </p:nvSpPr>
            <p:spPr>
              <a:xfrm>
                <a:off x="0" y="0"/>
                <a:ext cx="2543100" cy="533400"/>
              </a:xfrm>
              <a:prstGeom prst="roundRect">
                <a:avLst>
                  <a:gd fmla="val 14285"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4"/>
              <p:cNvSpPr txBox="1"/>
              <p:nvPr/>
            </p:nvSpPr>
            <p:spPr>
              <a:xfrm>
                <a:off x="0" y="0"/>
                <a:ext cx="2543100" cy="5334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1200">
                    <a:solidFill>
                      <a:srgbClr val="10253F"/>
                    </a:solidFill>
                    <a:latin typeface="Avenir"/>
                    <a:ea typeface="Avenir"/>
                    <a:cs typeface="Avenir"/>
                    <a:sym typeface="Avenir"/>
                  </a:rPr>
                  <a:t>15-min interval</a:t>
                </a:r>
                <a:endParaRPr b="1" sz="1200">
                  <a:solidFill>
                    <a:srgbClr val="10253F"/>
                  </a:solidFill>
                  <a:latin typeface="Avenir"/>
                  <a:ea typeface="Avenir"/>
                  <a:cs typeface="Avenir"/>
                  <a:sym typeface="Avenir"/>
                </a:endParaRPr>
              </a:p>
            </p:txBody>
          </p:sp>
        </p:grpSp>
        <p:grpSp>
          <p:nvGrpSpPr>
            <p:cNvPr id="117" name="Google Shape;117;p4"/>
            <p:cNvGrpSpPr/>
            <p:nvPr/>
          </p:nvGrpSpPr>
          <p:grpSpPr>
            <a:xfrm>
              <a:off x="8429625" y="457200"/>
              <a:ext cx="2543100" cy="533400"/>
              <a:chOff x="0" y="0"/>
              <a:chExt cx="2543100" cy="533400"/>
            </a:xfrm>
          </p:grpSpPr>
          <p:sp>
            <p:nvSpPr>
              <p:cNvPr id="118" name="Google Shape;118;p4"/>
              <p:cNvSpPr/>
              <p:nvPr/>
            </p:nvSpPr>
            <p:spPr>
              <a:xfrm>
                <a:off x="0" y="0"/>
                <a:ext cx="2543100" cy="533400"/>
              </a:xfrm>
              <a:prstGeom prst="roundRect">
                <a:avLst>
                  <a:gd fmla="val 14285"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4"/>
              <p:cNvSpPr txBox="1"/>
              <p:nvPr/>
            </p:nvSpPr>
            <p:spPr>
              <a:xfrm>
                <a:off x="0" y="0"/>
                <a:ext cx="2543100" cy="5334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1200">
                    <a:solidFill>
                      <a:srgbClr val="10253F"/>
                    </a:solidFill>
                    <a:latin typeface="Avenir"/>
                    <a:ea typeface="Avenir"/>
                    <a:cs typeface="Avenir"/>
                    <a:sym typeface="Avenir"/>
                  </a:rPr>
                  <a:t>Reusable hardware</a:t>
                </a:r>
                <a:endParaRPr b="1" sz="1200">
                  <a:solidFill>
                    <a:srgbClr val="10253F"/>
                  </a:solidFill>
                  <a:latin typeface="Avenir"/>
                  <a:ea typeface="Avenir"/>
                  <a:cs typeface="Avenir"/>
                  <a:sym typeface="Aveni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24" name="Shape 124"/>
        <p:cNvGrpSpPr/>
        <p:nvPr/>
      </p:nvGrpSpPr>
      <p:grpSpPr>
        <a:xfrm>
          <a:off x="0" y="0"/>
          <a:ext cx="0" cy="0"/>
          <a:chOff x="0" y="0"/>
          <a:chExt cx="0" cy="0"/>
        </a:xfrm>
      </p:grpSpPr>
      <p:sp>
        <p:nvSpPr>
          <p:cNvPr id="125" name="Google Shape;125;p5"/>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126" name="Google Shape;126;p5"/>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Experimental hardware and boundary conditions</a:t>
            </a:r>
            <a:endParaRPr/>
          </a:p>
        </p:txBody>
      </p:sp>
      <p:sp>
        <p:nvSpPr>
          <p:cNvPr id="127" name="Google Shape;127;p5"/>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129" name="Google Shape;129;p5"/>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05</a:t>
            </a:r>
            <a:endParaRPr/>
          </a:p>
        </p:txBody>
      </p:sp>
      <p:pic>
        <p:nvPicPr>
          <p:cNvPr id="130" name="Google Shape;130;p5"/>
          <p:cNvPicPr preferRelativeResize="0"/>
          <p:nvPr/>
        </p:nvPicPr>
        <p:blipFill rotWithShape="1">
          <a:blip r:embed="rId3">
            <a:alphaModFix/>
          </a:blip>
          <a:srcRect b="9259" l="0" r="0" t="9259"/>
          <a:stretch/>
        </p:blipFill>
        <p:spPr>
          <a:xfrm>
            <a:off x="495300" y="1428750"/>
            <a:ext cx="6858000" cy="4191000"/>
          </a:xfrm>
          <a:prstGeom prst="roundRect">
            <a:avLst>
              <a:gd fmla="val 2727" name="adj"/>
            </a:avLst>
          </a:prstGeom>
          <a:noFill/>
          <a:ln>
            <a:noFill/>
          </a:ln>
        </p:spPr>
      </p:pic>
      <p:sp>
        <p:nvSpPr>
          <p:cNvPr id="131" name="Google Shape;131;p5"/>
          <p:cNvSpPr/>
          <p:nvPr/>
        </p:nvSpPr>
        <p:spPr>
          <a:xfrm>
            <a:off x="7810500" y="1476375"/>
            <a:ext cx="32385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VERIFIED SETTINGS</a:t>
            </a:r>
            <a:endParaRPr/>
          </a:p>
        </p:txBody>
      </p:sp>
      <p:sp>
        <p:nvSpPr>
          <p:cNvPr id="132" name="Google Shape;132;p5"/>
          <p:cNvSpPr/>
          <p:nvPr/>
        </p:nvSpPr>
        <p:spPr>
          <a:xfrm>
            <a:off x="7810500" y="1866900"/>
            <a:ext cx="1524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525"/>
              <a:buFont typeface="Avenir"/>
              <a:buNone/>
            </a:pPr>
            <a:r>
              <a:rPr b="1" lang="en-US" sz="1525">
                <a:solidFill>
                  <a:srgbClr val="167A9D"/>
                </a:solidFill>
                <a:latin typeface="Avenir"/>
                <a:ea typeface="Avenir"/>
                <a:cs typeface="Avenir"/>
                <a:sym typeface="Avenir"/>
              </a:rPr>
              <a:t>100 mL</a:t>
            </a:r>
            <a:endParaRPr/>
          </a:p>
        </p:txBody>
      </p:sp>
      <p:sp>
        <p:nvSpPr>
          <p:cNvPr id="133" name="Google Shape;133;p5"/>
          <p:cNvSpPr/>
          <p:nvPr/>
        </p:nvSpPr>
        <p:spPr>
          <a:xfrm>
            <a:off x="7810500" y="2228850"/>
            <a:ext cx="3333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wide-mouth glass thermal core</a:t>
            </a:r>
            <a:endParaRPr/>
          </a:p>
        </p:txBody>
      </p:sp>
      <p:sp>
        <p:nvSpPr>
          <p:cNvPr id="134" name="Google Shape;134;p5"/>
          <p:cNvSpPr/>
          <p:nvPr/>
        </p:nvSpPr>
        <p:spPr>
          <a:xfrm>
            <a:off x="7810500" y="2686050"/>
            <a:ext cx="1524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525"/>
              <a:buFont typeface="Avenir"/>
              <a:buNone/>
            </a:pPr>
            <a:r>
              <a:rPr b="1" lang="en-US" sz="1525">
                <a:solidFill>
                  <a:srgbClr val="167A9D"/>
                </a:solidFill>
                <a:latin typeface="Avenir"/>
                <a:ea typeface="Avenir"/>
                <a:cs typeface="Avenir"/>
                <a:sym typeface="Avenir"/>
              </a:rPr>
              <a:t>≈80 °C</a:t>
            </a:r>
            <a:endParaRPr/>
          </a:p>
        </p:txBody>
      </p:sp>
      <p:sp>
        <p:nvSpPr>
          <p:cNvPr id="135" name="Google Shape;135;p5"/>
          <p:cNvSpPr/>
          <p:nvPr/>
        </p:nvSpPr>
        <p:spPr>
          <a:xfrm>
            <a:off x="7810500" y="3048000"/>
            <a:ext cx="3333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21"/>
              <a:buFont typeface="Avenir"/>
              <a:buNone/>
            </a:pPr>
            <a:r>
              <a:rPr b="0" lang="en-US" sz="1322">
                <a:solidFill>
                  <a:srgbClr val="29455F"/>
                </a:solidFill>
                <a:latin typeface="Avenir"/>
                <a:ea typeface="Avenir"/>
                <a:cs typeface="Avenir"/>
                <a:sym typeface="Avenir"/>
              </a:rPr>
              <a:t>initial water temperature; record actual T₀</a:t>
            </a:r>
            <a:endParaRPr/>
          </a:p>
        </p:txBody>
      </p:sp>
      <p:sp>
        <p:nvSpPr>
          <p:cNvPr id="136" name="Google Shape;136;p5"/>
          <p:cNvSpPr/>
          <p:nvPr/>
        </p:nvSpPr>
        <p:spPr>
          <a:xfrm>
            <a:off x="7810500" y="3505200"/>
            <a:ext cx="1524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525"/>
              <a:buFont typeface="Avenir"/>
              <a:buNone/>
            </a:pPr>
            <a:r>
              <a:rPr b="1" lang="en-US" sz="1525">
                <a:solidFill>
                  <a:srgbClr val="167A9D"/>
                </a:solidFill>
                <a:latin typeface="Avenir"/>
                <a:ea typeface="Avenir"/>
                <a:cs typeface="Avenir"/>
                <a:sym typeface="Avenir"/>
              </a:rPr>
              <a:t>Measured</a:t>
            </a:r>
            <a:endParaRPr/>
          </a:p>
        </p:txBody>
      </p:sp>
      <p:sp>
        <p:nvSpPr>
          <p:cNvPr id="137" name="Google Shape;137;p5"/>
          <p:cNvSpPr/>
          <p:nvPr/>
        </p:nvSpPr>
        <p:spPr>
          <a:xfrm>
            <a:off x="7810500" y="3867150"/>
            <a:ext cx="3333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ice-water bath temperature Tenv</a:t>
            </a:r>
            <a:endParaRPr/>
          </a:p>
        </p:txBody>
      </p:sp>
      <p:sp>
        <p:nvSpPr>
          <p:cNvPr id="138" name="Google Shape;138;p5"/>
          <p:cNvSpPr/>
          <p:nvPr/>
        </p:nvSpPr>
        <p:spPr>
          <a:xfrm>
            <a:off x="7810500" y="4324350"/>
            <a:ext cx="1524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525"/>
              <a:buFont typeface="Avenir"/>
              <a:buNone/>
            </a:pPr>
            <a:r>
              <a:rPr b="1" lang="en-US" sz="1525">
                <a:solidFill>
                  <a:srgbClr val="167A9D"/>
                </a:solidFill>
                <a:latin typeface="Avenir"/>
                <a:ea typeface="Avenir"/>
                <a:cs typeface="Avenir"/>
                <a:sym typeface="Avenir"/>
              </a:rPr>
              <a:t>1 minute</a:t>
            </a:r>
            <a:endParaRPr/>
          </a:p>
        </p:txBody>
      </p:sp>
      <p:sp>
        <p:nvSpPr>
          <p:cNvPr id="139" name="Google Shape;139;p5"/>
          <p:cNvSpPr/>
          <p:nvPr/>
        </p:nvSpPr>
        <p:spPr>
          <a:xfrm>
            <a:off x="7810500" y="4686300"/>
            <a:ext cx="3333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sampling from t = 0 through 15</a:t>
            </a:r>
            <a:endParaRPr/>
          </a:p>
        </p:txBody>
      </p:sp>
      <p:sp>
        <p:nvSpPr>
          <p:cNvPr id="140" name="Google Shape;140;p5"/>
          <p:cNvSpPr/>
          <p:nvPr/>
        </p:nvSpPr>
        <p:spPr>
          <a:xfrm>
            <a:off x="7810500" y="5257800"/>
            <a:ext cx="3333750" cy="628650"/>
          </a:xfrm>
          <a:prstGeom prst="roundRect">
            <a:avLst>
              <a:gd fmla="val 12121" name="adj"/>
            </a:avLst>
          </a:prstGeom>
          <a:solidFill>
            <a:srgbClr val="E4EE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8020050" y="5410200"/>
            <a:ext cx="3000375" cy="3429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883"/>
              <a:buFont typeface="Avenir"/>
              <a:buNone/>
            </a:pPr>
            <a:r>
              <a:rPr b="1" lang="en-US" sz="884">
                <a:solidFill>
                  <a:srgbClr val="10253F"/>
                </a:solidFill>
                <a:latin typeface="Avenir"/>
                <a:ea typeface="Avenir"/>
                <a:cs typeface="Avenir"/>
                <a:sym typeface="Avenir"/>
              </a:rPr>
              <a:t>Four matched cores allow parallel classroom testing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46" name="Shape 146"/>
        <p:cNvGrpSpPr/>
        <p:nvPr/>
      </p:nvGrpSpPr>
      <p:grpSpPr>
        <a:xfrm>
          <a:off x="0" y="0"/>
          <a:ext cx="0" cy="0"/>
          <a:chOff x="0" y="0"/>
          <a:chExt cx="0" cy="0"/>
        </a:xfrm>
      </p:grpSpPr>
      <p:sp>
        <p:nvSpPr>
          <p:cNvPr id="147" name="Google Shape;147;p6"/>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148" name="Google Shape;148;p6"/>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Four controlled insulation configurations</a:t>
            </a:r>
            <a:endParaRPr/>
          </a:p>
        </p:txBody>
      </p:sp>
      <p:sp>
        <p:nvSpPr>
          <p:cNvPr id="149" name="Google Shape;149;p6"/>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151" name="Google Shape;151;p6"/>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06</a:t>
            </a:r>
            <a:endParaRPr/>
          </a:p>
        </p:txBody>
      </p:sp>
      <p:pic>
        <p:nvPicPr>
          <p:cNvPr id="152" name="Google Shape;152;p6"/>
          <p:cNvPicPr preferRelativeResize="0"/>
          <p:nvPr/>
        </p:nvPicPr>
        <p:blipFill rotWithShape="1">
          <a:blip r:embed="rId3">
            <a:alphaModFix/>
          </a:blip>
          <a:srcRect b="1402" l="0" r="0" t="1402"/>
          <a:stretch/>
        </p:blipFill>
        <p:spPr>
          <a:xfrm>
            <a:off x="495300" y="1409700"/>
            <a:ext cx="2571750" cy="3333750"/>
          </a:xfrm>
          <a:prstGeom prst="roundRect">
            <a:avLst>
              <a:gd fmla="val 4444" name="adj"/>
            </a:avLst>
          </a:prstGeom>
          <a:noFill/>
          <a:ln>
            <a:noFill/>
          </a:ln>
        </p:spPr>
      </p:pic>
      <p:sp>
        <p:nvSpPr>
          <p:cNvPr id="153" name="Google Shape;153;p6"/>
          <p:cNvSpPr/>
          <p:nvPr/>
        </p:nvSpPr>
        <p:spPr>
          <a:xfrm>
            <a:off x="4953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399"/>
              <a:buFont typeface="Avenir"/>
              <a:buNone/>
            </a:pPr>
            <a:r>
              <a:rPr b="1" lang="en-US" sz="1400">
                <a:solidFill>
                  <a:srgbClr val="10253F"/>
                </a:solidFill>
                <a:latin typeface="Avenir"/>
                <a:ea typeface="Avenir"/>
                <a:cs typeface="Avenir"/>
                <a:sym typeface="Avenir"/>
              </a:rPr>
              <a:t>Bare control</a:t>
            </a:r>
            <a:endParaRPr/>
          </a:p>
        </p:txBody>
      </p:sp>
      <p:sp>
        <p:nvSpPr>
          <p:cNvPr id="154" name="Google Shape;154;p6"/>
          <p:cNvSpPr/>
          <p:nvPr/>
        </p:nvSpPr>
        <p:spPr>
          <a:xfrm>
            <a:off x="4953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4"/>
              <a:buFont typeface="Avenir"/>
              <a:buNone/>
            </a:pPr>
            <a:r>
              <a:rPr b="1" lang="en-US" sz="1025">
                <a:solidFill>
                  <a:srgbClr val="007FA8"/>
                </a:solidFill>
                <a:latin typeface="Avenir"/>
                <a:ea typeface="Avenir"/>
                <a:cs typeface="Avenir"/>
                <a:sym typeface="Avenir"/>
              </a:rPr>
              <a:t>k = 0.150 min⁻¹</a:t>
            </a:r>
            <a:endParaRPr/>
          </a:p>
        </p:txBody>
      </p:sp>
      <p:sp>
        <p:nvSpPr>
          <p:cNvPr id="155" name="Google Shape;155;p6"/>
          <p:cNvSpPr/>
          <p:nvPr/>
        </p:nvSpPr>
        <p:spPr>
          <a:xfrm>
            <a:off x="4953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49"/>
              <a:buFont typeface="Avenir"/>
              <a:buNone/>
            </a:pPr>
            <a:r>
              <a:rPr b="0" lang="en-US" sz="1150">
                <a:solidFill>
                  <a:srgbClr val="61758A"/>
                </a:solidFill>
                <a:latin typeface="Avenir"/>
                <a:ea typeface="Avenir"/>
                <a:cs typeface="Avenir"/>
                <a:sym typeface="Avenir"/>
              </a:rPr>
              <a:t>Reference heat loss</a:t>
            </a:r>
            <a:endParaRPr/>
          </a:p>
        </p:txBody>
      </p:sp>
      <p:pic>
        <p:nvPicPr>
          <p:cNvPr id="156" name="Google Shape;156;p6"/>
          <p:cNvPicPr preferRelativeResize="0"/>
          <p:nvPr/>
        </p:nvPicPr>
        <p:blipFill rotWithShape="1">
          <a:blip r:embed="rId4">
            <a:alphaModFix/>
          </a:blip>
          <a:srcRect b="1389" l="0" r="0" t="1389"/>
          <a:stretch/>
        </p:blipFill>
        <p:spPr>
          <a:xfrm>
            <a:off x="3352800" y="1409700"/>
            <a:ext cx="2571750" cy="3333750"/>
          </a:xfrm>
          <a:prstGeom prst="roundRect">
            <a:avLst>
              <a:gd fmla="val 4444" name="adj"/>
            </a:avLst>
          </a:prstGeom>
          <a:noFill/>
          <a:ln>
            <a:noFill/>
          </a:ln>
        </p:spPr>
      </p:pic>
      <p:sp>
        <p:nvSpPr>
          <p:cNvPr id="157" name="Google Shape;157;p6"/>
          <p:cNvSpPr/>
          <p:nvPr/>
        </p:nvSpPr>
        <p:spPr>
          <a:xfrm>
            <a:off x="33528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399"/>
              <a:buFont typeface="Avenir"/>
              <a:buNone/>
            </a:pPr>
            <a:r>
              <a:rPr b="1" lang="en-US" sz="1400">
                <a:solidFill>
                  <a:srgbClr val="10253F"/>
                </a:solidFill>
                <a:latin typeface="Avenir"/>
                <a:ea typeface="Avenir"/>
                <a:cs typeface="Avenir"/>
                <a:sym typeface="Avenir"/>
              </a:rPr>
              <a:t>Bubble wrap</a:t>
            </a:r>
            <a:endParaRPr/>
          </a:p>
        </p:txBody>
      </p:sp>
      <p:sp>
        <p:nvSpPr>
          <p:cNvPr id="158" name="Google Shape;158;p6"/>
          <p:cNvSpPr/>
          <p:nvPr/>
        </p:nvSpPr>
        <p:spPr>
          <a:xfrm>
            <a:off x="33528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4"/>
              <a:buFont typeface="Avenir"/>
              <a:buNone/>
            </a:pPr>
            <a:r>
              <a:rPr b="1" lang="en-US" sz="1025">
                <a:solidFill>
                  <a:srgbClr val="007FA8"/>
                </a:solidFill>
                <a:latin typeface="Avenir"/>
                <a:ea typeface="Avenir"/>
                <a:cs typeface="Avenir"/>
                <a:sym typeface="Avenir"/>
              </a:rPr>
              <a:t>k = 0.040 min⁻¹</a:t>
            </a:r>
            <a:endParaRPr/>
          </a:p>
        </p:txBody>
      </p:sp>
      <p:sp>
        <p:nvSpPr>
          <p:cNvPr id="159" name="Google Shape;159;p6"/>
          <p:cNvSpPr/>
          <p:nvPr/>
        </p:nvSpPr>
        <p:spPr>
          <a:xfrm>
            <a:off x="33528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49"/>
              <a:buFont typeface="Avenir"/>
              <a:buNone/>
            </a:pPr>
            <a:r>
              <a:rPr b="0" lang="en-US" sz="1150">
                <a:solidFill>
                  <a:srgbClr val="61758A"/>
                </a:solidFill>
                <a:latin typeface="Avenir"/>
                <a:ea typeface="Avenir"/>
                <a:cs typeface="Avenir"/>
                <a:sym typeface="Avenir"/>
              </a:rPr>
              <a:t>Trapped air cells</a:t>
            </a:r>
            <a:endParaRPr/>
          </a:p>
        </p:txBody>
      </p:sp>
      <p:pic>
        <p:nvPicPr>
          <p:cNvPr id="160" name="Google Shape;160;p6"/>
          <p:cNvPicPr preferRelativeResize="0"/>
          <p:nvPr/>
        </p:nvPicPr>
        <p:blipFill rotWithShape="1">
          <a:blip r:embed="rId5">
            <a:alphaModFix/>
          </a:blip>
          <a:srcRect b="1389" l="0" r="0" t="1389"/>
          <a:stretch/>
        </p:blipFill>
        <p:spPr>
          <a:xfrm>
            <a:off x="6210300" y="1409700"/>
            <a:ext cx="2571750" cy="3333750"/>
          </a:xfrm>
          <a:prstGeom prst="roundRect">
            <a:avLst>
              <a:gd fmla="val 4444" name="adj"/>
            </a:avLst>
          </a:prstGeom>
          <a:noFill/>
          <a:ln>
            <a:noFill/>
          </a:ln>
        </p:spPr>
      </p:pic>
      <p:sp>
        <p:nvSpPr>
          <p:cNvPr id="161" name="Google Shape;161;p6"/>
          <p:cNvSpPr/>
          <p:nvPr/>
        </p:nvSpPr>
        <p:spPr>
          <a:xfrm>
            <a:off x="62103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399"/>
              <a:buFont typeface="Avenir"/>
              <a:buNone/>
            </a:pPr>
            <a:r>
              <a:rPr b="1" lang="en-US" sz="1400">
                <a:solidFill>
                  <a:srgbClr val="10253F"/>
                </a:solidFill>
                <a:latin typeface="Avenir"/>
                <a:ea typeface="Avenir"/>
                <a:cs typeface="Avenir"/>
                <a:sym typeface="Avenir"/>
              </a:rPr>
              <a:t>Mylar only</a:t>
            </a:r>
            <a:endParaRPr/>
          </a:p>
        </p:txBody>
      </p:sp>
      <p:sp>
        <p:nvSpPr>
          <p:cNvPr id="162" name="Google Shape;162;p6"/>
          <p:cNvSpPr/>
          <p:nvPr/>
        </p:nvSpPr>
        <p:spPr>
          <a:xfrm>
            <a:off x="62103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4"/>
              <a:buFont typeface="Avenir"/>
              <a:buNone/>
            </a:pPr>
            <a:r>
              <a:rPr b="1" lang="en-US" sz="1025">
                <a:solidFill>
                  <a:srgbClr val="007FA8"/>
                </a:solidFill>
                <a:latin typeface="Avenir"/>
                <a:ea typeface="Avenir"/>
                <a:cs typeface="Avenir"/>
                <a:sym typeface="Avenir"/>
              </a:rPr>
              <a:t>k = 0.121 min⁻¹</a:t>
            </a:r>
            <a:endParaRPr/>
          </a:p>
        </p:txBody>
      </p:sp>
      <p:sp>
        <p:nvSpPr>
          <p:cNvPr id="163" name="Google Shape;163;p6"/>
          <p:cNvSpPr/>
          <p:nvPr/>
        </p:nvSpPr>
        <p:spPr>
          <a:xfrm>
            <a:off x="62103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49"/>
              <a:buFont typeface="Avenir"/>
              <a:buNone/>
            </a:pPr>
            <a:r>
              <a:rPr b="0" lang="en-US" sz="1150">
                <a:solidFill>
                  <a:srgbClr val="61758A"/>
                </a:solidFill>
                <a:latin typeface="Avenir"/>
                <a:ea typeface="Avenir"/>
                <a:cs typeface="Avenir"/>
                <a:sym typeface="Avenir"/>
              </a:rPr>
              <a:t>Reflective layer</a:t>
            </a:r>
            <a:endParaRPr/>
          </a:p>
        </p:txBody>
      </p:sp>
      <p:pic>
        <p:nvPicPr>
          <p:cNvPr id="164" name="Google Shape;164;p6"/>
          <p:cNvPicPr preferRelativeResize="0"/>
          <p:nvPr/>
        </p:nvPicPr>
        <p:blipFill rotWithShape="1">
          <a:blip r:embed="rId6">
            <a:alphaModFix/>
          </a:blip>
          <a:srcRect b="1389" l="0" r="0" t="1389"/>
          <a:stretch/>
        </p:blipFill>
        <p:spPr>
          <a:xfrm>
            <a:off x="9067800" y="1409700"/>
            <a:ext cx="2571750" cy="3333750"/>
          </a:xfrm>
          <a:prstGeom prst="roundRect">
            <a:avLst>
              <a:gd fmla="val 4444" name="adj"/>
            </a:avLst>
          </a:prstGeom>
          <a:noFill/>
          <a:ln>
            <a:noFill/>
          </a:ln>
        </p:spPr>
      </p:pic>
      <p:sp>
        <p:nvSpPr>
          <p:cNvPr id="165" name="Google Shape;165;p6"/>
          <p:cNvSpPr/>
          <p:nvPr/>
        </p:nvSpPr>
        <p:spPr>
          <a:xfrm>
            <a:off x="90678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399"/>
              <a:buFont typeface="Avenir"/>
              <a:buNone/>
            </a:pPr>
            <a:r>
              <a:rPr b="1" lang="en-US" sz="1400">
                <a:solidFill>
                  <a:srgbClr val="10253F"/>
                </a:solidFill>
                <a:latin typeface="Avenir"/>
                <a:ea typeface="Avenir"/>
                <a:cs typeface="Avenir"/>
                <a:sym typeface="Avenir"/>
              </a:rPr>
              <a:t>Full MLI</a:t>
            </a:r>
            <a:endParaRPr/>
          </a:p>
        </p:txBody>
      </p:sp>
      <p:sp>
        <p:nvSpPr>
          <p:cNvPr id="166" name="Google Shape;166;p6"/>
          <p:cNvSpPr/>
          <p:nvPr/>
        </p:nvSpPr>
        <p:spPr>
          <a:xfrm>
            <a:off x="90678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024"/>
              <a:buFont typeface="Avenir"/>
              <a:buNone/>
            </a:pPr>
            <a:r>
              <a:rPr b="1" lang="en-US" sz="1025">
                <a:solidFill>
                  <a:srgbClr val="0B8B61"/>
                </a:solidFill>
                <a:latin typeface="Avenir"/>
                <a:ea typeface="Avenir"/>
                <a:cs typeface="Avenir"/>
                <a:sym typeface="Avenir"/>
              </a:rPr>
              <a:t>k = 0.015 min⁻¹</a:t>
            </a:r>
            <a:endParaRPr/>
          </a:p>
        </p:txBody>
      </p:sp>
      <p:sp>
        <p:nvSpPr>
          <p:cNvPr id="167" name="Google Shape;167;p6"/>
          <p:cNvSpPr/>
          <p:nvPr/>
        </p:nvSpPr>
        <p:spPr>
          <a:xfrm>
            <a:off x="90678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49"/>
              <a:buFont typeface="Avenir"/>
              <a:buNone/>
            </a:pPr>
            <a:r>
              <a:rPr b="0" lang="en-US" sz="1150">
                <a:solidFill>
                  <a:srgbClr val="61758A"/>
                </a:solidFill>
                <a:latin typeface="Avenir"/>
                <a:ea typeface="Avenir"/>
                <a:cs typeface="Avenir"/>
                <a:sym typeface="Avenir"/>
              </a:rPr>
              <a:t>Cotton + bubble + Mylar</a:t>
            </a:r>
            <a:endParaRPr/>
          </a:p>
        </p:txBody>
      </p:sp>
      <p:sp>
        <p:nvSpPr>
          <p:cNvPr id="168" name="Google Shape;168;p6"/>
          <p:cNvSpPr/>
          <p:nvPr/>
        </p:nvSpPr>
        <p:spPr>
          <a:xfrm>
            <a:off x="495300" y="6019800"/>
            <a:ext cx="11049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149"/>
              <a:buFont typeface="Avenir"/>
              <a:buNone/>
            </a:pPr>
            <a:r>
              <a:rPr b="0" i="1" lang="en-US" sz="1150">
                <a:solidFill>
                  <a:srgbClr val="B66A00"/>
                </a:solidFill>
                <a:latin typeface="Avenir"/>
                <a:ea typeface="Avenir"/>
                <a:cs typeface="Avenir"/>
                <a:sym typeface="Avenir"/>
              </a:rPr>
              <a:t>Reference coefficients are educational system settings, not material conductivities.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73" name="Shape 173"/>
        <p:cNvGrpSpPr/>
        <p:nvPr/>
      </p:nvGrpSpPr>
      <p:grpSpPr>
        <a:xfrm>
          <a:off x="0" y="0"/>
          <a:ext cx="0" cy="0"/>
          <a:chOff x="0" y="0"/>
          <a:chExt cx="0" cy="0"/>
        </a:xfrm>
      </p:grpSpPr>
      <p:sp>
        <p:nvSpPr>
          <p:cNvPr id="174" name="Google Shape;174;p7"/>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175" name="Google Shape;175;p7"/>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Thermodynamic framework</a:t>
            </a:r>
            <a:endParaRPr/>
          </a:p>
        </p:txBody>
      </p:sp>
      <p:sp>
        <p:nvSpPr>
          <p:cNvPr id="176" name="Google Shape;176;p7"/>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178" name="Google Shape;178;p7"/>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07</a:t>
            </a:r>
            <a:endParaRPr/>
          </a:p>
        </p:txBody>
      </p:sp>
      <p:pic>
        <p:nvPicPr>
          <p:cNvPr id="179" name="Google Shape;179;p7"/>
          <p:cNvPicPr preferRelativeResize="0"/>
          <p:nvPr/>
        </p:nvPicPr>
        <p:blipFill rotWithShape="1">
          <a:blip r:embed="rId3">
            <a:alphaModFix/>
          </a:blip>
          <a:srcRect b="0" l="0" r="0" t="0"/>
          <a:stretch/>
        </p:blipFill>
        <p:spPr>
          <a:xfrm>
            <a:off x="538289" y="1333500"/>
            <a:ext cx="6581522" cy="2905125"/>
          </a:xfrm>
          <a:prstGeom prst="roundRect">
            <a:avLst>
              <a:gd fmla="val 3934" name="adj"/>
            </a:avLst>
          </a:prstGeom>
          <a:noFill/>
          <a:ln>
            <a:noFill/>
          </a:ln>
        </p:spPr>
      </p:pic>
      <p:sp>
        <p:nvSpPr>
          <p:cNvPr id="180" name="Google Shape;180;p7"/>
          <p:cNvSpPr/>
          <p:nvPr/>
        </p:nvSpPr>
        <p:spPr>
          <a:xfrm>
            <a:off x="7524750" y="1333500"/>
            <a:ext cx="4076700" cy="1428750"/>
          </a:xfrm>
          <a:prstGeom prst="roundRect">
            <a:avLst>
              <a:gd fmla="val 5333"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7772400" y="1524000"/>
            <a:ext cx="3524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79D8F7"/>
              </a:buClr>
              <a:buSzPts val="1275"/>
              <a:buFont typeface="Avenir"/>
              <a:buNone/>
            </a:pPr>
            <a:r>
              <a:rPr b="1" lang="en-US" sz="1275">
                <a:solidFill>
                  <a:srgbClr val="79D8F7"/>
                </a:solidFill>
                <a:latin typeface="Avenir"/>
                <a:ea typeface="Avenir"/>
                <a:cs typeface="Avenir"/>
                <a:sym typeface="Avenir"/>
              </a:rPr>
              <a:t>Newton cooling model</a:t>
            </a:r>
            <a:endParaRPr/>
          </a:p>
        </p:txBody>
      </p:sp>
      <p:pic>
        <p:nvPicPr>
          <p:cNvPr id="182" name="Google Shape;182;p7"/>
          <p:cNvPicPr preferRelativeResize="0"/>
          <p:nvPr/>
        </p:nvPicPr>
        <p:blipFill rotWithShape="1">
          <a:blip r:embed="rId4">
            <a:alphaModFix/>
          </a:blip>
          <a:srcRect b="0" l="0" r="0" t="0"/>
          <a:stretch/>
        </p:blipFill>
        <p:spPr>
          <a:xfrm>
            <a:off x="8167588" y="1895475"/>
            <a:ext cx="2771975" cy="685800"/>
          </a:xfrm>
          <a:prstGeom prst="roundRect">
            <a:avLst>
              <a:gd fmla="val 16667" name="adj"/>
            </a:avLst>
          </a:prstGeom>
          <a:noFill/>
          <a:ln>
            <a:noFill/>
          </a:ln>
        </p:spPr>
      </p:pic>
      <p:sp>
        <p:nvSpPr>
          <p:cNvPr id="183" name="Google Shape;183;p7"/>
          <p:cNvSpPr/>
          <p:nvPr/>
        </p:nvSpPr>
        <p:spPr>
          <a:xfrm>
            <a:off x="7772400" y="2457450"/>
            <a:ext cx="3524250" cy="23812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D8E4F2"/>
              </a:buClr>
              <a:buSzPts val="962"/>
              <a:buFont typeface="Avenir"/>
              <a:buNone/>
            </a:pPr>
            <a:r>
              <a:rPr b="0" lang="en-US" sz="962">
                <a:solidFill>
                  <a:srgbClr val="D8E4F2"/>
                </a:solidFill>
                <a:latin typeface="Avenir"/>
                <a:ea typeface="Avenir"/>
                <a:cs typeface="Avenir"/>
                <a:sym typeface="Avenir"/>
              </a:rPr>
              <a:t>Smaller k means slower approach to the bath temperature</a:t>
            </a:r>
            <a:endParaRPr/>
          </a:p>
        </p:txBody>
      </p:sp>
      <p:sp>
        <p:nvSpPr>
          <p:cNvPr id="184" name="Google Shape;184;p7"/>
          <p:cNvSpPr/>
          <p:nvPr/>
        </p:nvSpPr>
        <p:spPr>
          <a:xfrm>
            <a:off x="495300" y="447675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025"/>
              <a:buFont typeface="Avenir"/>
              <a:buNone/>
            </a:pPr>
            <a:r>
              <a:rPr b="1" lang="en-US" sz="1025">
                <a:solidFill>
                  <a:srgbClr val="B66A00"/>
                </a:solidFill>
                <a:latin typeface="Avenir"/>
                <a:ea typeface="Avenir"/>
                <a:cs typeface="Avenir"/>
                <a:sym typeface="Avenir"/>
              </a:rPr>
              <a:t>CONDUCTION</a:t>
            </a:r>
            <a:endParaRPr/>
          </a:p>
        </p:txBody>
      </p:sp>
      <p:sp>
        <p:nvSpPr>
          <p:cNvPr id="185" name="Google Shape;185;p7"/>
          <p:cNvSpPr/>
          <p:nvPr/>
        </p:nvSpPr>
        <p:spPr>
          <a:xfrm>
            <a:off x="2238375" y="447675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Direct contact through glass, water and solid layers</a:t>
            </a:r>
            <a:endParaRPr/>
          </a:p>
        </p:txBody>
      </p:sp>
      <p:sp>
        <p:nvSpPr>
          <p:cNvPr id="186" name="Google Shape;186;p7"/>
          <p:cNvSpPr/>
          <p:nvPr/>
        </p:nvSpPr>
        <p:spPr>
          <a:xfrm>
            <a:off x="7143750" y="447675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Cotton and interfaces add resistance</a:t>
            </a:r>
            <a:endParaRPr/>
          </a:p>
        </p:txBody>
      </p:sp>
      <p:sp>
        <p:nvSpPr>
          <p:cNvPr id="187" name="Google Shape;187;p7"/>
          <p:cNvSpPr/>
          <p:nvPr/>
        </p:nvSpPr>
        <p:spPr>
          <a:xfrm>
            <a:off x="495300" y="506730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5"/>
              <a:buFont typeface="Avenir"/>
              <a:buNone/>
            </a:pPr>
            <a:r>
              <a:rPr b="1" lang="en-US" sz="1025">
                <a:solidFill>
                  <a:srgbClr val="007FA8"/>
                </a:solidFill>
                <a:latin typeface="Avenir"/>
                <a:ea typeface="Avenir"/>
                <a:cs typeface="Avenir"/>
                <a:sym typeface="Avenir"/>
              </a:rPr>
              <a:t>CONVECTION</a:t>
            </a:r>
            <a:endParaRPr/>
          </a:p>
        </p:txBody>
      </p:sp>
      <p:sp>
        <p:nvSpPr>
          <p:cNvPr id="188" name="Google Shape;188;p7"/>
          <p:cNvSpPr/>
          <p:nvPr/>
        </p:nvSpPr>
        <p:spPr>
          <a:xfrm>
            <a:off x="2238375" y="506730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Fluid movement in the bath and gaps</a:t>
            </a:r>
            <a:endParaRPr/>
          </a:p>
        </p:txBody>
      </p:sp>
      <p:sp>
        <p:nvSpPr>
          <p:cNvPr id="189" name="Google Shape;189;p7"/>
          <p:cNvSpPr/>
          <p:nvPr/>
        </p:nvSpPr>
        <p:spPr>
          <a:xfrm>
            <a:off x="7143750" y="506730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Sealed bubble cells restrict circulation</a:t>
            </a:r>
            <a:endParaRPr/>
          </a:p>
        </p:txBody>
      </p:sp>
      <p:sp>
        <p:nvSpPr>
          <p:cNvPr id="190" name="Google Shape;190;p7"/>
          <p:cNvSpPr/>
          <p:nvPr/>
        </p:nvSpPr>
        <p:spPr>
          <a:xfrm>
            <a:off x="495300" y="565785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025"/>
              <a:buFont typeface="Avenir"/>
              <a:buNone/>
            </a:pPr>
            <a:r>
              <a:rPr b="1" lang="en-US" sz="1025">
                <a:solidFill>
                  <a:srgbClr val="0B8B61"/>
                </a:solidFill>
                <a:latin typeface="Avenir"/>
                <a:ea typeface="Avenir"/>
                <a:cs typeface="Avenir"/>
                <a:sym typeface="Avenir"/>
              </a:rPr>
              <a:t>RADIATION</a:t>
            </a:r>
            <a:endParaRPr/>
          </a:p>
        </p:txBody>
      </p:sp>
      <p:sp>
        <p:nvSpPr>
          <p:cNvPr id="191" name="Google Shape;191;p7"/>
          <p:cNvSpPr/>
          <p:nvPr/>
        </p:nvSpPr>
        <p:spPr>
          <a:xfrm>
            <a:off x="2238375" y="565785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Infrared exchange between surfaces</a:t>
            </a:r>
            <a:endParaRPr/>
          </a:p>
        </p:txBody>
      </p:sp>
      <p:sp>
        <p:nvSpPr>
          <p:cNvPr id="192" name="Google Shape;192;p7"/>
          <p:cNvSpPr/>
          <p:nvPr/>
        </p:nvSpPr>
        <p:spPr>
          <a:xfrm>
            <a:off x="7143750" y="565785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Mylar reduces radiative exchange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97" name="Shape 197"/>
        <p:cNvGrpSpPr/>
        <p:nvPr/>
      </p:nvGrpSpPr>
      <p:grpSpPr>
        <a:xfrm>
          <a:off x="0" y="0"/>
          <a:ext cx="0" cy="0"/>
          <a:chOff x="0" y="0"/>
          <a:chExt cx="0" cy="0"/>
        </a:xfrm>
      </p:grpSpPr>
      <p:sp>
        <p:nvSpPr>
          <p:cNvPr id="198" name="Google Shape;198;p8"/>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199" name="Google Shape;199;p8"/>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Controlled method and safety-critical checks</a:t>
            </a:r>
            <a:endParaRPr/>
          </a:p>
        </p:txBody>
      </p:sp>
      <p:sp>
        <p:nvSpPr>
          <p:cNvPr id="200" name="Google Shape;200;p8"/>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202" name="Google Shape;202;p8"/>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08</a:t>
            </a:r>
            <a:endParaRPr/>
          </a:p>
        </p:txBody>
      </p:sp>
      <p:sp>
        <p:nvSpPr>
          <p:cNvPr id="203" name="Google Shape;203;p8"/>
          <p:cNvSpPr/>
          <p:nvPr/>
        </p:nvSpPr>
        <p:spPr>
          <a:xfrm>
            <a:off x="4953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2400"/>
              <a:buFont typeface="Avenir"/>
              <a:buNone/>
            </a:pPr>
            <a:r>
              <a:rPr b="1" lang="en-US" sz="2400">
                <a:solidFill>
                  <a:srgbClr val="007FA8"/>
                </a:solidFill>
                <a:latin typeface="Avenir"/>
                <a:ea typeface="Avenir"/>
                <a:cs typeface="Avenir"/>
                <a:sym typeface="Avenir"/>
              </a:rPr>
              <a:t>01</a:t>
            </a:r>
            <a:endParaRPr/>
          </a:p>
        </p:txBody>
      </p:sp>
      <p:sp>
        <p:nvSpPr>
          <p:cNvPr id="204" name="Google Shape;204;p8"/>
          <p:cNvSpPr/>
          <p:nvPr/>
        </p:nvSpPr>
        <p:spPr>
          <a:xfrm>
            <a:off x="11620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150"/>
              <a:buFont typeface="Avenir"/>
              <a:buNone/>
            </a:pPr>
            <a:r>
              <a:rPr b="1" lang="en-US" sz="1150">
                <a:solidFill>
                  <a:srgbClr val="10253F"/>
                </a:solidFill>
                <a:latin typeface="Avenir"/>
                <a:ea typeface="Avenir"/>
                <a:cs typeface="Avenir"/>
                <a:sym typeface="Avenir"/>
              </a:rPr>
              <a:t>PREPARE</a:t>
            </a:r>
            <a:endParaRPr/>
          </a:p>
        </p:txBody>
      </p:sp>
      <p:sp>
        <p:nvSpPr>
          <p:cNvPr id="205" name="Google Shape;205;p8"/>
          <p:cNvSpPr/>
          <p:nvPr/>
        </p:nvSpPr>
        <p:spPr>
          <a:xfrm>
            <a:off x="4953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Measure Tenv, label conditions, leak-test the cores</a:t>
            </a:r>
            <a:endParaRPr/>
          </a:p>
        </p:txBody>
      </p:sp>
      <p:sp>
        <p:nvSpPr>
          <p:cNvPr id="206" name="Google Shape;206;p8"/>
          <p:cNvSpPr/>
          <p:nvPr/>
        </p:nvSpPr>
        <p:spPr>
          <a:xfrm>
            <a:off x="3067050" y="1714500"/>
            <a:ext cx="238125" cy="28575"/>
          </a:xfrm>
          <a:prstGeom prst="rect">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33528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2400"/>
              <a:buFont typeface="Avenir"/>
              <a:buNone/>
            </a:pPr>
            <a:r>
              <a:rPr b="1" lang="en-US" sz="2400">
                <a:solidFill>
                  <a:srgbClr val="007FA8"/>
                </a:solidFill>
                <a:latin typeface="Avenir"/>
                <a:ea typeface="Avenir"/>
                <a:cs typeface="Avenir"/>
                <a:sym typeface="Avenir"/>
              </a:rPr>
              <a:t>02</a:t>
            </a:r>
            <a:endParaRPr/>
          </a:p>
        </p:txBody>
      </p:sp>
      <p:sp>
        <p:nvSpPr>
          <p:cNvPr id="208" name="Google Shape;208;p8"/>
          <p:cNvSpPr/>
          <p:nvPr/>
        </p:nvSpPr>
        <p:spPr>
          <a:xfrm>
            <a:off x="40195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150"/>
              <a:buFont typeface="Avenir"/>
              <a:buNone/>
            </a:pPr>
            <a:r>
              <a:rPr b="1" lang="en-US" sz="1150">
                <a:solidFill>
                  <a:srgbClr val="10253F"/>
                </a:solidFill>
                <a:latin typeface="Avenir"/>
                <a:ea typeface="Avenir"/>
                <a:cs typeface="Avenir"/>
                <a:sym typeface="Avenir"/>
              </a:rPr>
              <a:t>CONDITION</a:t>
            </a:r>
            <a:endParaRPr/>
          </a:p>
        </p:txBody>
      </p:sp>
      <p:sp>
        <p:nvSpPr>
          <p:cNvPr id="209" name="Google Shape;209;p8"/>
          <p:cNvSpPr/>
          <p:nvPr/>
        </p:nvSpPr>
        <p:spPr>
          <a:xfrm>
            <a:off x="33528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Fill 100 mL near 80 °C and record the actual T₀</a:t>
            </a:r>
            <a:endParaRPr/>
          </a:p>
        </p:txBody>
      </p:sp>
      <p:sp>
        <p:nvSpPr>
          <p:cNvPr id="210" name="Google Shape;210;p8"/>
          <p:cNvSpPr/>
          <p:nvPr/>
        </p:nvSpPr>
        <p:spPr>
          <a:xfrm>
            <a:off x="5924550" y="1714500"/>
            <a:ext cx="238125" cy="28575"/>
          </a:xfrm>
          <a:prstGeom prst="rect">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62103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2400"/>
              <a:buFont typeface="Avenir"/>
              <a:buNone/>
            </a:pPr>
            <a:r>
              <a:rPr b="1" lang="en-US" sz="2400">
                <a:solidFill>
                  <a:srgbClr val="007FA8"/>
                </a:solidFill>
                <a:latin typeface="Avenir"/>
                <a:ea typeface="Avenir"/>
                <a:cs typeface="Avenir"/>
                <a:sym typeface="Avenir"/>
              </a:rPr>
              <a:t>03</a:t>
            </a:r>
            <a:endParaRPr/>
          </a:p>
        </p:txBody>
      </p:sp>
      <p:sp>
        <p:nvSpPr>
          <p:cNvPr id="212" name="Google Shape;212;p8"/>
          <p:cNvSpPr/>
          <p:nvPr/>
        </p:nvSpPr>
        <p:spPr>
          <a:xfrm>
            <a:off x="68770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150"/>
              <a:buFont typeface="Avenir"/>
              <a:buNone/>
            </a:pPr>
            <a:r>
              <a:rPr b="1" lang="en-US" sz="1150">
                <a:solidFill>
                  <a:srgbClr val="10253F"/>
                </a:solidFill>
                <a:latin typeface="Avenir"/>
                <a:ea typeface="Avenir"/>
                <a:cs typeface="Avenir"/>
                <a:sym typeface="Avenir"/>
              </a:rPr>
              <a:t>MEASURE</a:t>
            </a:r>
            <a:endParaRPr/>
          </a:p>
        </p:txBody>
      </p:sp>
      <p:sp>
        <p:nvSpPr>
          <p:cNvPr id="213" name="Google Shape;213;p8"/>
          <p:cNvSpPr/>
          <p:nvPr/>
        </p:nvSpPr>
        <p:spPr>
          <a:xfrm>
            <a:off x="62103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Immerse consistently and log one reading each minute</a:t>
            </a:r>
            <a:endParaRPr/>
          </a:p>
        </p:txBody>
      </p:sp>
      <p:sp>
        <p:nvSpPr>
          <p:cNvPr id="214" name="Google Shape;214;p8"/>
          <p:cNvSpPr/>
          <p:nvPr/>
        </p:nvSpPr>
        <p:spPr>
          <a:xfrm>
            <a:off x="8782050" y="1714500"/>
            <a:ext cx="238125" cy="28575"/>
          </a:xfrm>
          <a:prstGeom prst="rect">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90678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2400"/>
              <a:buFont typeface="Avenir"/>
              <a:buNone/>
            </a:pPr>
            <a:r>
              <a:rPr b="1" lang="en-US" sz="2400">
                <a:solidFill>
                  <a:srgbClr val="007FA8"/>
                </a:solidFill>
                <a:latin typeface="Avenir"/>
                <a:ea typeface="Avenir"/>
                <a:cs typeface="Avenir"/>
                <a:sym typeface="Avenir"/>
              </a:rPr>
              <a:t>04</a:t>
            </a:r>
            <a:endParaRPr/>
          </a:p>
        </p:txBody>
      </p:sp>
      <p:sp>
        <p:nvSpPr>
          <p:cNvPr id="216" name="Google Shape;216;p8"/>
          <p:cNvSpPr/>
          <p:nvPr/>
        </p:nvSpPr>
        <p:spPr>
          <a:xfrm>
            <a:off x="97345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150"/>
              <a:buFont typeface="Avenir"/>
              <a:buNone/>
            </a:pPr>
            <a:r>
              <a:rPr b="1" lang="en-US" sz="1150">
                <a:solidFill>
                  <a:srgbClr val="10253F"/>
                </a:solidFill>
                <a:latin typeface="Avenir"/>
                <a:ea typeface="Avenir"/>
                <a:cs typeface="Avenir"/>
                <a:sym typeface="Avenir"/>
              </a:rPr>
              <a:t>ANALYSE</a:t>
            </a:r>
            <a:endParaRPr/>
          </a:p>
        </p:txBody>
      </p:sp>
      <p:sp>
        <p:nvSpPr>
          <p:cNvPr id="217" name="Google Shape;217;p8"/>
          <p:cNvSpPr/>
          <p:nvPr/>
        </p:nvSpPr>
        <p:spPr>
          <a:xfrm>
            <a:off x="90678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Compare curves, residuals, k and MAE</a:t>
            </a:r>
            <a:endParaRPr/>
          </a:p>
        </p:txBody>
      </p:sp>
      <p:sp>
        <p:nvSpPr>
          <p:cNvPr id="218" name="Google Shape;218;p8"/>
          <p:cNvSpPr/>
          <p:nvPr/>
        </p:nvSpPr>
        <p:spPr>
          <a:xfrm>
            <a:off x="495300" y="3048000"/>
            <a:ext cx="11049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495300" y="3286125"/>
            <a:ext cx="2857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900"/>
              <a:buFont typeface="Avenir"/>
              <a:buNone/>
            </a:pPr>
            <a:r>
              <a:rPr b="1" lang="en-US" sz="900">
                <a:solidFill>
                  <a:srgbClr val="B66A00"/>
                </a:solidFill>
                <a:latin typeface="Avenir"/>
                <a:ea typeface="Avenir"/>
                <a:cs typeface="Avenir"/>
                <a:sym typeface="Avenir"/>
              </a:rPr>
              <a:t>FAIR-TEST CONTROLS</a:t>
            </a:r>
            <a:endParaRPr/>
          </a:p>
        </p:txBody>
      </p:sp>
      <p:sp>
        <p:nvSpPr>
          <p:cNvPr id="220" name="Google Shape;220;p8"/>
          <p:cNvSpPr/>
          <p:nvPr/>
        </p:nvSpPr>
        <p:spPr>
          <a:xfrm>
            <a:off x="495300" y="36957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723900" y="361950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31"/>
              <a:buFont typeface="Avenir"/>
              <a:buNone/>
            </a:pPr>
            <a:r>
              <a:rPr b="0" lang="en-US" sz="1431">
                <a:solidFill>
                  <a:srgbClr val="29455F"/>
                </a:solidFill>
                <a:latin typeface="Avenir"/>
                <a:ea typeface="Avenir"/>
                <a:cs typeface="Avenir"/>
                <a:sym typeface="Avenir"/>
              </a:rPr>
              <a:t>Same jar geometry, water volume, probe depth and immersion location</a:t>
            </a:r>
            <a:endParaRPr/>
          </a:p>
        </p:txBody>
      </p:sp>
      <p:sp>
        <p:nvSpPr>
          <p:cNvPr id="222" name="Google Shape;222;p8"/>
          <p:cNvSpPr/>
          <p:nvPr/>
        </p:nvSpPr>
        <p:spPr>
          <a:xfrm>
            <a:off x="495300" y="42481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723900" y="417195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13"/>
              <a:buFont typeface="Avenir"/>
              <a:buNone/>
            </a:pPr>
            <a:r>
              <a:rPr b="0" lang="en-US" sz="1414">
                <a:solidFill>
                  <a:srgbClr val="29455F"/>
                </a:solidFill>
                <a:latin typeface="Avenir"/>
                <a:ea typeface="Avenir"/>
                <a:cs typeface="Avenir"/>
                <a:sym typeface="Avenir"/>
              </a:rPr>
              <a:t>Same sampling interval and documented starting-temperature tolerance</a:t>
            </a:r>
            <a:endParaRPr/>
          </a:p>
        </p:txBody>
      </p:sp>
      <p:sp>
        <p:nvSpPr>
          <p:cNvPr id="224" name="Google Shape;224;p8"/>
          <p:cNvSpPr/>
          <p:nvPr/>
        </p:nvSpPr>
        <p:spPr>
          <a:xfrm>
            <a:off x="495300" y="48006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723900" y="472440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04"/>
              <a:buFont typeface="Avenir"/>
              <a:buNone/>
            </a:pPr>
            <a:r>
              <a:rPr b="0" lang="en-US" sz="1404">
                <a:solidFill>
                  <a:srgbClr val="29455F"/>
                </a:solidFill>
                <a:latin typeface="Avenir"/>
                <a:ea typeface="Avenir"/>
                <a:cs typeface="Avenir"/>
                <a:sym typeface="Avenir"/>
              </a:rPr>
              <a:t>Rank unequal starts by temperature drop, normalized retention or fitted k</a:t>
            </a:r>
            <a:endParaRPr/>
          </a:p>
        </p:txBody>
      </p:sp>
      <p:sp>
        <p:nvSpPr>
          <p:cNvPr id="226" name="Google Shape;226;p8"/>
          <p:cNvSpPr/>
          <p:nvPr/>
        </p:nvSpPr>
        <p:spPr>
          <a:xfrm>
            <a:off x="7334250" y="3286125"/>
            <a:ext cx="4191000" cy="2238375"/>
          </a:xfrm>
          <a:prstGeom prst="roundRect">
            <a:avLst>
              <a:gd fmla="val 3404" name="adj"/>
            </a:avLst>
          </a:prstGeom>
          <a:solidFill>
            <a:srgbClr val="E4EEF7"/>
          </a:solidFill>
          <a:ln cap="flat" cmpd="sng" w="9525">
            <a:solidFill>
              <a:srgbClr val="C8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7600950" y="3505200"/>
            <a:ext cx="3429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C83A3A"/>
              </a:buClr>
              <a:buSzPts val="1150"/>
              <a:buFont typeface="Avenir"/>
              <a:buNone/>
            </a:pPr>
            <a:r>
              <a:rPr b="1" lang="en-US" sz="1150">
                <a:solidFill>
                  <a:srgbClr val="C83A3A"/>
                </a:solidFill>
                <a:latin typeface="Avenir"/>
                <a:ea typeface="Avenir"/>
                <a:cs typeface="Avenir"/>
                <a:sym typeface="Avenir"/>
              </a:rPr>
              <a:t>MANDATORY SAFETY</a:t>
            </a:r>
            <a:endParaRPr/>
          </a:p>
        </p:txBody>
      </p:sp>
      <p:sp>
        <p:nvSpPr>
          <p:cNvPr id="228" name="Google Shape;228;p8"/>
          <p:cNvSpPr/>
          <p:nvPr/>
        </p:nvSpPr>
        <p:spPr>
          <a:xfrm>
            <a:off x="7600950" y="3981450"/>
            <a:ext cx="76200" cy="76200"/>
          </a:xfrm>
          <a:prstGeom prst="roundRect">
            <a:avLst>
              <a:gd fmla="val 50000" name="adj"/>
            </a:avLst>
          </a:prstGeom>
          <a:solidFill>
            <a:srgbClr val="C8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7829550" y="3905250"/>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937"/>
              <a:buFont typeface="Avenir"/>
              <a:buNone/>
            </a:pPr>
            <a:r>
              <a:rPr b="0" lang="en-US" sz="937">
                <a:solidFill>
                  <a:srgbClr val="29455F"/>
                </a:solidFill>
                <a:latin typeface="Avenir"/>
                <a:ea typeface="Avenir"/>
                <a:cs typeface="Avenir"/>
                <a:sym typeface="Avenir"/>
              </a:rPr>
              <a:t>Adult handling of water near 80 °C; never use boiling water</a:t>
            </a:r>
            <a:endParaRPr/>
          </a:p>
        </p:txBody>
      </p:sp>
      <p:sp>
        <p:nvSpPr>
          <p:cNvPr id="230" name="Google Shape;230;p8"/>
          <p:cNvSpPr/>
          <p:nvPr/>
        </p:nvSpPr>
        <p:spPr>
          <a:xfrm>
            <a:off x="7600950" y="4391025"/>
            <a:ext cx="76200" cy="76200"/>
          </a:xfrm>
          <a:prstGeom prst="roundRect">
            <a:avLst>
              <a:gd fmla="val 50000" name="adj"/>
            </a:avLst>
          </a:prstGeom>
          <a:solidFill>
            <a:srgbClr val="C8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7829550" y="4314825"/>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137"/>
              <a:buFont typeface="Avenir"/>
              <a:buNone/>
            </a:pPr>
            <a:r>
              <a:rPr b="0" lang="en-US" sz="1137">
                <a:solidFill>
                  <a:srgbClr val="29455F"/>
                </a:solidFill>
                <a:latin typeface="Avenir"/>
                <a:ea typeface="Avenir"/>
                <a:cs typeface="Avenir"/>
                <a:sym typeface="Avenir"/>
              </a:rPr>
              <a:t>Eye protection and heat-resistant gloves or tongs</a:t>
            </a:r>
            <a:endParaRPr/>
          </a:p>
        </p:txBody>
      </p:sp>
      <p:sp>
        <p:nvSpPr>
          <p:cNvPr id="232" name="Google Shape;232;p8"/>
          <p:cNvSpPr/>
          <p:nvPr/>
        </p:nvSpPr>
        <p:spPr>
          <a:xfrm>
            <a:off x="7600950" y="4800600"/>
            <a:ext cx="76200" cy="76200"/>
          </a:xfrm>
          <a:prstGeom prst="roundRect">
            <a:avLst>
              <a:gd fmla="val 50000" name="adj"/>
            </a:avLst>
          </a:prstGeom>
          <a:solidFill>
            <a:srgbClr val="C8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7829550" y="4724400"/>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088"/>
              <a:buFont typeface="Avenir"/>
              <a:buNone/>
            </a:pPr>
            <a:r>
              <a:rPr b="0" lang="en-US" sz="1089">
                <a:solidFill>
                  <a:srgbClr val="29455F"/>
                </a:solidFill>
                <a:latin typeface="Avenir"/>
                <a:ea typeface="Avenir"/>
                <a:cs typeface="Avenir"/>
                <a:sym typeface="Avenir"/>
              </a:rPr>
              <a:t>Stable bath below waist height; electronics stay dry</a:t>
            </a:r>
            <a:endParaRPr/>
          </a:p>
        </p:txBody>
      </p:sp>
      <p:sp>
        <p:nvSpPr>
          <p:cNvPr id="234" name="Google Shape;234;p8"/>
          <p:cNvSpPr/>
          <p:nvPr/>
        </p:nvSpPr>
        <p:spPr>
          <a:xfrm>
            <a:off x="7600950" y="5210175"/>
            <a:ext cx="76200" cy="76200"/>
          </a:xfrm>
          <a:prstGeom prst="roundRect">
            <a:avLst>
              <a:gd fmla="val 50000" name="adj"/>
            </a:avLst>
          </a:prstGeom>
          <a:solidFill>
            <a:srgbClr val="C8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7829550" y="5133975"/>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073"/>
              <a:buFont typeface="Avenir"/>
              <a:buNone/>
            </a:pPr>
            <a:r>
              <a:rPr b="0" lang="en-US" sz="1074">
                <a:solidFill>
                  <a:srgbClr val="29455F"/>
                </a:solidFill>
                <a:latin typeface="Avenir"/>
                <a:ea typeface="Avenir"/>
                <a:cs typeface="Avenir"/>
                <a:sym typeface="Avenir"/>
              </a:rPr>
              <a:t>Stop for leakage, probe movement or wet insulation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40" name="Shape 240"/>
        <p:cNvGrpSpPr/>
        <p:nvPr/>
      </p:nvGrpSpPr>
      <p:grpSpPr>
        <a:xfrm>
          <a:off x="0" y="0"/>
          <a:ext cx="0" cy="0"/>
          <a:chOff x="0" y="0"/>
          <a:chExt cx="0" cy="0"/>
        </a:xfrm>
      </p:grpSpPr>
      <p:sp>
        <p:nvSpPr>
          <p:cNvPr id="241" name="Google Shape;241;p9"/>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242" name="Google Shape;242;p9"/>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Mission Control links prediction with measurement</a:t>
            </a:r>
            <a:endParaRPr/>
          </a:p>
        </p:txBody>
      </p:sp>
      <p:sp>
        <p:nvSpPr>
          <p:cNvPr id="243" name="Google Shape;243;p9"/>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245" name="Google Shape;245;p9"/>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09</a:t>
            </a:r>
            <a:endParaRPr/>
          </a:p>
        </p:txBody>
      </p:sp>
      <p:pic>
        <p:nvPicPr>
          <p:cNvPr id="246" name="Google Shape;246;p9"/>
          <p:cNvPicPr preferRelativeResize="0"/>
          <p:nvPr/>
        </p:nvPicPr>
        <p:blipFill rotWithShape="1">
          <a:blip r:embed="rId3">
            <a:alphaModFix/>
          </a:blip>
          <a:srcRect b="0" l="0" r="0" t="0"/>
          <a:stretch/>
        </p:blipFill>
        <p:spPr>
          <a:xfrm>
            <a:off x="495300" y="1428750"/>
            <a:ext cx="6477000" cy="4048125"/>
          </a:xfrm>
          <a:prstGeom prst="roundRect">
            <a:avLst>
              <a:gd fmla="val 2824" name="adj"/>
            </a:avLst>
          </a:prstGeom>
          <a:noFill/>
          <a:ln>
            <a:noFill/>
          </a:ln>
        </p:spPr>
      </p:pic>
      <p:sp>
        <p:nvSpPr>
          <p:cNvPr id="247" name="Google Shape;247;p9"/>
          <p:cNvSpPr/>
          <p:nvPr/>
        </p:nvSpPr>
        <p:spPr>
          <a:xfrm>
            <a:off x="7429500" y="1495425"/>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524"/>
              <a:buFont typeface="Avenir"/>
              <a:buNone/>
            </a:pPr>
            <a:r>
              <a:rPr b="1" lang="en-US" sz="1525">
                <a:solidFill>
                  <a:srgbClr val="B66A00"/>
                </a:solidFill>
                <a:latin typeface="Avenir"/>
                <a:ea typeface="Avenir"/>
                <a:cs typeface="Avenir"/>
                <a:sym typeface="Avenir"/>
              </a:rPr>
              <a:t>1</a:t>
            </a:r>
            <a:endParaRPr/>
          </a:p>
        </p:txBody>
      </p:sp>
      <p:sp>
        <p:nvSpPr>
          <p:cNvPr id="248" name="Google Shape;248;p9"/>
          <p:cNvSpPr/>
          <p:nvPr/>
        </p:nvSpPr>
        <p:spPr>
          <a:xfrm>
            <a:off x="7924800" y="1495425"/>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274"/>
              <a:buFont typeface="Avenir"/>
              <a:buNone/>
            </a:pPr>
            <a:r>
              <a:rPr b="1" lang="en-US" sz="1275">
                <a:solidFill>
                  <a:srgbClr val="10253F"/>
                </a:solidFill>
                <a:latin typeface="Avenir"/>
                <a:ea typeface="Avenir"/>
                <a:cs typeface="Avenir"/>
                <a:sym typeface="Avenir"/>
              </a:rPr>
              <a:t>Select a configuration</a:t>
            </a:r>
            <a:endParaRPr/>
          </a:p>
        </p:txBody>
      </p:sp>
      <p:sp>
        <p:nvSpPr>
          <p:cNvPr id="249" name="Google Shape;249;p9"/>
          <p:cNvSpPr/>
          <p:nvPr/>
        </p:nvSpPr>
        <p:spPr>
          <a:xfrm>
            <a:off x="7924800" y="1819275"/>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Load its reference k value.</a:t>
            </a:r>
            <a:endParaRPr/>
          </a:p>
        </p:txBody>
      </p:sp>
      <p:sp>
        <p:nvSpPr>
          <p:cNvPr id="250" name="Google Shape;250;p9"/>
          <p:cNvSpPr/>
          <p:nvPr/>
        </p:nvSpPr>
        <p:spPr>
          <a:xfrm>
            <a:off x="7429500" y="2457450"/>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524"/>
              <a:buFont typeface="Avenir"/>
              <a:buNone/>
            </a:pPr>
            <a:r>
              <a:rPr b="1" lang="en-US" sz="1525">
                <a:solidFill>
                  <a:srgbClr val="B66A00"/>
                </a:solidFill>
                <a:latin typeface="Avenir"/>
                <a:ea typeface="Avenir"/>
                <a:cs typeface="Avenir"/>
                <a:sym typeface="Avenir"/>
              </a:rPr>
              <a:t>2</a:t>
            </a:r>
            <a:endParaRPr/>
          </a:p>
        </p:txBody>
      </p:sp>
      <p:sp>
        <p:nvSpPr>
          <p:cNvPr id="251" name="Google Shape;251;p9"/>
          <p:cNvSpPr/>
          <p:nvPr/>
        </p:nvSpPr>
        <p:spPr>
          <a:xfrm>
            <a:off x="7924800" y="2457450"/>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274"/>
              <a:buFont typeface="Avenir"/>
              <a:buNone/>
            </a:pPr>
            <a:r>
              <a:rPr b="1" lang="en-US" sz="1275">
                <a:solidFill>
                  <a:srgbClr val="10253F"/>
                </a:solidFill>
                <a:latin typeface="Avenir"/>
                <a:ea typeface="Avenir"/>
                <a:cs typeface="Avenir"/>
                <a:sym typeface="Avenir"/>
              </a:rPr>
              <a:t>Set the boundary</a:t>
            </a:r>
            <a:endParaRPr/>
          </a:p>
        </p:txBody>
      </p:sp>
      <p:sp>
        <p:nvSpPr>
          <p:cNvPr id="252" name="Google Shape;252;p9"/>
          <p:cNvSpPr/>
          <p:nvPr/>
        </p:nvSpPr>
        <p:spPr>
          <a:xfrm>
            <a:off x="7924800" y="2781300"/>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Enter measured T₀ and Tenv.</a:t>
            </a:r>
            <a:endParaRPr/>
          </a:p>
        </p:txBody>
      </p:sp>
      <p:sp>
        <p:nvSpPr>
          <p:cNvPr id="253" name="Google Shape;253;p9"/>
          <p:cNvSpPr/>
          <p:nvPr/>
        </p:nvSpPr>
        <p:spPr>
          <a:xfrm>
            <a:off x="7429500" y="3419475"/>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524"/>
              <a:buFont typeface="Avenir"/>
              <a:buNone/>
            </a:pPr>
            <a:r>
              <a:rPr b="1" lang="en-US" sz="1525">
                <a:solidFill>
                  <a:srgbClr val="B66A00"/>
                </a:solidFill>
                <a:latin typeface="Avenir"/>
                <a:ea typeface="Avenir"/>
                <a:cs typeface="Avenir"/>
                <a:sym typeface="Avenir"/>
              </a:rPr>
              <a:t>3</a:t>
            </a:r>
            <a:endParaRPr/>
          </a:p>
        </p:txBody>
      </p:sp>
      <p:sp>
        <p:nvSpPr>
          <p:cNvPr id="254" name="Google Shape;254;p9"/>
          <p:cNvSpPr/>
          <p:nvPr/>
        </p:nvSpPr>
        <p:spPr>
          <a:xfrm>
            <a:off x="7924800" y="3419475"/>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274"/>
              <a:buFont typeface="Avenir"/>
              <a:buNone/>
            </a:pPr>
            <a:r>
              <a:rPr b="1" lang="en-US" sz="1275">
                <a:solidFill>
                  <a:srgbClr val="10253F"/>
                </a:solidFill>
                <a:latin typeface="Avenir"/>
                <a:ea typeface="Avenir"/>
                <a:cs typeface="Avenir"/>
                <a:sym typeface="Avenir"/>
              </a:rPr>
              <a:t>Generate the prediction</a:t>
            </a:r>
            <a:endParaRPr/>
          </a:p>
        </p:txBody>
      </p:sp>
      <p:sp>
        <p:nvSpPr>
          <p:cNvPr id="255" name="Google Shape;255;p9"/>
          <p:cNvSpPr/>
          <p:nvPr/>
        </p:nvSpPr>
        <p:spPr>
          <a:xfrm>
            <a:off x="7924800" y="3743325"/>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Create a 0–15 minute cooling curve.</a:t>
            </a:r>
            <a:endParaRPr/>
          </a:p>
        </p:txBody>
      </p:sp>
      <p:sp>
        <p:nvSpPr>
          <p:cNvPr id="256" name="Google Shape;256;p9"/>
          <p:cNvSpPr/>
          <p:nvPr/>
        </p:nvSpPr>
        <p:spPr>
          <a:xfrm>
            <a:off x="7429500" y="4381500"/>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524"/>
              <a:buFont typeface="Avenir"/>
              <a:buNone/>
            </a:pPr>
            <a:r>
              <a:rPr b="1" lang="en-US" sz="1525">
                <a:solidFill>
                  <a:srgbClr val="B66A00"/>
                </a:solidFill>
                <a:latin typeface="Avenir"/>
                <a:ea typeface="Avenir"/>
                <a:cs typeface="Avenir"/>
                <a:sym typeface="Avenir"/>
              </a:rPr>
              <a:t>4</a:t>
            </a:r>
            <a:endParaRPr/>
          </a:p>
        </p:txBody>
      </p:sp>
      <p:sp>
        <p:nvSpPr>
          <p:cNvPr id="257" name="Google Shape;257;p9"/>
          <p:cNvSpPr/>
          <p:nvPr/>
        </p:nvSpPr>
        <p:spPr>
          <a:xfrm>
            <a:off x="7924800" y="4381500"/>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274"/>
              <a:buFont typeface="Avenir"/>
              <a:buNone/>
            </a:pPr>
            <a:r>
              <a:rPr b="1" lang="en-US" sz="1275">
                <a:solidFill>
                  <a:srgbClr val="10253F"/>
                </a:solidFill>
                <a:latin typeface="Avenir"/>
                <a:ea typeface="Avenir"/>
                <a:cs typeface="Avenir"/>
                <a:sym typeface="Avenir"/>
              </a:rPr>
              <a:t>Enter observations</a:t>
            </a:r>
            <a:endParaRPr/>
          </a:p>
        </p:txBody>
      </p:sp>
      <p:sp>
        <p:nvSpPr>
          <p:cNvPr id="258" name="Google Shape;258;p9"/>
          <p:cNvSpPr/>
          <p:nvPr/>
        </p:nvSpPr>
        <p:spPr>
          <a:xfrm>
            <a:off x="7924800" y="4705350"/>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Overlay telemetry and calculate MAE.</a:t>
            </a:r>
            <a:endParaRPr/>
          </a:p>
        </p:txBody>
      </p:sp>
      <p:sp>
        <p:nvSpPr>
          <p:cNvPr id="259" name="Google Shape;259;p9"/>
          <p:cNvSpPr/>
          <p:nvPr/>
        </p:nvSpPr>
        <p:spPr>
          <a:xfrm>
            <a:off x="7429500" y="5553075"/>
            <a:ext cx="38100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450"/>
              <a:buFont typeface="Avenir"/>
              <a:buNone/>
            </a:pPr>
            <a:r>
              <a:rPr b="1" lang="en-US" sz="1450">
                <a:solidFill>
                  <a:srgbClr val="167A9D"/>
                </a:solidFill>
                <a:latin typeface="Avenir"/>
                <a:ea typeface="Avenir"/>
                <a:cs typeface="Avenir"/>
                <a:sym typeface="Avenir"/>
              </a:rPr>
              <a:t>Manual entry keeps the student involved in the act of measurement.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64" name="Shape 264"/>
        <p:cNvGrpSpPr/>
        <p:nvPr/>
      </p:nvGrpSpPr>
      <p:grpSpPr>
        <a:xfrm>
          <a:off x="0" y="0"/>
          <a:ext cx="0" cy="0"/>
          <a:chOff x="0" y="0"/>
          <a:chExt cx="0" cy="0"/>
        </a:xfrm>
      </p:grpSpPr>
      <p:sp>
        <p:nvSpPr>
          <p:cNvPr id="265" name="Google Shape;265;p10"/>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266" name="Google Shape;266;p10"/>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Live demonstration: prediction to evaluation</a:t>
            </a:r>
            <a:endParaRPr/>
          </a:p>
        </p:txBody>
      </p:sp>
      <p:sp>
        <p:nvSpPr>
          <p:cNvPr id="267" name="Google Shape;267;p10"/>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269" name="Google Shape;269;p10"/>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10</a:t>
            </a:r>
            <a:endParaRPr/>
          </a:p>
        </p:txBody>
      </p:sp>
      <p:pic>
        <p:nvPicPr>
          <p:cNvPr id="270" name="Google Shape;270;p10"/>
          <p:cNvPicPr preferRelativeResize="0"/>
          <p:nvPr/>
        </p:nvPicPr>
        <p:blipFill rotWithShape="1">
          <a:blip r:embed="rId3">
            <a:alphaModFix/>
          </a:blip>
          <a:srcRect b="0" l="446" r="446" t="0"/>
          <a:stretch/>
        </p:blipFill>
        <p:spPr>
          <a:xfrm>
            <a:off x="495300" y="1428750"/>
            <a:ext cx="5286375" cy="3333750"/>
          </a:xfrm>
          <a:prstGeom prst="roundRect">
            <a:avLst>
              <a:gd fmla="val 3429" name="adj"/>
            </a:avLst>
          </a:prstGeom>
          <a:noFill/>
          <a:ln>
            <a:noFill/>
          </a:ln>
        </p:spPr>
      </p:pic>
      <p:pic>
        <p:nvPicPr>
          <p:cNvPr id="271" name="Google Shape;271;p10"/>
          <p:cNvPicPr preferRelativeResize="0"/>
          <p:nvPr/>
        </p:nvPicPr>
        <p:blipFill rotWithShape="1">
          <a:blip r:embed="rId4">
            <a:alphaModFix/>
          </a:blip>
          <a:srcRect b="3020" l="0" r="0" t="3020"/>
          <a:stretch/>
        </p:blipFill>
        <p:spPr>
          <a:xfrm>
            <a:off x="6019800" y="1428750"/>
            <a:ext cx="5676900" cy="3333750"/>
          </a:xfrm>
          <a:prstGeom prst="roundRect">
            <a:avLst>
              <a:gd fmla="val 3429" name="adj"/>
            </a:avLst>
          </a:prstGeom>
          <a:noFill/>
          <a:ln>
            <a:noFill/>
          </a:ln>
        </p:spPr>
      </p:pic>
      <p:sp>
        <p:nvSpPr>
          <p:cNvPr id="272" name="Google Shape;272;p10"/>
          <p:cNvSpPr/>
          <p:nvPr/>
        </p:nvSpPr>
        <p:spPr>
          <a:xfrm>
            <a:off x="5905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399"/>
              <a:buFont typeface="Avenir"/>
              <a:buNone/>
            </a:pPr>
            <a:r>
              <a:rPr b="1" lang="en-US" sz="1400">
                <a:solidFill>
                  <a:srgbClr val="B66A00"/>
                </a:solidFill>
                <a:latin typeface="Avenir"/>
                <a:ea typeface="Avenir"/>
                <a:cs typeface="Avenir"/>
                <a:sym typeface="Avenir"/>
              </a:rPr>
              <a:t>1</a:t>
            </a:r>
            <a:endParaRPr/>
          </a:p>
        </p:txBody>
      </p:sp>
      <p:sp>
        <p:nvSpPr>
          <p:cNvPr id="273" name="Google Shape;273;p10"/>
          <p:cNvSpPr/>
          <p:nvPr/>
        </p:nvSpPr>
        <p:spPr>
          <a:xfrm>
            <a:off x="9620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Choose Full MLI and confirm k = 0.015 min⁻¹</a:t>
            </a:r>
            <a:endParaRPr/>
          </a:p>
        </p:txBody>
      </p:sp>
      <p:sp>
        <p:nvSpPr>
          <p:cNvPr id="274" name="Google Shape;274;p10"/>
          <p:cNvSpPr/>
          <p:nvPr/>
        </p:nvSpPr>
        <p:spPr>
          <a:xfrm>
            <a:off x="33718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399"/>
              <a:buFont typeface="Avenir"/>
              <a:buNone/>
            </a:pPr>
            <a:r>
              <a:rPr b="1" lang="en-US" sz="1400">
                <a:solidFill>
                  <a:srgbClr val="B66A00"/>
                </a:solidFill>
                <a:latin typeface="Avenir"/>
                <a:ea typeface="Avenir"/>
                <a:cs typeface="Avenir"/>
                <a:sym typeface="Avenir"/>
              </a:rPr>
              <a:t>2</a:t>
            </a:r>
            <a:endParaRPr/>
          </a:p>
        </p:txBody>
      </p:sp>
      <p:sp>
        <p:nvSpPr>
          <p:cNvPr id="275" name="Google Shape;275;p10"/>
          <p:cNvSpPr/>
          <p:nvPr/>
        </p:nvSpPr>
        <p:spPr>
          <a:xfrm>
            <a:off x="37433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Run the 80 °C / 0 °C / 15 min prediction</a:t>
            </a:r>
            <a:endParaRPr/>
          </a:p>
        </p:txBody>
      </p:sp>
      <p:sp>
        <p:nvSpPr>
          <p:cNvPr id="276" name="Google Shape;276;p10"/>
          <p:cNvSpPr/>
          <p:nvPr/>
        </p:nvSpPr>
        <p:spPr>
          <a:xfrm>
            <a:off x="61531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399"/>
              <a:buFont typeface="Avenir"/>
              <a:buNone/>
            </a:pPr>
            <a:r>
              <a:rPr b="1" lang="en-US" sz="1400">
                <a:solidFill>
                  <a:srgbClr val="B66A00"/>
                </a:solidFill>
                <a:latin typeface="Avenir"/>
                <a:ea typeface="Avenir"/>
                <a:cs typeface="Avenir"/>
                <a:sym typeface="Avenir"/>
              </a:rPr>
              <a:t>3</a:t>
            </a:r>
            <a:endParaRPr/>
          </a:p>
        </p:txBody>
      </p:sp>
      <p:sp>
        <p:nvSpPr>
          <p:cNvPr id="277" name="Google Shape;277;p10"/>
          <p:cNvSpPr/>
          <p:nvPr/>
        </p:nvSpPr>
        <p:spPr>
          <a:xfrm>
            <a:off x="65246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Open Measurements and show the worked telemetry overlay</a:t>
            </a:r>
            <a:endParaRPr/>
          </a:p>
        </p:txBody>
      </p:sp>
      <p:sp>
        <p:nvSpPr>
          <p:cNvPr id="278" name="Google Shape;278;p10"/>
          <p:cNvSpPr/>
          <p:nvPr/>
        </p:nvSpPr>
        <p:spPr>
          <a:xfrm>
            <a:off x="89344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399"/>
              <a:buFont typeface="Avenir"/>
              <a:buNone/>
            </a:pPr>
            <a:r>
              <a:rPr b="1" lang="en-US" sz="1400">
                <a:solidFill>
                  <a:srgbClr val="B66A00"/>
                </a:solidFill>
                <a:latin typeface="Avenir"/>
                <a:ea typeface="Avenir"/>
                <a:cs typeface="Avenir"/>
                <a:sym typeface="Avenir"/>
              </a:rPr>
              <a:t>4</a:t>
            </a:r>
            <a:endParaRPr/>
          </a:p>
        </p:txBody>
      </p:sp>
      <p:sp>
        <p:nvSpPr>
          <p:cNvPr id="279" name="Google Shape;279;p10"/>
          <p:cNvSpPr/>
          <p:nvPr/>
        </p:nvSpPr>
        <p:spPr>
          <a:xfrm>
            <a:off x="93059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Read the 0.98 °C MAE and discuss one residual</a:t>
            </a:r>
            <a:endParaRPr/>
          </a:p>
        </p:txBody>
      </p:sp>
      <p:sp>
        <p:nvSpPr>
          <p:cNvPr id="280" name="Google Shape;280;p10"/>
          <p:cNvSpPr/>
          <p:nvPr/>
        </p:nvSpPr>
        <p:spPr>
          <a:xfrm>
            <a:off x="495300" y="6010275"/>
            <a:ext cx="109537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274"/>
              <a:buFont typeface="Avenir"/>
              <a:buNone/>
            </a:pPr>
            <a:r>
              <a:rPr b="1" lang="en-US" sz="1275">
                <a:solidFill>
                  <a:srgbClr val="167A9D"/>
                </a:solidFill>
                <a:latin typeface="Avenir"/>
                <a:ea typeface="Avenir"/>
                <a:cs typeface="Avenir"/>
                <a:sym typeface="Avenir"/>
              </a:rPr>
              <a:t>If the browser or CDN assets fail, present these two verified screenshots and continue.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85" name="Shape 285"/>
        <p:cNvGrpSpPr/>
        <p:nvPr/>
      </p:nvGrpSpPr>
      <p:grpSpPr>
        <a:xfrm>
          <a:off x="0" y="0"/>
          <a:ext cx="0" cy="0"/>
          <a:chOff x="0" y="0"/>
          <a:chExt cx="0" cy="0"/>
        </a:xfrm>
      </p:grpSpPr>
      <p:sp>
        <p:nvSpPr>
          <p:cNvPr id="286" name="Google Shape;286;p11"/>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287" name="Google Shape;287;p11"/>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Reference model separates the four expected cooling rates</a:t>
            </a:r>
            <a:endParaRPr/>
          </a:p>
        </p:txBody>
      </p:sp>
      <p:sp>
        <p:nvSpPr>
          <p:cNvPr id="288" name="Google Shape;288;p11"/>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290" name="Google Shape;290;p11"/>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11</a:t>
            </a:r>
            <a:endParaRPr/>
          </a:p>
        </p:txBody>
      </p:sp>
      <p:graphicFrame>
        <p:nvGraphicFramePr>
          <p:cNvPr id="291" name="Google Shape;291;p11"/>
          <p:cNvGraphicFramePr/>
          <p:nvPr/>
        </p:nvGraphicFramePr>
        <p:xfrm>
          <a:off x="495300" y="1381125"/>
          <a:ext cx="7810500" cy="4476750"/>
        </p:xfrm>
        <a:graphic>
          <a:graphicData uri="http://schemas.openxmlformats.org/drawingml/2006/chart">
            <c:chart r:id="rId3"/>
          </a:graphicData>
        </a:graphic>
      </p:graphicFrame>
      <p:sp>
        <p:nvSpPr>
          <p:cNvPr id="292" name="Google Shape;292;p11"/>
          <p:cNvSpPr/>
          <p:nvPr/>
        </p:nvSpPr>
        <p:spPr>
          <a:xfrm>
            <a:off x="8715375" y="1476375"/>
            <a:ext cx="2667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MODEL T₁₅</a:t>
            </a:r>
            <a:endParaRPr/>
          </a:p>
        </p:txBody>
      </p:sp>
      <p:sp>
        <p:nvSpPr>
          <p:cNvPr id="293" name="Google Shape;293;p11"/>
          <p:cNvSpPr/>
          <p:nvPr/>
        </p:nvSpPr>
        <p:spPr>
          <a:xfrm>
            <a:off x="8715375" y="1857375"/>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C83A3A"/>
              </a:buClr>
              <a:buSzPts val="1025"/>
              <a:buFont typeface="Avenir"/>
              <a:buNone/>
            </a:pPr>
            <a:r>
              <a:rPr b="1" lang="en-US" sz="1025">
                <a:solidFill>
                  <a:srgbClr val="C83A3A"/>
                </a:solidFill>
                <a:latin typeface="Avenir"/>
                <a:ea typeface="Avenir"/>
                <a:cs typeface="Avenir"/>
                <a:sym typeface="Avenir"/>
              </a:rPr>
              <a:t>Bare</a:t>
            </a:r>
            <a:endParaRPr/>
          </a:p>
        </p:txBody>
      </p:sp>
      <p:sp>
        <p:nvSpPr>
          <p:cNvPr id="294" name="Google Shape;294;p11"/>
          <p:cNvSpPr/>
          <p:nvPr/>
        </p:nvSpPr>
        <p:spPr>
          <a:xfrm>
            <a:off x="10287000" y="1828800"/>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400"/>
              <a:buFont typeface="Avenir"/>
              <a:buNone/>
            </a:pPr>
            <a:r>
              <a:rPr b="1" lang="en-US" sz="1400">
                <a:solidFill>
                  <a:srgbClr val="10253F"/>
                </a:solidFill>
                <a:latin typeface="Avenir"/>
                <a:ea typeface="Avenir"/>
                <a:cs typeface="Avenir"/>
                <a:sym typeface="Avenir"/>
              </a:rPr>
              <a:t>8.4 °C</a:t>
            </a:r>
            <a:endParaRPr/>
          </a:p>
        </p:txBody>
      </p:sp>
      <p:sp>
        <p:nvSpPr>
          <p:cNvPr id="295" name="Google Shape;295;p11"/>
          <p:cNvSpPr/>
          <p:nvPr/>
        </p:nvSpPr>
        <p:spPr>
          <a:xfrm>
            <a:off x="8715375" y="2247900"/>
            <a:ext cx="2667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8715375" y="268605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5"/>
              <a:buFont typeface="Avenir"/>
              <a:buNone/>
            </a:pPr>
            <a:r>
              <a:rPr b="1" lang="en-US" sz="1025">
                <a:solidFill>
                  <a:srgbClr val="007FA8"/>
                </a:solidFill>
                <a:latin typeface="Avenir"/>
                <a:ea typeface="Avenir"/>
                <a:cs typeface="Avenir"/>
                <a:sym typeface="Avenir"/>
              </a:rPr>
              <a:t>Bubble</a:t>
            </a:r>
            <a:endParaRPr/>
          </a:p>
        </p:txBody>
      </p:sp>
      <p:sp>
        <p:nvSpPr>
          <p:cNvPr id="297" name="Google Shape;297;p11"/>
          <p:cNvSpPr/>
          <p:nvPr/>
        </p:nvSpPr>
        <p:spPr>
          <a:xfrm>
            <a:off x="10287000" y="2657475"/>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400"/>
              <a:buFont typeface="Avenir"/>
              <a:buNone/>
            </a:pPr>
            <a:r>
              <a:rPr b="1" lang="en-US" sz="1400">
                <a:solidFill>
                  <a:srgbClr val="10253F"/>
                </a:solidFill>
                <a:latin typeface="Avenir"/>
                <a:ea typeface="Avenir"/>
                <a:cs typeface="Avenir"/>
                <a:sym typeface="Avenir"/>
              </a:rPr>
              <a:t>43.9 °C</a:t>
            </a:r>
            <a:endParaRPr/>
          </a:p>
        </p:txBody>
      </p:sp>
      <p:sp>
        <p:nvSpPr>
          <p:cNvPr id="298" name="Google Shape;298;p11"/>
          <p:cNvSpPr/>
          <p:nvPr/>
        </p:nvSpPr>
        <p:spPr>
          <a:xfrm>
            <a:off x="8715375" y="3076575"/>
            <a:ext cx="2667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8715375" y="3514725"/>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025"/>
              <a:buFont typeface="Avenir"/>
              <a:buNone/>
            </a:pPr>
            <a:r>
              <a:rPr b="1" lang="en-US" sz="1025">
                <a:solidFill>
                  <a:srgbClr val="B66A00"/>
                </a:solidFill>
                <a:latin typeface="Avenir"/>
                <a:ea typeface="Avenir"/>
                <a:cs typeface="Avenir"/>
                <a:sym typeface="Avenir"/>
              </a:rPr>
              <a:t>Mylar</a:t>
            </a:r>
            <a:endParaRPr/>
          </a:p>
        </p:txBody>
      </p:sp>
      <p:sp>
        <p:nvSpPr>
          <p:cNvPr id="300" name="Google Shape;300;p11"/>
          <p:cNvSpPr/>
          <p:nvPr/>
        </p:nvSpPr>
        <p:spPr>
          <a:xfrm>
            <a:off x="10287000" y="3486150"/>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400"/>
              <a:buFont typeface="Avenir"/>
              <a:buNone/>
            </a:pPr>
            <a:r>
              <a:rPr b="1" lang="en-US" sz="1400">
                <a:solidFill>
                  <a:srgbClr val="10253F"/>
                </a:solidFill>
                <a:latin typeface="Avenir"/>
                <a:ea typeface="Avenir"/>
                <a:cs typeface="Avenir"/>
                <a:sym typeface="Avenir"/>
              </a:rPr>
              <a:t>13.0 °C</a:t>
            </a:r>
            <a:endParaRPr/>
          </a:p>
        </p:txBody>
      </p:sp>
      <p:sp>
        <p:nvSpPr>
          <p:cNvPr id="301" name="Google Shape;301;p11"/>
          <p:cNvSpPr/>
          <p:nvPr/>
        </p:nvSpPr>
        <p:spPr>
          <a:xfrm>
            <a:off x="8715375" y="3905250"/>
            <a:ext cx="2667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8715375" y="434340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025"/>
              <a:buFont typeface="Avenir"/>
              <a:buNone/>
            </a:pPr>
            <a:r>
              <a:rPr b="1" lang="en-US" sz="1025">
                <a:solidFill>
                  <a:srgbClr val="0B8B61"/>
                </a:solidFill>
                <a:latin typeface="Avenir"/>
                <a:ea typeface="Avenir"/>
                <a:cs typeface="Avenir"/>
                <a:sym typeface="Avenir"/>
              </a:rPr>
              <a:t>Full MLI</a:t>
            </a:r>
            <a:endParaRPr/>
          </a:p>
        </p:txBody>
      </p:sp>
      <p:sp>
        <p:nvSpPr>
          <p:cNvPr id="303" name="Google Shape;303;p11"/>
          <p:cNvSpPr/>
          <p:nvPr/>
        </p:nvSpPr>
        <p:spPr>
          <a:xfrm>
            <a:off x="10287000" y="4314825"/>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400"/>
              <a:buFont typeface="Avenir"/>
              <a:buNone/>
            </a:pPr>
            <a:r>
              <a:rPr b="1" lang="en-US" sz="1400">
                <a:solidFill>
                  <a:srgbClr val="10253F"/>
                </a:solidFill>
                <a:latin typeface="Avenir"/>
                <a:ea typeface="Avenir"/>
                <a:cs typeface="Avenir"/>
                <a:sym typeface="Avenir"/>
              </a:rPr>
              <a:t>63.9 °C</a:t>
            </a:r>
            <a:endParaRPr/>
          </a:p>
        </p:txBody>
      </p:sp>
      <p:sp>
        <p:nvSpPr>
          <p:cNvPr id="304" name="Google Shape;304;p11"/>
          <p:cNvSpPr/>
          <p:nvPr/>
        </p:nvSpPr>
        <p:spPr>
          <a:xfrm>
            <a:off x="8715375" y="4733925"/>
            <a:ext cx="2667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8715375" y="5286375"/>
            <a:ext cx="26670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Assumptions: T₀ = 80 °C and Tenv = 0 °C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10" name="Shape 310"/>
        <p:cNvGrpSpPr/>
        <p:nvPr/>
      </p:nvGrpSpPr>
      <p:grpSpPr>
        <a:xfrm>
          <a:off x="0" y="0"/>
          <a:ext cx="0" cy="0"/>
          <a:chOff x="0" y="0"/>
          <a:chExt cx="0" cy="0"/>
        </a:xfrm>
      </p:grpSpPr>
      <p:sp>
        <p:nvSpPr>
          <p:cNvPr id="311" name="Google Shape;311;p12"/>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312" name="Google Shape;312;p12"/>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684"/>
              <a:buFont typeface="Avenir"/>
              <a:buNone/>
            </a:pPr>
            <a:r>
              <a:rPr b="1" lang="en-US" sz="2685">
                <a:solidFill>
                  <a:srgbClr val="10253F"/>
                </a:solidFill>
                <a:latin typeface="Avenir"/>
                <a:ea typeface="Avenir"/>
                <a:cs typeface="Avenir"/>
                <a:sym typeface="Avenir"/>
              </a:rPr>
              <a:t>The worked example shows the full MLI retaining the most heat</a:t>
            </a:r>
            <a:endParaRPr/>
          </a:p>
        </p:txBody>
      </p:sp>
      <p:sp>
        <p:nvSpPr>
          <p:cNvPr id="313" name="Google Shape;313;p12"/>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315" name="Google Shape;315;p12"/>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12</a:t>
            </a:r>
            <a:endParaRPr/>
          </a:p>
        </p:txBody>
      </p:sp>
      <p:graphicFrame>
        <p:nvGraphicFramePr>
          <p:cNvPr id="316" name="Google Shape;316;p12"/>
          <p:cNvGraphicFramePr/>
          <p:nvPr/>
        </p:nvGraphicFramePr>
        <p:xfrm>
          <a:off x="495300" y="1381125"/>
          <a:ext cx="7524750" cy="4524375"/>
        </p:xfrm>
        <a:graphic>
          <a:graphicData uri="http://schemas.openxmlformats.org/drawingml/2006/chart">
            <c:chart r:id="rId3"/>
          </a:graphicData>
        </a:graphic>
      </p:graphicFrame>
      <p:sp>
        <p:nvSpPr>
          <p:cNvPr id="317" name="Google Shape;317;p12"/>
          <p:cNvSpPr/>
          <p:nvPr/>
        </p:nvSpPr>
        <p:spPr>
          <a:xfrm>
            <a:off x="8429625" y="15430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024"/>
              <a:buFont typeface="Avenir"/>
              <a:buNone/>
            </a:pPr>
            <a:r>
              <a:rPr b="1" lang="en-US" sz="1025">
                <a:solidFill>
                  <a:srgbClr val="0B8B61"/>
                </a:solidFill>
                <a:latin typeface="Avenir"/>
                <a:ea typeface="Avenir"/>
                <a:cs typeface="Avenir"/>
                <a:sym typeface="Avenir"/>
              </a:rPr>
              <a:t>Full MLI</a:t>
            </a:r>
            <a:endParaRPr/>
          </a:p>
        </p:txBody>
      </p:sp>
      <p:sp>
        <p:nvSpPr>
          <p:cNvPr id="318" name="Google Shape;318;p12"/>
          <p:cNvSpPr/>
          <p:nvPr/>
        </p:nvSpPr>
        <p:spPr>
          <a:xfrm>
            <a:off x="9715500" y="15430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5"/>
              <a:buFont typeface="Avenir"/>
              <a:buNone/>
            </a:pPr>
            <a:r>
              <a:rPr b="1" lang="en-US" sz="1025">
                <a:solidFill>
                  <a:srgbClr val="10253F"/>
                </a:solidFill>
                <a:latin typeface="Avenir"/>
                <a:ea typeface="Avenir"/>
                <a:cs typeface="Avenir"/>
                <a:sym typeface="Avenir"/>
              </a:rPr>
              <a:t>14.9 °C drop</a:t>
            </a:r>
            <a:endParaRPr/>
          </a:p>
        </p:txBody>
      </p:sp>
      <p:sp>
        <p:nvSpPr>
          <p:cNvPr id="319" name="Google Shape;319;p12"/>
          <p:cNvSpPr/>
          <p:nvPr/>
        </p:nvSpPr>
        <p:spPr>
          <a:xfrm>
            <a:off x="8429625" y="18764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900"/>
              <a:buFont typeface="Avenir"/>
              <a:buNone/>
            </a:pPr>
            <a:r>
              <a:rPr b="0" lang="en-US" sz="900">
                <a:solidFill>
                  <a:srgbClr val="61758A"/>
                </a:solidFill>
                <a:latin typeface="Avenir"/>
                <a:ea typeface="Avenir"/>
                <a:cs typeface="Avenir"/>
                <a:sym typeface="Avenir"/>
              </a:rPr>
              <a:t>74.1% retained</a:t>
            </a:r>
            <a:endParaRPr/>
          </a:p>
        </p:txBody>
      </p:sp>
      <p:sp>
        <p:nvSpPr>
          <p:cNvPr id="320" name="Google Shape;320;p12"/>
          <p:cNvSpPr/>
          <p:nvPr/>
        </p:nvSpPr>
        <p:spPr>
          <a:xfrm>
            <a:off x="8429625" y="2209800"/>
            <a:ext cx="3095625"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8429625" y="24193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4"/>
              <a:buFont typeface="Avenir"/>
              <a:buNone/>
            </a:pPr>
            <a:r>
              <a:rPr b="1" lang="en-US" sz="1025">
                <a:solidFill>
                  <a:srgbClr val="007FA8"/>
                </a:solidFill>
                <a:latin typeface="Avenir"/>
                <a:ea typeface="Avenir"/>
                <a:cs typeface="Avenir"/>
                <a:sym typeface="Avenir"/>
              </a:rPr>
              <a:t>Bubble</a:t>
            </a:r>
            <a:endParaRPr/>
          </a:p>
        </p:txBody>
      </p:sp>
      <p:sp>
        <p:nvSpPr>
          <p:cNvPr id="322" name="Google Shape;322;p12"/>
          <p:cNvSpPr/>
          <p:nvPr/>
        </p:nvSpPr>
        <p:spPr>
          <a:xfrm>
            <a:off x="9715500" y="24193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5"/>
              <a:buFont typeface="Avenir"/>
              <a:buNone/>
            </a:pPr>
            <a:r>
              <a:rPr b="1" lang="en-US" sz="1025">
                <a:solidFill>
                  <a:srgbClr val="10253F"/>
                </a:solidFill>
                <a:latin typeface="Avenir"/>
                <a:ea typeface="Avenir"/>
                <a:cs typeface="Avenir"/>
                <a:sym typeface="Avenir"/>
              </a:rPr>
              <a:t>30.0 °C drop</a:t>
            </a:r>
            <a:endParaRPr/>
          </a:p>
        </p:txBody>
      </p:sp>
      <p:sp>
        <p:nvSpPr>
          <p:cNvPr id="323" name="Google Shape;323;p12"/>
          <p:cNvSpPr/>
          <p:nvPr/>
        </p:nvSpPr>
        <p:spPr>
          <a:xfrm>
            <a:off x="8429625" y="27527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900"/>
              <a:buFont typeface="Avenir"/>
              <a:buNone/>
            </a:pPr>
            <a:r>
              <a:rPr b="0" lang="en-US" sz="900">
                <a:solidFill>
                  <a:srgbClr val="61758A"/>
                </a:solidFill>
                <a:latin typeface="Avenir"/>
                <a:ea typeface="Avenir"/>
                <a:cs typeface="Avenir"/>
                <a:sym typeface="Avenir"/>
              </a:rPr>
              <a:t>52.1% retained</a:t>
            </a:r>
            <a:endParaRPr/>
          </a:p>
        </p:txBody>
      </p:sp>
      <p:sp>
        <p:nvSpPr>
          <p:cNvPr id="324" name="Google Shape;324;p12"/>
          <p:cNvSpPr/>
          <p:nvPr/>
        </p:nvSpPr>
        <p:spPr>
          <a:xfrm>
            <a:off x="8429625" y="3086100"/>
            <a:ext cx="3095625"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p:nvPr/>
        </p:nvSpPr>
        <p:spPr>
          <a:xfrm>
            <a:off x="8429625" y="32956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4"/>
              <a:buFont typeface="Avenir"/>
              <a:buNone/>
            </a:pPr>
            <a:r>
              <a:rPr b="1" lang="en-US" sz="1025">
                <a:solidFill>
                  <a:srgbClr val="10253F"/>
                </a:solidFill>
                <a:latin typeface="Avenir"/>
                <a:ea typeface="Avenir"/>
                <a:cs typeface="Avenir"/>
                <a:sym typeface="Avenir"/>
              </a:rPr>
              <a:t>Bare</a:t>
            </a:r>
            <a:endParaRPr/>
          </a:p>
        </p:txBody>
      </p:sp>
      <p:sp>
        <p:nvSpPr>
          <p:cNvPr id="326" name="Google Shape;326;p12"/>
          <p:cNvSpPr/>
          <p:nvPr/>
        </p:nvSpPr>
        <p:spPr>
          <a:xfrm>
            <a:off x="9715500" y="32956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5"/>
              <a:buFont typeface="Avenir"/>
              <a:buNone/>
            </a:pPr>
            <a:r>
              <a:rPr b="1" lang="en-US" sz="1025">
                <a:solidFill>
                  <a:srgbClr val="10253F"/>
                </a:solidFill>
                <a:latin typeface="Avenir"/>
                <a:ea typeface="Avenir"/>
                <a:cs typeface="Avenir"/>
                <a:sym typeface="Avenir"/>
              </a:rPr>
              <a:t>44.9 °C drop</a:t>
            </a:r>
            <a:endParaRPr/>
          </a:p>
        </p:txBody>
      </p:sp>
      <p:sp>
        <p:nvSpPr>
          <p:cNvPr id="327" name="Google Shape;327;p12"/>
          <p:cNvSpPr/>
          <p:nvPr/>
        </p:nvSpPr>
        <p:spPr>
          <a:xfrm>
            <a:off x="8429625" y="36290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900"/>
              <a:buFont typeface="Avenir"/>
              <a:buNone/>
            </a:pPr>
            <a:r>
              <a:rPr b="0" lang="en-US" sz="900">
                <a:solidFill>
                  <a:srgbClr val="61758A"/>
                </a:solidFill>
                <a:latin typeface="Avenir"/>
                <a:ea typeface="Avenir"/>
                <a:cs typeface="Avenir"/>
                <a:sym typeface="Avenir"/>
              </a:rPr>
              <a:t>25.3% retained</a:t>
            </a:r>
            <a:endParaRPr/>
          </a:p>
        </p:txBody>
      </p:sp>
      <p:sp>
        <p:nvSpPr>
          <p:cNvPr id="328" name="Google Shape;328;p12"/>
          <p:cNvSpPr/>
          <p:nvPr/>
        </p:nvSpPr>
        <p:spPr>
          <a:xfrm>
            <a:off x="8429625" y="3962400"/>
            <a:ext cx="3095625"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8429625" y="41719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024"/>
              <a:buFont typeface="Avenir"/>
              <a:buNone/>
            </a:pPr>
            <a:r>
              <a:rPr b="1" lang="en-US" sz="1025">
                <a:solidFill>
                  <a:srgbClr val="B66A00"/>
                </a:solidFill>
                <a:latin typeface="Avenir"/>
                <a:ea typeface="Avenir"/>
                <a:cs typeface="Avenir"/>
                <a:sym typeface="Avenir"/>
              </a:rPr>
              <a:t>Mylar</a:t>
            </a:r>
            <a:endParaRPr/>
          </a:p>
        </p:txBody>
      </p:sp>
      <p:sp>
        <p:nvSpPr>
          <p:cNvPr id="330" name="Google Shape;330;p12"/>
          <p:cNvSpPr/>
          <p:nvPr/>
        </p:nvSpPr>
        <p:spPr>
          <a:xfrm>
            <a:off x="9715500" y="41719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5"/>
              <a:buFont typeface="Avenir"/>
              <a:buNone/>
            </a:pPr>
            <a:r>
              <a:rPr b="1" lang="en-US" sz="1025">
                <a:solidFill>
                  <a:srgbClr val="10253F"/>
                </a:solidFill>
                <a:latin typeface="Avenir"/>
                <a:ea typeface="Avenir"/>
                <a:cs typeface="Avenir"/>
                <a:sym typeface="Avenir"/>
              </a:rPr>
              <a:t>47.2 °C drop</a:t>
            </a:r>
            <a:endParaRPr/>
          </a:p>
        </p:txBody>
      </p:sp>
      <p:sp>
        <p:nvSpPr>
          <p:cNvPr id="331" name="Google Shape;331;p12"/>
          <p:cNvSpPr/>
          <p:nvPr/>
        </p:nvSpPr>
        <p:spPr>
          <a:xfrm>
            <a:off x="8429625" y="45053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900"/>
              <a:buFont typeface="Avenir"/>
              <a:buNone/>
            </a:pPr>
            <a:r>
              <a:rPr b="0" lang="en-US" sz="900">
                <a:solidFill>
                  <a:srgbClr val="61758A"/>
                </a:solidFill>
                <a:latin typeface="Avenir"/>
                <a:ea typeface="Avenir"/>
                <a:cs typeface="Avenir"/>
                <a:sym typeface="Avenir"/>
              </a:rPr>
              <a:t>22.0% retained</a:t>
            </a:r>
            <a:endParaRPr/>
          </a:p>
        </p:txBody>
      </p:sp>
      <p:sp>
        <p:nvSpPr>
          <p:cNvPr id="332" name="Google Shape;332;p12"/>
          <p:cNvSpPr/>
          <p:nvPr/>
        </p:nvSpPr>
        <p:spPr>
          <a:xfrm>
            <a:off x="8429625" y="4838700"/>
            <a:ext cx="3095625"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2"/>
          <p:cNvSpPr/>
          <p:nvPr/>
        </p:nvSpPr>
        <p:spPr>
          <a:xfrm>
            <a:off x="8429625" y="5191125"/>
            <a:ext cx="3095625" cy="685800"/>
          </a:xfrm>
          <a:prstGeom prst="roundRect">
            <a:avLst>
              <a:gd fmla="val 11111" name="adj"/>
            </a:avLst>
          </a:prstGeom>
          <a:solidFill>
            <a:srgbClr val="E4EE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8620125" y="5334000"/>
            <a:ext cx="2714625"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977"/>
              <a:buFont typeface="Avenir"/>
              <a:buNone/>
            </a:pPr>
            <a:r>
              <a:rPr b="1" lang="en-US" sz="978">
                <a:solidFill>
                  <a:srgbClr val="B66A00"/>
                </a:solidFill>
                <a:latin typeface="Avenir"/>
                <a:ea typeface="Avenir"/>
                <a:cs typeface="Avenir"/>
                <a:sym typeface="Avenir"/>
              </a:rPr>
              <a:t>Worked example only. Repeated measurements are required for validation.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39" name="Shape 339"/>
        <p:cNvGrpSpPr/>
        <p:nvPr/>
      </p:nvGrpSpPr>
      <p:grpSpPr>
        <a:xfrm>
          <a:off x="0" y="0"/>
          <a:ext cx="0" cy="0"/>
          <a:chOff x="0" y="0"/>
          <a:chExt cx="0" cy="0"/>
        </a:xfrm>
      </p:grpSpPr>
      <p:sp>
        <p:nvSpPr>
          <p:cNvPr id="340" name="Google Shape;340;p13"/>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341" name="Google Shape;341;p13"/>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Boundary conditions explain the weak Mylar-only result</a:t>
            </a:r>
            <a:endParaRPr/>
          </a:p>
        </p:txBody>
      </p:sp>
      <p:sp>
        <p:nvSpPr>
          <p:cNvPr id="342" name="Google Shape;342;p13"/>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344" name="Google Shape;344;p13"/>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13</a:t>
            </a:r>
            <a:endParaRPr/>
          </a:p>
        </p:txBody>
      </p:sp>
      <p:pic>
        <p:nvPicPr>
          <p:cNvPr id="345" name="Google Shape;345;p13"/>
          <p:cNvPicPr preferRelativeResize="0"/>
          <p:nvPr/>
        </p:nvPicPr>
        <p:blipFill rotWithShape="1">
          <a:blip r:embed="rId3">
            <a:alphaModFix/>
          </a:blip>
          <a:srcRect b="0" l="0" r="0" t="0"/>
          <a:stretch/>
        </p:blipFill>
        <p:spPr>
          <a:xfrm>
            <a:off x="876300" y="1428750"/>
            <a:ext cx="2857500" cy="3810000"/>
          </a:xfrm>
          <a:prstGeom prst="roundRect">
            <a:avLst>
              <a:gd fmla="val 3158" name="adj"/>
            </a:avLst>
          </a:prstGeom>
          <a:noFill/>
          <a:ln>
            <a:noFill/>
          </a:ln>
        </p:spPr>
      </p:pic>
      <p:sp>
        <p:nvSpPr>
          <p:cNvPr id="346" name="Google Shape;346;p13"/>
          <p:cNvSpPr/>
          <p:nvPr/>
        </p:nvSpPr>
        <p:spPr>
          <a:xfrm>
            <a:off x="4619625" y="1466850"/>
            <a:ext cx="314325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774"/>
              <a:buFont typeface="Avenir"/>
              <a:buNone/>
            </a:pPr>
            <a:r>
              <a:rPr b="1" lang="en-US" sz="775">
                <a:solidFill>
                  <a:srgbClr val="0B8B61"/>
                </a:solidFill>
                <a:latin typeface="Avenir"/>
                <a:ea typeface="Avenir"/>
                <a:cs typeface="Avenir"/>
                <a:sym typeface="Avenir"/>
              </a:rPr>
              <a:t>WHAT THE DATA SUPPORT</a:t>
            </a:r>
            <a:endParaRPr/>
          </a:p>
        </p:txBody>
      </p:sp>
      <p:sp>
        <p:nvSpPr>
          <p:cNvPr id="347" name="Google Shape;347;p13"/>
          <p:cNvSpPr/>
          <p:nvPr/>
        </p:nvSpPr>
        <p:spPr>
          <a:xfrm>
            <a:off x="4619625" y="1885950"/>
            <a:ext cx="76200" cy="76200"/>
          </a:xfrm>
          <a:prstGeom prst="roundRect">
            <a:avLst>
              <a:gd fmla="val 50000" name="adj"/>
            </a:avLst>
          </a:prstGeom>
          <a:solidFill>
            <a:srgbClr val="0B8B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4848225" y="18097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The layered package produced the smallest measured temperature drop.</a:t>
            </a:r>
            <a:endParaRPr/>
          </a:p>
        </p:txBody>
      </p:sp>
      <p:sp>
        <p:nvSpPr>
          <p:cNvPr id="349" name="Google Shape;349;p13"/>
          <p:cNvSpPr/>
          <p:nvPr/>
        </p:nvSpPr>
        <p:spPr>
          <a:xfrm>
            <a:off x="4619625" y="2495550"/>
            <a:ext cx="76200" cy="76200"/>
          </a:xfrm>
          <a:prstGeom prst="roundRect">
            <a:avLst>
              <a:gd fmla="val 50000" name="adj"/>
            </a:avLst>
          </a:prstGeom>
          <a:solidFill>
            <a:srgbClr val="0B8B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4848225" y="24193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Bubble wrap provided useful resistance through intact air cells.</a:t>
            </a:r>
            <a:endParaRPr/>
          </a:p>
        </p:txBody>
      </p:sp>
      <p:sp>
        <p:nvSpPr>
          <p:cNvPr id="351" name="Google Shape;351;p13"/>
          <p:cNvSpPr/>
          <p:nvPr/>
        </p:nvSpPr>
        <p:spPr>
          <a:xfrm>
            <a:off x="4619625" y="3105150"/>
            <a:ext cx="76200" cy="76200"/>
          </a:xfrm>
          <a:prstGeom prst="roundRect">
            <a:avLst>
              <a:gd fmla="val 50000" name="adj"/>
            </a:avLst>
          </a:prstGeom>
          <a:solidFill>
            <a:srgbClr val="0B8B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4848225" y="30289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The observed Mylar curve strongly disagreed with its reference model.</a:t>
            </a:r>
            <a:endParaRPr/>
          </a:p>
        </p:txBody>
      </p:sp>
      <p:sp>
        <p:nvSpPr>
          <p:cNvPr id="353" name="Google Shape;353;p13"/>
          <p:cNvSpPr/>
          <p:nvPr/>
        </p:nvSpPr>
        <p:spPr>
          <a:xfrm>
            <a:off x="4619625" y="3714750"/>
            <a:ext cx="314325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WHY MYLAR CAN FAIL HERE</a:t>
            </a:r>
            <a:endParaRPr/>
          </a:p>
        </p:txBody>
      </p:sp>
      <p:sp>
        <p:nvSpPr>
          <p:cNvPr id="354" name="Google Shape;354;p13"/>
          <p:cNvSpPr/>
          <p:nvPr/>
        </p:nvSpPr>
        <p:spPr>
          <a:xfrm>
            <a:off x="4619625" y="4105275"/>
            <a:ext cx="76200" cy="76200"/>
          </a:xfrm>
          <a:prstGeom prst="roundRect">
            <a:avLst>
              <a:gd fmla="val 50000" name="adj"/>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3"/>
          <p:cNvSpPr/>
          <p:nvPr/>
        </p:nvSpPr>
        <p:spPr>
          <a:xfrm>
            <a:off x="4848225" y="402907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09"/>
              <a:buFont typeface="Avenir"/>
              <a:buNone/>
            </a:pPr>
            <a:r>
              <a:rPr b="0" lang="en-US" sz="1409">
                <a:solidFill>
                  <a:srgbClr val="29455F"/>
                </a:solidFill>
                <a:latin typeface="Avenir"/>
                <a:ea typeface="Avenir"/>
                <a:cs typeface="Avenir"/>
                <a:sym typeface="Avenir"/>
              </a:rPr>
              <a:t>Reflective foil targets infrared exchange, which matters strongly in vacuum.</a:t>
            </a:r>
            <a:endParaRPr/>
          </a:p>
        </p:txBody>
      </p:sp>
      <p:sp>
        <p:nvSpPr>
          <p:cNvPr id="356" name="Google Shape;356;p13"/>
          <p:cNvSpPr/>
          <p:nvPr/>
        </p:nvSpPr>
        <p:spPr>
          <a:xfrm>
            <a:off x="4619625" y="4619625"/>
            <a:ext cx="76200" cy="76200"/>
          </a:xfrm>
          <a:prstGeom prst="roundRect">
            <a:avLst>
              <a:gd fmla="val 50000" name="adj"/>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4848225" y="454342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3"/>
              <a:buFont typeface="Avenir"/>
              <a:buNone/>
            </a:pPr>
            <a:r>
              <a:rPr b="0" lang="en-US" sz="1423">
                <a:solidFill>
                  <a:srgbClr val="29455F"/>
                </a:solidFill>
                <a:latin typeface="Avenir"/>
                <a:ea typeface="Avenir"/>
                <a:cs typeface="Avenir"/>
                <a:sym typeface="Avenir"/>
              </a:rPr>
              <a:t>Direct liquid contact and leakage can dominate the classroom water bath.</a:t>
            </a:r>
            <a:endParaRPr/>
          </a:p>
        </p:txBody>
      </p:sp>
      <p:sp>
        <p:nvSpPr>
          <p:cNvPr id="358" name="Google Shape;358;p13"/>
          <p:cNvSpPr/>
          <p:nvPr/>
        </p:nvSpPr>
        <p:spPr>
          <a:xfrm>
            <a:off x="4619625" y="5133975"/>
            <a:ext cx="76200" cy="76200"/>
          </a:xfrm>
          <a:prstGeom prst="roundRect">
            <a:avLst>
              <a:gd fmla="val 50000" name="adj"/>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p:nvPr/>
        </p:nvSpPr>
        <p:spPr>
          <a:xfrm>
            <a:off x="4848225" y="505777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61"/>
              <a:buFont typeface="Avenir"/>
              <a:buNone/>
            </a:pPr>
            <a:r>
              <a:rPr b="0" lang="en-US" sz="1462">
                <a:solidFill>
                  <a:srgbClr val="29455F"/>
                </a:solidFill>
                <a:latin typeface="Avenir"/>
                <a:ea typeface="Avenir"/>
                <a:cs typeface="Avenir"/>
                <a:sym typeface="Avenir"/>
              </a:rPr>
              <a:t>One weak run does not prove reflective insulation is ineffective in space.</a:t>
            </a:r>
            <a:endParaRPr/>
          </a:p>
        </p:txBody>
      </p:sp>
      <p:sp>
        <p:nvSpPr>
          <p:cNvPr id="360" name="Google Shape;360;p13"/>
          <p:cNvSpPr/>
          <p:nvPr/>
        </p:nvSpPr>
        <p:spPr>
          <a:xfrm>
            <a:off x="495300" y="5829300"/>
            <a:ext cx="106680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275"/>
              <a:buFont typeface="Avenir"/>
              <a:buNone/>
            </a:pPr>
            <a:r>
              <a:rPr b="0" i="1" lang="en-US" sz="1275">
                <a:solidFill>
                  <a:srgbClr val="167A9D"/>
                </a:solidFill>
                <a:latin typeface="Avenir"/>
                <a:ea typeface="Avenir"/>
                <a:cs typeface="Avenir"/>
                <a:sym typeface="Avenir"/>
              </a:rPr>
              <a:t>Main uncertainties: probe position, neck seal, thermal stratification, bath warming, immersion depth and layer compression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65" name="Shape 365"/>
        <p:cNvGrpSpPr/>
        <p:nvPr/>
      </p:nvGrpSpPr>
      <p:grpSpPr>
        <a:xfrm>
          <a:off x="0" y="0"/>
          <a:ext cx="0" cy="0"/>
          <a:chOff x="0" y="0"/>
          <a:chExt cx="0" cy="0"/>
        </a:xfrm>
      </p:grpSpPr>
      <p:sp>
        <p:nvSpPr>
          <p:cNvPr id="366" name="Google Shape;366;p14"/>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367" name="Google Shape;367;p14"/>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760"/>
              <a:buFont typeface="Avenir"/>
              <a:buNone/>
            </a:pPr>
            <a:r>
              <a:rPr b="1" lang="en-US" sz="2760">
                <a:solidFill>
                  <a:srgbClr val="10253F"/>
                </a:solidFill>
                <a:latin typeface="Avenir"/>
                <a:ea typeface="Avenir"/>
                <a:cs typeface="Avenir"/>
                <a:sym typeface="Avenir"/>
              </a:rPr>
              <a:t>SPHERE delivers a complete theory-to-evidence learning loop</a:t>
            </a:r>
            <a:endParaRPr/>
          </a:p>
        </p:txBody>
      </p:sp>
      <p:sp>
        <p:nvSpPr>
          <p:cNvPr id="368" name="Google Shape;368;p14"/>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370" name="Google Shape;370;p14"/>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14</a:t>
            </a:r>
            <a:endParaRPr/>
          </a:p>
        </p:txBody>
      </p:sp>
      <p:pic>
        <p:nvPicPr>
          <p:cNvPr id="371" name="Google Shape;371;p14"/>
          <p:cNvPicPr preferRelativeResize="0"/>
          <p:nvPr/>
        </p:nvPicPr>
        <p:blipFill rotWithShape="1">
          <a:blip r:embed="rId3">
            <a:alphaModFix/>
          </a:blip>
          <a:srcRect b="366" l="0" r="0" t="366"/>
          <a:stretch/>
        </p:blipFill>
        <p:spPr>
          <a:xfrm>
            <a:off x="495300" y="1409700"/>
            <a:ext cx="5762625" cy="3219450"/>
          </a:xfrm>
          <a:prstGeom prst="roundRect">
            <a:avLst>
              <a:gd fmla="val 3550" name="adj"/>
            </a:avLst>
          </a:prstGeom>
          <a:noFill/>
          <a:ln>
            <a:noFill/>
          </a:ln>
        </p:spPr>
      </p:pic>
      <p:sp>
        <p:nvSpPr>
          <p:cNvPr id="372" name="Google Shape;372;p14"/>
          <p:cNvSpPr/>
          <p:nvPr/>
        </p:nvSpPr>
        <p:spPr>
          <a:xfrm>
            <a:off x="6667500" y="1466850"/>
            <a:ext cx="28575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PROJECT OUTCOME</a:t>
            </a:r>
            <a:endParaRPr/>
          </a:p>
        </p:txBody>
      </p:sp>
      <p:sp>
        <p:nvSpPr>
          <p:cNvPr id="373" name="Google Shape;373;p14"/>
          <p:cNvSpPr/>
          <p:nvPr/>
        </p:nvSpPr>
        <p:spPr>
          <a:xfrm>
            <a:off x="6667500" y="1809750"/>
            <a:ext cx="45720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933"/>
              <a:buFont typeface="Avenir"/>
              <a:buNone/>
            </a:pPr>
            <a:r>
              <a:rPr b="1" lang="en-US" sz="1934">
                <a:solidFill>
                  <a:srgbClr val="10253F"/>
                </a:solidFill>
                <a:latin typeface="Avenir"/>
                <a:ea typeface="Avenir"/>
                <a:cs typeface="Avenir"/>
                <a:sym typeface="Avenir"/>
              </a:rPr>
              <a:t>Students predict, build, measure and critique the same thermal system.</a:t>
            </a:r>
            <a:endParaRPr/>
          </a:p>
        </p:txBody>
      </p:sp>
      <p:sp>
        <p:nvSpPr>
          <p:cNvPr id="374" name="Google Shape;374;p14"/>
          <p:cNvSpPr/>
          <p:nvPr/>
        </p:nvSpPr>
        <p:spPr>
          <a:xfrm>
            <a:off x="6667500" y="29337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6896100" y="2857500"/>
            <a:ext cx="43434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Aligned website, manuals, SOP, worksheet and assessment</a:t>
            </a:r>
            <a:endParaRPr/>
          </a:p>
        </p:txBody>
      </p:sp>
      <p:sp>
        <p:nvSpPr>
          <p:cNvPr id="376" name="Google Shape;376;p14"/>
          <p:cNvSpPr/>
          <p:nvPr/>
        </p:nvSpPr>
        <p:spPr>
          <a:xfrm>
            <a:off x="6667500" y="35052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6896100" y="3429000"/>
            <a:ext cx="43434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Reusable apparatus with no native software installation</a:t>
            </a:r>
            <a:endParaRPr/>
          </a:p>
        </p:txBody>
      </p:sp>
      <p:sp>
        <p:nvSpPr>
          <p:cNvPr id="378" name="Google Shape;378;p14"/>
          <p:cNvSpPr/>
          <p:nvPr/>
        </p:nvSpPr>
        <p:spPr>
          <a:xfrm>
            <a:off x="6667500" y="40767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6896100" y="4000500"/>
            <a:ext cx="43434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Clear separation between teaching models and measured evidence</a:t>
            </a:r>
            <a:endParaRPr/>
          </a:p>
        </p:txBody>
      </p:sp>
      <p:sp>
        <p:nvSpPr>
          <p:cNvPr id="380" name="Google Shape;380;p14"/>
          <p:cNvSpPr/>
          <p:nvPr/>
        </p:nvSpPr>
        <p:spPr>
          <a:xfrm>
            <a:off x="495300" y="4953000"/>
            <a:ext cx="11049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p:nvPr/>
        </p:nvSpPr>
        <p:spPr>
          <a:xfrm>
            <a:off x="495300" y="5181600"/>
            <a:ext cx="1524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774"/>
              <a:buFont typeface="Avenir"/>
              <a:buNone/>
            </a:pPr>
            <a:r>
              <a:rPr b="1" lang="en-US" sz="775">
                <a:solidFill>
                  <a:srgbClr val="007FA8"/>
                </a:solidFill>
                <a:latin typeface="Avenir"/>
                <a:ea typeface="Avenir"/>
                <a:cs typeface="Avenir"/>
                <a:sym typeface="Avenir"/>
              </a:rPr>
              <a:t>CONTRIBUTIONS</a:t>
            </a:r>
            <a:endParaRPr/>
          </a:p>
        </p:txBody>
      </p:sp>
      <p:sp>
        <p:nvSpPr>
          <p:cNvPr id="382" name="Google Shape;382;p14"/>
          <p:cNvSpPr/>
          <p:nvPr/>
        </p:nvSpPr>
        <p:spPr>
          <a:xfrm>
            <a:off x="495300" y="5505450"/>
            <a:ext cx="22860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900"/>
              <a:buFont typeface="Avenir"/>
              <a:buNone/>
            </a:pPr>
            <a:r>
              <a:rPr b="1" lang="en-US" sz="900">
                <a:solidFill>
                  <a:srgbClr val="10253F"/>
                </a:solidFill>
                <a:latin typeface="Avenir"/>
                <a:ea typeface="Avenir"/>
                <a:cs typeface="Avenir"/>
                <a:sym typeface="Avenir"/>
              </a:rPr>
              <a:t>Piyath Vithanage</a:t>
            </a:r>
            <a:endParaRPr/>
          </a:p>
        </p:txBody>
      </p:sp>
      <p:sp>
        <p:nvSpPr>
          <p:cNvPr id="383" name="Google Shape;383;p14"/>
          <p:cNvSpPr/>
          <p:nvPr/>
        </p:nvSpPr>
        <p:spPr>
          <a:xfrm>
            <a:off x="495300" y="5791200"/>
            <a:ext cx="4857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87"/>
              <a:buFont typeface="Avenir"/>
              <a:buNone/>
            </a:pPr>
            <a:r>
              <a:rPr b="0" lang="en-US" sz="1187">
                <a:solidFill>
                  <a:srgbClr val="61758A"/>
                </a:solidFill>
                <a:latin typeface="Avenir"/>
                <a:ea typeface="Avenir"/>
                <a:cs typeface="Avenir"/>
                <a:sym typeface="Avenir"/>
              </a:rPr>
              <a:t>Website, integration, model and telemetry graphs, data visualisation</a:t>
            </a:r>
            <a:endParaRPr/>
          </a:p>
        </p:txBody>
      </p:sp>
      <p:sp>
        <p:nvSpPr>
          <p:cNvPr id="384" name="Google Shape;384;p14"/>
          <p:cNvSpPr/>
          <p:nvPr/>
        </p:nvSpPr>
        <p:spPr>
          <a:xfrm>
            <a:off x="5810250" y="5505450"/>
            <a:ext cx="2095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900"/>
              <a:buFont typeface="Avenir"/>
              <a:buNone/>
            </a:pPr>
            <a:r>
              <a:rPr b="1" lang="en-US" sz="900">
                <a:solidFill>
                  <a:srgbClr val="10253F"/>
                </a:solidFill>
                <a:latin typeface="Avenir"/>
                <a:ea typeface="Avenir"/>
                <a:cs typeface="Avenir"/>
                <a:sym typeface="Avenir"/>
              </a:rPr>
              <a:t>Dilan Fernando</a:t>
            </a:r>
            <a:endParaRPr/>
          </a:p>
        </p:txBody>
      </p:sp>
      <p:sp>
        <p:nvSpPr>
          <p:cNvPr id="385" name="Google Shape;385;p14"/>
          <p:cNvSpPr/>
          <p:nvPr/>
        </p:nvSpPr>
        <p:spPr>
          <a:xfrm>
            <a:off x="5810250" y="5791200"/>
            <a:ext cx="5143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086"/>
              <a:buFont typeface="Avenir"/>
              <a:buNone/>
            </a:pPr>
            <a:r>
              <a:rPr b="0" lang="en-US" sz="1087">
                <a:solidFill>
                  <a:srgbClr val="61758A"/>
                </a:solidFill>
                <a:latin typeface="Avenir"/>
                <a:ea typeface="Avenir"/>
                <a:cs typeface="Avenir"/>
                <a:sym typeface="Avenir"/>
              </a:rPr>
              <a:t>Thermodynamics, experiment, analysis, documentation and project integration</a:t>
            </a:r>
            <a:endParaRPr/>
          </a:p>
        </p:txBody>
      </p:sp>
      <p:sp>
        <p:nvSpPr>
          <p:cNvPr id="386" name="Google Shape;386;p14"/>
          <p:cNvSpPr/>
          <p:nvPr/>
        </p:nvSpPr>
        <p:spPr>
          <a:xfrm>
            <a:off x="495300" y="6238875"/>
            <a:ext cx="10572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050"/>
              <a:buFont typeface="Avenir"/>
              <a:buNone/>
            </a:pPr>
            <a:r>
              <a:rPr b="0" lang="en-US" sz="1050">
                <a:solidFill>
                  <a:srgbClr val="61758A"/>
                </a:solidFill>
                <a:latin typeface="Avenir"/>
                <a:ea typeface="Avenir"/>
                <a:cs typeface="Avenir"/>
                <a:sym typeface="Avenir"/>
              </a:rPr>
              <a:t>Elio Krollpfeiffer and Nuhansee Migelhewage remain listed as project team members in the current repository and learning materials.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91" name="Shape 391"/>
        <p:cNvGrpSpPr/>
        <p:nvPr/>
      </p:nvGrpSpPr>
      <p:grpSpPr>
        <a:xfrm>
          <a:off x="0" y="0"/>
          <a:ext cx="0" cy="0"/>
          <a:chOff x="0" y="0"/>
          <a:chExt cx="0" cy="0"/>
        </a:xfrm>
      </p:grpSpPr>
      <p:sp>
        <p:nvSpPr>
          <p:cNvPr id="392" name="Google Shape;392;p15"/>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393" name="Google Shape;393;p15"/>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complete apparatus list</a:t>
            </a:r>
            <a:endParaRPr/>
          </a:p>
        </p:txBody>
      </p:sp>
      <p:sp>
        <p:nvSpPr>
          <p:cNvPr id="394" name="Google Shape;394;p15"/>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5"/>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396" name="Google Shape;396;p15"/>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15</a:t>
            </a:r>
            <a:endParaRPr/>
          </a:p>
        </p:txBody>
      </p:sp>
      <p:graphicFrame>
        <p:nvGraphicFramePr>
          <p:cNvPr id="397" name="Google Shape;397;p15"/>
          <p:cNvGraphicFramePr/>
          <p:nvPr/>
        </p:nvGraphicFramePr>
        <p:xfrm>
          <a:off x="495300" y="1381125"/>
          <a:ext cx="3000000" cy="3000000"/>
        </p:xfrm>
        <a:graphic>
          <a:graphicData uri="http://schemas.openxmlformats.org/drawingml/2006/table">
            <a:tbl>
              <a:tblPr>
                <a:noFill/>
                <a:tableStyleId>{65F42712-D0EC-4517-BA7C-B1604880E71E}</a:tableStyleId>
              </a:tblPr>
              <a:tblGrid>
                <a:gridCol w="1428750"/>
                <a:gridCol w="3714750"/>
                <a:gridCol w="6057900"/>
              </a:tblGrid>
              <a:tr h="502700">
                <a:tc>
                  <a:txBody>
                    <a:bodyPr/>
                    <a:lstStyle/>
                    <a:p>
                      <a:pPr indent="0" lvl="0" marL="0" marR="0" rtl="0" algn="l">
                        <a:spcBef>
                          <a:spcPts val="0"/>
                        </a:spcBef>
                        <a:spcAft>
                          <a:spcPts val="0"/>
                        </a:spcAft>
                        <a:buClr>
                          <a:srgbClr val="10253F"/>
                        </a:buClr>
                        <a:buSzPts val="1350"/>
                        <a:buFont typeface="Avenir"/>
                        <a:buNone/>
                      </a:pPr>
                      <a:r>
                        <a:rPr b="1" lang="en-US" sz="1350" u="none" cap="none" strike="noStrike">
                          <a:solidFill>
                            <a:srgbClr val="10253F"/>
                          </a:solidFill>
                          <a:latin typeface="Avenir"/>
                          <a:ea typeface="Avenir"/>
                          <a:cs typeface="Avenir"/>
                          <a:sym typeface="Avenir"/>
                        </a:rPr>
                        <a:t>Quantity</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350"/>
                        <a:buFont typeface="Avenir"/>
                        <a:buNone/>
                      </a:pPr>
                      <a:r>
                        <a:rPr b="1" lang="en-US" sz="1350">
                          <a:solidFill>
                            <a:srgbClr val="10253F"/>
                          </a:solidFill>
                          <a:latin typeface="Avenir"/>
                          <a:ea typeface="Avenir"/>
                          <a:cs typeface="Avenir"/>
                          <a:sym typeface="Avenir"/>
                        </a:rPr>
                        <a:t>Item</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350"/>
                        <a:buFont typeface="Avenir"/>
                        <a:buNone/>
                      </a:pPr>
                      <a:r>
                        <a:rPr b="1" lang="en-US" sz="1350">
                          <a:solidFill>
                            <a:srgbClr val="10253F"/>
                          </a:solidFill>
                          <a:latin typeface="Avenir"/>
                          <a:ea typeface="Avenir"/>
                          <a:cs typeface="Avenir"/>
                          <a:sym typeface="Avenir"/>
                        </a:rPr>
                        <a:t>Function</a:t>
                      </a:r>
                      <a:endParaRPr/>
                    </a:p>
                  </a:txBody>
                  <a:tcPr marT="47625" marB="47625" marR="76200" marL="76200" anchor="ctr">
                    <a:solidFill>
                      <a:srgbClr val="DCEAF5"/>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4</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100 mL glass thermal cores</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Comparable test vessels</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4 + 1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Digital probe thermometers</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Core and bath measurements</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Bucket or deep container</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Cold bath and secondary containment</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 set</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Cotton, bubble wrap and Mylar</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Four insulation configurations</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As needed</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Tape or elastic bands</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Repeatable assembly without compression</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 set</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Gloves or tongs, towels and timer</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Safe handling, cleanup and timing</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Adult-controlled hot-water source</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Prepare water near 80 °C</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Per student</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Task sheet or laboratory report</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Hypothesis, raw data and evaluation</a:t>
                      </a:r>
                      <a:endParaRPr/>
                    </a:p>
                  </a:txBody>
                  <a:tcPr marT="47625" marB="47625" marR="76200" marL="76200" anchor="ctr">
                    <a:solidFill>
                      <a:srgbClr val="E8F1F8"/>
                    </a:solidFill>
                  </a:tcPr>
                </a:tc>
              </a:tr>
            </a:tbl>
          </a:graphicData>
        </a:graphic>
      </p:graphicFrame>
      <p:sp>
        <p:nvSpPr>
          <p:cNvPr id="398" name="Google Shape;398;p15"/>
          <p:cNvSpPr/>
          <p:nvPr/>
        </p:nvSpPr>
        <p:spPr>
          <a:xfrm>
            <a:off x="495300" y="6096000"/>
            <a:ext cx="112014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00"/>
              <a:buFont typeface="Avenir"/>
              <a:buNone/>
            </a:pPr>
            <a:r>
              <a:rPr b="0" i="1" lang="en-US" sz="1200">
                <a:solidFill>
                  <a:srgbClr val="B66A00"/>
                </a:solidFill>
                <a:latin typeface="Avenir"/>
                <a:ea typeface="Avenir"/>
                <a:cs typeface="Avenir"/>
                <a:sym typeface="Avenir"/>
              </a:rPr>
              <a:t>Exact cost depends on local sourcing. The older €35.20 estimate remains an unverified draft procurement figure.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03" name="Shape 403"/>
        <p:cNvGrpSpPr/>
        <p:nvPr/>
      </p:nvGrpSpPr>
      <p:grpSpPr>
        <a:xfrm>
          <a:off x="0" y="0"/>
          <a:ext cx="0" cy="0"/>
          <a:chOff x="0" y="0"/>
          <a:chExt cx="0" cy="0"/>
        </a:xfrm>
      </p:grpSpPr>
      <p:sp>
        <p:nvSpPr>
          <p:cNvPr id="404" name="Google Shape;404;p16"/>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405" name="Google Shape;405;p16"/>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12-step operating procedure</a:t>
            </a:r>
            <a:endParaRPr/>
          </a:p>
        </p:txBody>
      </p:sp>
      <p:sp>
        <p:nvSpPr>
          <p:cNvPr id="406" name="Google Shape;406;p16"/>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408" name="Google Shape;408;p16"/>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16</a:t>
            </a:r>
            <a:endParaRPr/>
          </a:p>
        </p:txBody>
      </p:sp>
      <p:sp>
        <p:nvSpPr>
          <p:cNvPr id="409" name="Google Shape;409;p16"/>
          <p:cNvSpPr/>
          <p:nvPr/>
        </p:nvSpPr>
        <p:spPr>
          <a:xfrm>
            <a:off x="495300" y="13811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01</a:t>
            </a:r>
            <a:endParaRPr/>
          </a:p>
        </p:txBody>
      </p:sp>
      <p:sp>
        <p:nvSpPr>
          <p:cNvPr id="410" name="Google Shape;410;p16"/>
          <p:cNvSpPr/>
          <p:nvPr/>
        </p:nvSpPr>
        <p:spPr>
          <a:xfrm>
            <a:off x="1047750" y="13811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Prepare a stable, dry work area.</a:t>
            </a:r>
            <a:endParaRPr/>
          </a:p>
        </p:txBody>
      </p:sp>
      <p:sp>
        <p:nvSpPr>
          <p:cNvPr id="411" name="Google Shape;411;p16"/>
          <p:cNvSpPr/>
          <p:nvPr/>
        </p:nvSpPr>
        <p:spPr>
          <a:xfrm>
            <a:off x="495300" y="19716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6"/>
          <p:cNvSpPr/>
          <p:nvPr/>
        </p:nvSpPr>
        <p:spPr>
          <a:xfrm>
            <a:off x="495300" y="21621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02</a:t>
            </a:r>
            <a:endParaRPr/>
          </a:p>
        </p:txBody>
      </p:sp>
      <p:sp>
        <p:nvSpPr>
          <p:cNvPr id="413" name="Google Shape;413;p16"/>
          <p:cNvSpPr/>
          <p:nvPr/>
        </p:nvSpPr>
        <p:spPr>
          <a:xfrm>
            <a:off x="1047750" y="21621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Measure and record the bath temperature.</a:t>
            </a:r>
            <a:endParaRPr/>
          </a:p>
        </p:txBody>
      </p:sp>
      <p:sp>
        <p:nvSpPr>
          <p:cNvPr id="414" name="Google Shape;414;p16"/>
          <p:cNvSpPr/>
          <p:nvPr/>
        </p:nvSpPr>
        <p:spPr>
          <a:xfrm>
            <a:off x="495300" y="27527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p:nvPr/>
        </p:nvSpPr>
        <p:spPr>
          <a:xfrm>
            <a:off x="495300" y="29432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03</a:t>
            </a:r>
            <a:endParaRPr/>
          </a:p>
        </p:txBody>
      </p:sp>
      <p:sp>
        <p:nvSpPr>
          <p:cNvPr id="416" name="Google Shape;416;p16"/>
          <p:cNvSpPr/>
          <p:nvPr/>
        </p:nvSpPr>
        <p:spPr>
          <a:xfrm>
            <a:off x="1047750" y="29432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Label the four test conditions.</a:t>
            </a:r>
            <a:endParaRPr/>
          </a:p>
        </p:txBody>
      </p:sp>
      <p:sp>
        <p:nvSpPr>
          <p:cNvPr id="417" name="Google Shape;417;p16"/>
          <p:cNvSpPr/>
          <p:nvPr/>
        </p:nvSpPr>
        <p:spPr>
          <a:xfrm>
            <a:off x="495300" y="35337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a:off x="495300" y="37242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04</a:t>
            </a:r>
            <a:endParaRPr/>
          </a:p>
        </p:txBody>
      </p:sp>
      <p:sp>
        <p:nvSpPr>
          <p:cNvPr id="419" name="Google Shape;419;p16"/>
          <p:cNvSpPr/>
          <p:nvPr/>
        </p:nvSpPr>
        <p:spPr>
          <a:xfrm>
            <a:off x="1047750" y="37242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Build each package without compressing its layers.</a:t>
            </a:r>
            <a:endParaRPr/>
          </a:p>
        </p:txBody>
      </p:sp>
      <p:sp>
        <p:nvSpPr>
          <p:cNvPr id="420" name="Google Shape;420;p16"/>
          <p:cNvSpPr/>
          <p:nvPr/>
        </p:nvSpPr>
        <p:spPr>
          <a:xfrm>
            <a:off x="495300" y="43148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a:off x="495300" y="45053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74"/>
              <a:buFont typeface="Avenir"/>
              <a:buNone/>
            </a:pPr>
            <a:r>
              <a:rPr b="1" lang="en-US" sz="1275">
                <a:solidFill>
                  <a:srgbClr val="B66A00"/>
                </a:solidFill>
                <a:latin typeface="Avenir"/>
                <a:ea typeface="Avenir"/>
                <a:cs typeface="Avenir"/>
                <a:sym typeface="Avenir"/>
              </a:rPr>
              <a:t>05</a:t>
            </a:r>
            <a:endParaRPr/>
          </a:p>
        </p:txBody>
      </p:sp>
      <p:sp>
        <p:nvSpPr>
          <p:cNvPr id="422" name="Google Shape;422;p16"/>
          <p:cNvSpPr/>
          <p:nvPr/>
        </p:nvSpPr>
        <p:spPr>
          <a:xfrm>
            <a:off x="1047750" y="45053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Prepare water near 80 °C under adult supervision.</a:t>
            </a:r>
            <a:endParaRPr/>
          </a:p>
        </p:txBody>
      </p:sp>
      <p:sp>
        <p:nvSpPr>
          <p:cNvPr id="423" name="Google Shape;423;p16"/>
          <p:cNvSpPr/>
          <p:nvPr/>
        </p:nvSpPr>
        <p:spPr>
          <a:xfrm>
            <a:off x="495300" y="50958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a:off x="495300" y="52863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74"/>
              <a:buFont typeface="Avenir"/>
              <a:buNone/>
            </a:pPr>
            <a:r>
              <a:rPr b="1" lang="en-US" sz="1275">
                <a:solidFill>
                  <a:srgbClr val="B66A00"/>
                </a:solidFill>
                <a:latin typeface="Avenir"/>
                <a:ea typeface="Avenir"/>
                <a:cs typeface="Avenir"/>
                <a:sym typeface="Avenir"/>
              </a:rPr>
              <a:t>06</a:t>
            </a:r>
            <a:endParaRPr/>
          </a:p>
        </p:txBody>
      </p:sp>
      <p:sp>
        <p:nvSpPr>
          <p:cNvPr id="425" name="Google Shape;425;p16"/>
          <p:cNvSpPr/>
          <p:nvPr/>
        </p:nvSpPr>
        <p:spPr>
          <a:xfrm>
            <a:off x="1047750" y="52863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Condition the thermal core to 80 ± 2 °C.</a:t>
            </a:r>
            <a:endParaRPr/>
          </a:p>
        </p:txBody>
      </p:sp>
      <p:sp>
        <p:nvSpPr>
          <p:cNvPr id="426" name="Google Shape;426;p16"/>
          <p:cNvSpPr/>
          <p:nvPr/>
        </p:nvSpPr>
        <p:spPr>
          <a:xfrm>
            <a:off x="495300" y="58769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a:off x="6210300" y="13811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74"/>
              <a:buFont typeface="Avenir"/>
              <a:buNone/>
            </a:pPr>
            <a:r>
              <a:rPr b="1" lang="en-US" sz="1275">
                <a:solidFill>
                  <a:srgbClr val="B66A00"/>
                </a:solidFill>
                <a:latin typeface="Avenir"/>
                <a:ea typeface="Avenir"/>
                <a:cs typeface="Avenir"/>
                <a:sym typeface="Avenir"/>
              </a:rPr>
              <a:t>07</a:t>
            </a:r>
            <a:endParaRPr/>
          </a:p>
        </p:txBody>
      </p:sp>
      <p:sp>
        <p:nvSpPr>
          <p:cNvPr id="428" name="Google Shape;428;p16"/>
          <p:cNvSpPr/>
          <p:nvPr/>
        </p:nvSpPr>
        <p:spPr>
          <a:xfrm>
            <a:off x="6762750" y="13811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Transfer with gloves or tongs; keep probe depth fixed.</a:t>
            </a:r>
            <a:endParaRPr/>
          </a:p>
        </p:txBody>
      </p:sp>
      <p:sp>
        <p:nvSpPr>
          <p:cNvPr id="429" name="Google Shape;429;p16"/>
          <p:cNvSpPr/>
          <p:nvPr/>
        </p:nvSpPr>
        <p:spPr>
          <a:xfrm>
            <a:off x="6210300" y="19716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a:off x="6210300" y="21621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08</a:t>
            </a:r>
            <a:endParaRPr/>
          </a:p>
        </p:txBody>
      </p:sp>
      <p:sp>
        <p:nvSpPr>
          <p:cNvPr id="431" name="Google Shape;431;p16"/>
          <p:cNvSpPr/>
          <p:nvPr/>
        </p:nvSpPr>
        <p:spPr>
          <a:xfrm>
            <a:off x="6762750" y="21621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Start timing immediately and record T₀.</a:t>
            </a:r>
            <a:endParaRPr/>
          </a:p>
        </p:txBody>
      </p:sp>
      <p:sp>
        <p:nvSpPr>
          <p:cNvPr id="432" name="Google Shape;432;p16"/>
          <p:cNvSpPr/>
          <p:nvPr/>
        </p:nvSpPr>
        <p:spPr>
          <a:xfrm>
            <a:off x="6210300" y="27527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a:off x="6210300" y="29432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09</a:t>
            </a:r>
            <a:endParaRPr/>
          </a:p>
        </p:txBody>
      </p:sp>
      <p:sp>
        <p:nvSpPr>
          <p:cNvPr id="434" name="Google Shape;434;p16"/>
          <p:cNvSpPr/>
          <p:nvPr/>
        </p:nvSpPr>
        <p:spPr>
          <a:xfrm>
            <a:off x="6762750" y="29432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Record one temperature every minute through t = 15.</a:t>
            </a:r>
            <a:endParaRPr/>
          </a:p>
        </p:txBody>
      </p:sp>
      <p:sp>
        <p:nvSpPr>
          <p:cNvPr id="435" name="Google Shape;435;p16"/>
          <p:cNvSpPr/>
          <p:nvPr/>
        </p:nvSpPr>
        <p:spPr>
          <a:xfrm>
            <a:off x="6210300" y="35337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p:nvPr/>
        </p:nvSpPr>
        <p:spPr>
          <a:xfrm>
            <a:off x="6210300" y="37242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10</a:t>
            </a:r>
            <a:endParaRPr/>
          </a:p>
        </p:txBody>
      </p:sp>
      <p:sp>
        <p:nvSpPr>
          <p:cNvPr id="437" name="Google Shape;437;p16"/>
          <p:cNvSpPr/>
          <p:nvPr/>
        </p:nvSpPr>
        <p:spPr>
          <a:xfrm>
            <a:off x="6762750" y="37242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Repeat with the same geometry, mass and method.</a:t>
            </a:r>
            <a:endParaRPr/>
          </a:p>
        </p:txBody>
      </p:sp>
      <p:sp>
        <p:nvSpPr>
          <p:cNvPr id="438" name="Google Shape;438;p16"/>
          <p:cNvSpPr/>
          <p:nvPr/>
        </p:nvSpPr>
        <p:spPr>
          <a:xfrm>
            <a:off x="6210300" y="43148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a:off x="6210300" y="45053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11</a:t>
            </a:r>
            <a:endParaRPr/>
          </a:p>
        </p:txBody>
      </p:sp>
      <p:sp>
        <p:nvSpPr>
          <p:cNvPr id="440" name="Google Shape;440;p16"/>
          <p:cNvSpPr/>
          <p:nvPr/>
        </p:nvSpPr>
        <p:spPr>
          <a:xfrm>
            <a:off x="6762750" y="45053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Calculate drop, residuals, MAE and fitted k as required.</a:t>
            </a:r>
            <a:endParaRPr/>
          </a:p>
        </p:txBody>
      </p:sp>
      <p:sp>
        <p:nvSpPr>
          <p:cNvPr id="441" name="Google Shape;441;p16"/>
          <p:cNvSpPr/>
          <p:nvPr/>
        </p:nvSpPr>
        <p:spPr>
          <a:xfrm>
            <a:off x="6210300" y="50958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a:off x="6210300" y="52863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12</a:t>
            </a:r>
            <a:endParaRPr/>
          </a:p>
        </p:txBody>
      </p:sp>
      <p:sp>
        <p:nvSpPr>
          <p:cNvPr id="443" name="Google Shape;443;p16"/>
          <p:cNvSpPr/>
          <p:nvPr/>
        </p:nvSpPr>
        <p:spPr>
          <a:xfrm>
            <a:off x="6762750" y="52863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Cool, dry and store all equipment safely.</a:t>
            </a:r>
            <a:endParaRPr/>
          </a:p>
        </p:txBody>
      </p:sp>
      <p:sp>
        <p:nvSpPr>
          <p:cNvPr id="444" name="Google Shape;444;p16"/>
          <p:cNvSpPr/>
          <p:nvPr/>
        </p:nvSpPr>
        <p:spPr>
          <a:xfrm>
            <a:off x="6210300" y="58769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49" name="Shape 449"/>
        <p:cNvGrpSpPr/>
        <p:nvPr/>
      </p:nvGrpSpPr>
      <p:grpSpPr>
        <a:xfrm>
          <a:off x="0" y="0"/>
          <a:ext cx="0" cy="0"/>
          <a:chOff x="0" y="0"/>
          <a:chExt cx="0" cy="0"/>
        </a:xfrm>
      </p:grpSpPr>
      <p:sp>
        <p:nvSpPr>
          <p:cNvPr id="450" name="Google Shape;450;p17"/>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451" name="Google Shape;451;p17"/>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complete observed temperature series</a:t>
            </a:r>
            <a:endParaRPr/>
          </a:p>
        </p:txBody>
      </p:sp>
      <p:sp>
        <p:nvSpPr>
          <p:cNvPr id="452" name="Google Shape;452;p17"/>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53" name="Google Shape;453;p17"/>
          <p:cNvGraphicFramePr/>
          <p:nvPr/>
        </p:nvGraphicFramePr>
        <p:xfrm>
          <a:off x="857250" y="1333500"/>
          <a:ext cx="3000000" cy="3000000"/>
        </p:xfrm>
        <a:graphic>
          <a:graphicData uri="http://schemas.openxmlformats.org/drawingml/2006/table">
            <a:tbl>
              <a:tblPr>
                <a:noFill/>
                <a:tableStyleId>{65F42712-D0EC-4517-BA7C-B1604880E71E}</a:tableStyleId>
              </a:tblPr>
              <a:tblGrid>
                <a:gridCol w="1714500"/>
                <a:gridCol w="2190750"/>
                <a:gridCol w="2190750"/>
                <a:gridCol w="2190750"/>
                <a:gridCol w="2190750"/>
              </a:tblGrid>
              <a:tr h="275675">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Time (min)</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Full MLI (°C)</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Bubble (°C)</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Mylar (°C)</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Bare (°C)</a:t>
                      </a:r>
                      <a:endParaRPr/>
                    </a:p>
                  </a:txBody>
                  <a:tcPr marT="47625" marB="47625" marR="76200" marL="76200" anchor="ctr">
                    <a:solidFill>
                      <a:srgbClr val="DCEAF5"/>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77.6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82.6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80.5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80.1</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76.6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79.0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68.6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73.9</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2</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76.1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75.2</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61.8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66.0</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75.6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72.5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55.8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59.9</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75.1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70.0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51.3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54.5</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74.5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67.9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47.8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50.1</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73.9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65.6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44.9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47.1</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73.5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64.0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42.5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44.6</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72.1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62.3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40.6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42.5</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70.6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60.6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38.9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40.9</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69.7</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58.9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38.1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39.5</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68.5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57.5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36.3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38.2</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12</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67.4</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56.1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35.5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37.3</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65.8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54.8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34.6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36.5</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14</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64.1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53.7</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33.9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35.8</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62.7</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52.6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33.3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35.2</a:t>
                      </a:r>
                      <a:endParaRPr/>
                    </a:p>
                  </a:txBody>
                  <a:tcPr marT="47625" marB="47625" marR="76200" marL="76200" anchor="ctr">
                    <a:solidFill>
                      <a:srgbClr val="E8F1F8"/>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58" name="Shape 458"/>
        <p:cNvGrpSpPr/>
        <p:nvPr/>
      </p:nvGrpSpPr>
      <p:grpSpPr>
        <a:xfrm>
          <a:off x="0" y="0"/>
          <a:ext cx="0" cy="0"/>
          <a:chOff x="0" y="0"/>
          <a:chExt cx="0" cy="0"/>
        </a:xfrm>
      </p:grpSpPr>
      <p:sp>
        <p:nvSpPr>
          <p:cNvPr id="459" name="Google Shape;459;p18"/>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460" name="Google Shape;460;p18"/>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model agreement and fitted cooling constant</a:t>
            </a:r>
            <a:endParaRPr/>
          </a:p>
        </p:txBody>
      </p:sp>
      <p:sp>
        <p:nvSpPr>
          <p:cNvPr id="461" name="Google Shape;461;p18"/>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8"/>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463" name="Google Shape;463;p18"/>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18</a:t>
            </a:r>
            <a:endParaRPr/>
          </a:p>
        </p:txBody>
      </p:sp>
      <p:sp>
        <p:nvSpPr>
          <p:cNvPr id="464" name="Google Shape;464;p18"/>
          <p:cNvSpPr/>
          <p:nvPr/>
        </p:nvSpPr>
        <p:spPr>
          <a:xfrm>
            <a:off x="495300" y="14287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5"/>
              <a:buFont typeface="Avenir"/>
              <a:buNone/>
            </a:pPr>
            <a:r>
              <a:rPr b="1" lang="en-US" sz="1275">
                <a:solidFill>
                  <a:srgbClr val="007FA8"/>
                </a:solidFill>
                <a:latin typeface="Avenir"/>
                <a:ea typeface="Avenir"/>
                <a:cs typeface="Avenir"/>
                <a:sym typeface="Avenir"/>
              </a:rPr>
              <a:t>Residual at point i</a:t>
            </a:r>
            <a:endParaRPr/>
          </a:p>
        </p:txBody>
      </p:sp>
      <p:pic>
        <p:nvPicPr>
          <p:cNvPr id="465" name="Google Shape;465;p18"/>
          <p:cNvPicPr preferRelativeResize="0"/>
          <p:nvPr/>
        </p:nvPicPr>
        <p:blipFill rotWithShape="1">
          <a:blip r:embed="rId3">
            <a:alphaModFix/>
          </a:blip>
          <a:srcRect b="0" l="0" r="0" t="0"/>
          <a:stretch/>
        </p:blipFill>
        <p:spPr>
          <a:xfrm>
            <a:off x="4089168" y="1295400"/>
            <a:ext cx="2775415" cy="666750"/>
          </a:xfrm>
          <a:prstGeom prst="roundRect">
            <a:avLst>
              <a:gd fmla="val 16667" name="adj"/>
            </a:avLst>
          </a:prstGeom>
          <a:noFill/>
          <a:ln>
            <a:noFill/>
          </a:ln>
        </p:spPr>
      </p:pic>
      <p:sp>
        <p:nvSpPr>
          <p:cNvPr id="466" name="Google Shape;466;p18"/>
          <p:cNvSpPr/>
          <p:nvPr/>
        </p:nvSpPr>
        <p:spPr>
          <a:xfrm>
            <a:off x="8143875" y="14287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Shows the signed difference at one timestamp</a:t>
            </a:r>
            <a:endParaRPr/>
          </a:p>
        </p:txBody>
      </p:sp>
      <p:sp>
        <p:nvSpPr>
          <p:cNvPr id="467" name="Google Shape;467;p18"/>
          <p:cNvSpPr/>
          <p:nvPr/>
        </p:nvSpPr>
        <p:spPr>
          <a:xfrm>
            <a:off x="495300" y="2152650"/>
            <a:ext cx="1102995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8"/>
          <p:cNvSpPr/>
          <p:nvPr/>
        </p:nvSpPr>
        <p:spPr>
          <a:xfrm>
            <a:off x="495300" y="24955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75"/>
              <a:buFont typeface="Avenir"/>
              <a:buNone/>
            </a:pPr>
            <a:r>
              <a:rPr b="1" lang="en-US" sz="1275">
                <a:solidFill>
                  <a:srgbClr val="B66A00"/>
                </a:solidFill>
                <a:latin typeface="Avenir"/>
                <a:ea typeface="Avenir"/>
                <a:cs typeface="Avenir"/>
                <a:sym typeface="Avenir"/>
              </a:rPr>
              <a:t>Mean absolute error</a:t>
            </a:r>
            <a:endParaRPr/>
          </a:p>
        </p:txBody>
      </p:sp>
      <p:pic>
        <p:nvPicPr>
          <p:cNvPr id="469" name="Google Shape;469;p18"/>
          <p:cNvPicPr preferRelativeResize="0"/>
          <p:nvPr/>
        </p:nvPicPr>
        <p:blipFill rotWithShape="1">
          <a:blip r:embed="rId4">
            <a:alphaModFix/>
          </a:blip>
          <a:srcRect b="0" l="0" r="0" t="0"/>
          <a:stretch/>
        </p:blipFill>
        <p:spPr>
          <a:xfrm>
            <a:off x="3991131" y="2362200"/>
            <a:ext cx="1923738" cy="838200"/>
          </a:xfrm>
          <a:prstGeom prst="roundRect">
            <a:avLst>
              <a:gd fmla="val 16667" name="adj"/>
            </a:avLst>
          </a:prstGeom>
          <a:noFill/>
          <a:ln>
            <a:noFill/>
          </a:ln>
        </p:spPr>
      </p:pic>
      <p:sp>
        <p:nvSpPr>
          <p:cNvPr id="470" name="Google Shape;470;p18"/>
          <p:cNvSpPr/>
          <p:nvPr/>
        </p:nvSpPr>
        <p:spPr>
          <a:xfrm>
            <a:off x="8143875" y="24955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Summarizes the typical absolute temperature error</a:t>
            </a:r>
            <a:endParaRPr/>
          </a:p>
        </p:txBody>
      </p:sp>
      <p:sp>
        <p:nvSpPr>
          <p:cNvPr id="471" name="Google Shape;471;p18"/>
          <p:cNvSpPr/>
          <p:nvPr/>
        </p:nvSpPr>
        <p:spPr>
          <a:xfrm>
            <a:off x="495300" y="3219450"/>
            <a:ext cx="1102995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8"/>
          <p:cNvSpPr/>
          <p:nvPr/>
        </p:nvSpPr>
        <p:spPr>
          <a:xfrm>
            <a:off x="495300" y="35623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275"/>
              <a:buFont typeface="Avenir"/>
              <a:buNone/>
            </a:pPr>
            <a:r>
              <a:rPr b="1" lang="en-US" sz="1275">
                <a:solidFill>
                  <a:srgbClr val="0B8B61"/>
                </a:solidFill>
                <a:latin typeface="Avenir"/>
                <a:ea typeface="Avenir"/>
                <a:cs typeface="Avenir"/>
                <a:sym typeface="Avenir"/>
              </a:rPr>
              <a:t>Fitted cooling constant</a:t>
            </a:r>
            <a:endParaRPr/>
          </a:p>
        </p:txBody>
      </p:sp>
      <p:pic>
        <p:nvPicPr>
          <p:cNvPr id="473" name="Google Shape;473;p18"/>
          <p:cNvPicPr preferRelativeResize="0"/>
          <p:nvPr/>
        </p:nvPicPr>
        <p:blipFill rotWithShape="1">
          <a:blip r:embed="rId5">
            <a:alphaModFix/>
          </a:blip>
          <a:srcRect b="0" l="0" r="0" t="0"/>
          <a:stretch/>
        </p:blipFill>
        <p:spPr>
          <a:xfrm>
            <a:off x="4070709" y="3429000"/>
            <a:ext cx="2145581" cy="838200"/>
          </a:xfrm>
          <a:prstGeom prst="roundRect">
            <a:avLst>
              <a:gd fmla="val 16667" name="adj"/>
            </a:avLst>
          </a:prstGeom>
          <a:noFill/>
          <a:ln>
            <a:noFill/>
          </a:ln>
        </p:spPr>
      </p:pic>
      <p:sp>
        <p:nvSpPr>
          <p:cNvPr id="474" name="Google Shape;474;p18"/>
          <p:cNvSpPr/>
          <p:nvPr/>
        </p:nvSpPr>
        <p:spPr>
          <a:xfrm>
            <a:off x="8143875" y="35623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Valid only when the ratio is positive and the boundary is stable</a:t>
            </a:r>
            <a:endParaRPr/>
          </a:p>
        </p:txBody>
      </p:sp>
      <p:sp>
        <p:nvSpPr>
          <p:cNvPr id="475" name="Google Shape;475;p18"/>
          <p:cNvSpPr/>
          <p:nvPr/>
        </p:nvSpPr>
        <p:spPr>
          <a:xfrm>
            <a:off x="495300" y="4286250"/>
            <a:ext cx="1102995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8"/>
          <p:cNvSpPr/>
          <p:nvPr/>
        </p:nvSpPr>
        <p:spPr>
          <a:xfrm>
            <a:off x="495300" y="46291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275"/>
              <a:buFont typeface="Avenir"/>
              <a:buNone/>
            </a:pPr>
            <a:r>
              <a:rPr b="1" lang="en-US" sz="1275">
                <a:solidFill>
                  <a:srgbClr val="167A9D"/>
                </a:solidFill>
                <a:latin typeface="Avenir"/>
                <a:ea typeface="Avenir"/>
                <a:cs typeface="Avenir"/>
                <a:sym typeface="Avenir"/>
              </a:rPr>
              <a:t>Normalized heat retained</a:t>
            </a:r>
            <a:endParaRPr/>
          </a:p>
        </p:txBody>
      </p:sp>
      <p:pic>
        <p:nvPicPr>
          <p:cNvPr id="477" name="Google Shape;477;p18"/>
          <p:cNvPicPr preferRelativeResize="0"/>
          <p:nvPr/>
        </p:nvPicPr>
        <p:blipFill rotWithShape="1">
          <a:blip r:embed="rId6">
            <a:alphaModFix/>
          </a:blip>
          <a:srcRect b="0" l="0" r="0" t="0"/>
          <a:stretch/>
        </p:blipFill>
        <p:spPr>
          <a:xfrm>
            <a:off x="3816909" y="4495800"/>
            <a:ext cx="2843682" cy="781050"/>
          </a:xfrm>
          <a:prstGeom prst="roundRect">
            <a:avLst>
              <a:gd fmla="val 16667" name="adj"/>
            </a:avLst>
          </a:prstGeom>
          <a:noFill/>
          <a:ln>
            <a:noFill/>
          </a:ln>
        </p:spPr>
      </p:pic>
      <p:sp>
        <p:nvSpPr>
          <p:cNvPr id="478" name="Google Shape;478;p18"/>
          <p:cNvSpPr/>
          <p:nvPr/>
        </p:nvSpPr>
        <p:spPr>
          <a:xfrm>
            <a:off x="8143875" y="46291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Supports comparison when starting temperatures differ</a:t>
            </a:r>
            <a:endParaRPr/>
          </a:p>
        </p:txBody>
      </p:sp>
      <p:sp>
        <p:nvSpPr>
          <p:cNvPr id="479" name="Google Shape;479;p18"/>
          <p:cNvSpPr/>
          <p:nvPr/>
        </p:nvSpPr>
        <p:spPr>
          <a:xfrm>
            <a:off x="495300" y="5353050"/>
            <a:ext cx="1102995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8"/>
          <p:cNvSpPr/>
          <p:nvPr/>
        </p:nvSpPr>
        <p:spPr>
          <a:xfrm>
            <a:off x="495300" y="5857875"/>
            <a:ext cx="11029950" cy="457200"/>
          </a:xfrm>
          <a:prstGeom prst="roundRect">
            <a:avLst>
              <a:gd fmla="val 16667" name="adj"/>
            </a:avLst>
          </a:prstGeom>
          <a:solidFill>
            <a:srgbClr val="E4EE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8"/>
          <p:cNvSpPr/>
          <p:nvPr/>
        </p:nvSpPr>
        <p:spPr>
          <a:xfrm>
            <a:off x="685800" y="5962650"/>
            <a:ext cx="106203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025"/>
              <a:buFont typeface="Avenir"/>
              <a:buNone/>
            </a:pPr>
            <a:r>
              <a:rPr b="0" lang="en-US" sz="1025">
                <a:solidFill>
                  <a:srgbClr val="167A9D"/>
                </a:solidFill>
                <a:latin typeface="Avenir"/>
                <a:ea typeface="Avenir"/>
                <a:cs typeface="Avenir"/>
                <a:sym typeface="Avenir"/>
              </a:rPr>
              <a:t>The Mission Control full-MLI screenshot uses the supplied 16-point series and reports MAE = 0.98 °C against the 80/0 °C reference curve.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86" name="Shape 486"/>
        <p:cNvGrpSpPr/>
        <p:nvPr/>
      </p:nvGrpSpPr>
      <p:grpSpPr>
        <a:xfrm>
          <a:off x="0" y="0"/>
          <a:ext cx="0" cy="0"/>
          <a:chOff x="0" y="0"/>
          <a:chExt cx="0" cy="0"/>
        </a:xfrm>
      </p:grpSpPr>
      <p:sp>
        <p:nvSpPr>
          <p:cNvPr id="487" name="Google Shape;487;p19"/>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488" name="Google Shape;488;p19"/>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unified assessment and classroom guidance</a:t>
            </a:r>
            <a:endParaRPr/>
          </a:p>
        </p:txBody>
      </p:sp>
      <p:sp>
        <p:nvSpPr>
          <p:cNvPr id="489" name="Google Shape;489;p19"/>
          <p:cNvSpPr/>
          <p:nvPr/>
        </p:nvSpPr>
        <p:spPr>
          <a:xfrm>
            <a:off x="495300" y="1066800"/>
            <a:ext cx="11201400" cy="9600"/>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9"/>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SPACESUIT THERMAL SHIELDING KIT</a:t>
            </a:r>
            <a:endParaRPr/>
          </a:p>
        </p:txBody>
      </p:sp>
      <p:sp>
        <p:nvSpPr>
          <p:cNvPr id="491" name="Google Shape;491;p19"/>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19</a:t>
            </a:r>
            <a:endParaRPr/>
          </a:p>
        </p:txBody>
      </p:sp>
      <p:grpSp>
        <p:nvGrpSpPr>
          <p:cNvPr id="492" name="Google Shape;492;p19"/>
          <p:cNvGrpSpPr/>
          <p:nvPr/>
        </p:nvGrpSpPr>
        <p:grpSpPr>
          <a:xfrm>
            <a:off x="495300" y="1238250"/>
            <a:ext cx="5524500" cy="3762300"/>
            <a:chOff x="0" y="0"/>
            <a:chExt cx="5524500" cy="3762300"/>
          </a:xfrm>
        </p:grpSpPr>
        <p:sp>
          <p:nvSpPr>
            <p:cNvPr id="493" name="Google Shape;493;p19"/>
            <p:cNvSpPr/>
            <p:nvPr/>
          </p:nvSpPr>
          <p:spPr>
            <a:xfrm>
              <a:off x="0" y="0"/>
              <a:ext cx="5524500" cy="3762300"/>
            </a:xfrm>
            <a:prstGeom prst="roundRect">
              <a:avLst>
                <a:gd fmla="val 2531" name="adj"/>
              </a:avLst>
            </a:prstGeom>
            <a:solidFill>
              <a:srgbClr val="FFFFFF"/>
            </a:solidFill>
            <a:ln cap="flat" cmpd="sng" w="9525">
              <a:solidFill>
                <a:srgbClr val="DCE6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94" name="Google Shape;494;p19"/>
            <p:cNvPicPr preferRelativeResize="0"/>
            <p:nvPr/>
          </p:nvPicPr>
          <p:blipFill rotWithShape="1">
            <a:blip r:embed="rId3">
              <a:alphaModFix/>
            </a:blip>
            <a:srcRect b="0" l="3245" r="3245" t="0"/>
            <a:stretch/>
          </p:blipFill>
          <p:spPr>
            <a:xfrm>
              <a:off x="19050" y="47625"/>
              <a:ext cx="5486400" cy="3667200"/>
            </a:xfrm>
            <a:prstGeom prst="roundRect">
              <a:avLst>
                <a:gd fmla="val 2077" name="adj"/>
              </a:avLst>
            </a:prstGeom>
            <a:noFill/>
            <a:ln>
              <a:noFill/>
            </a:ln>
          </p:spPr>
        </p:pic>
      </p:grpSp>
      <p:grpSp>
        <p:nvGrpSpPr>
          <p:cNvPr id="495" name="Google Shape;495;p19"/>
          <p:cNvGrpSpPr/>
          <p:nvPr/>
        </p:nvGrpSpPr>
        <p:grpSpPr>
          <a:xfrm>
            <a:off x="6267450" y="1238250"/>
            <a:ext cx="5429400" cy="3762450"/>
            <a:chOff x="0" y="0"/>
            <a:chExt cx="5429400" cy="3762450"/>
          </a:xfrm>
        </p:grpSpPr>
        <p:sp>
          <p:nvSpPr>
            <p:cNvPr id="496" name="Google Shape;496;p19"/>
            <p:cNvSpPr txBox="1"/>
            <p:nvPr/>
          </p:nvSpPr>
          <p:spPr>
            <a:xfrm>
              <a:off x="0" y="0"/>
              <a:ext cx="54294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B66A00"/>
                  </a:solidFill>
                  <a:latin typeface="Avenir"/>
                  <a:ea typeface="Avenir"/>
                  <a:cs typeface="Avenir"/>
                  <a:sym typeface="Avenir"/>
                </a:rPr>
                <a:t>TEN ALIGNED QUESTIONS</a:t>
              </a:r>
              <a:endParaRPr b="1" sz="900">
                <a:solidFill>
                  <a:srgbClr val="B66A00"/>
                </a:solidFill>
                <a:latin typeface="Avenir"/>
                <a:ea typeface="Avenir"/>
                <a:cs typeface="Avenir"/>
                <a:sym typeface="Avenir"/>
              </a:endParaRPr>
            </a:p>
          </p:txBody>
        </p:sp>
        <p:sp>
          <p:nvSpPr>
            <p:cNvPr id="497" name="Google Shape;497;p19"/>
            <p:cNvSpPr/>
            <p:nvPr/>
          </p:nvSpPr>
          <p:spPr>
            <a:xfrm>
              <a:off x="0" y="285750"/>
              <a:ext cx="5429400" cy="21432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8" name="Google Shape;498;p19"/>
            <p:cNvSpPr txBox="1"/>
            <p:nvPr/>
          </p:nvSpPr>
          <p:spPr>
            <a:xfrm>
              <a:off x="0" y="285750"/>
              <a:ext cx="5429400" cy="2143200"/>
            </a:xfrm>
            <a:prstGeom prst="rect">
              <a:avLst/>
            </a:prstGeom>
            <a:noFill/>
            <a:ln>
              <a:noFill/>
            </a:ln>
          </p:spPr>
          <p:txBody>
            <a:bodyPr anchorCtr="0" anchor="ctr" bIns="95250" lIns="190500" spcFirstLastPara="1" rIns="190500" wrap="square" tIns="95250">
              <a:noAutofit/>
            </a:bodyPr>
            <a:lstStyle/>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Student Task Sheet: Inquiries 1–10</a:t>
              </a:r>
              <a:endParaRPr sz="1300">
                <a:solidFill>
                  <a:srgbClr val="29455F"/>
                </a:solidFill>
                <a:latin typeface="Avenir"/>
                <a:ea typeface="Avenir"/>
                <a:cs typeface="Avenir"/>
                <a:sym typeface="Avenir"/>
              </a:endParaRPr>
            </a:p>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Mission Control: Questions 1–10</a:t>
              </a:r>
              <a:endParaRPr sz="1300">
                <a:solidFill>
                  <a:srgbClr val="29455F"/>
                </a:solidFill>
                <a:latin typeface="Avenir"/>
                <a:ea typeface="Avenir"/>
                <a:cs typeface="Avenir"/>
                <a:sym typeface="Avenir"/>
              </a:endParaRPr>
            </a:p>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Teacher Manual: complete solution key</a:t>
              </a:r>
              <a:endParaRPr sz="1300">
                <a:solidFill>
                  <a:srgbClr val="29455F"/>
                </a:solidFill>
                <a:latin typeface="Avenir"/>
                <a:ea typeface="Avenir"/>
                <a:cs typeface="Avenir"/>
                <a:sym typeface="Avenir"/>
              </a:endParaRPr>
            </a:p>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Nine multiple-choice items auto-score online</a:t>
              </a:r>
              <a:endParaRPr sz="1300">
                <a:solidFill>
                  <a:srgbClr val="29455F"/>
                </a:solidFill>
                <a:latin typeface="Avenir"/>
                <a:ea typeface="Avenir"/>
                <a:cs typeface="Avenir"/>
                <a:sym typeface="Avenir"/>
              </a:endParaRPr>
            </a:p>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Question 4 requires instructor review</a:t>
              </a:r>
              <a:endParaRPr sz="1300">
                <a:solidFill>
                  <a:srgbClr val="29455F"/>
                </a:solidFill>
                <a:latin typeface="Avenir"/>
                <a:ea typeface="Avenir"/>
                <a:cs typeface="Avenir"/>
                <a:sym typeface="Avenir"/>
              </a:endParaRPr>
            </a:p>
          </p:txBody>
        </p:sp>
        <p:sp>
          <p:nvSpPr>
            <p:cNvPr id="499" name="Google Shape;499;p19"/>
            <p:cNvSpPr/>
            <p:nvPr/>
          </p:nvSpPr>
          <p:spPr>
            <a:xfrm>
              <a:off x="0" y="2571750"/>
              <a:ext cx="5429400" cy="1190700"/>
            </a:xfrm>
            <a:prstGeom prst="roundRect">
              <a:avLst>
                <a:gd fmla="val 8000" name="adj"/>
              </a:avLst>
            </a:prstGeom>
            <a:solidFill>
              <a:srgbClr val="E4EEF7"/>
            </a:solidFill>
            <a:ln cap="flat" cmpd="sng" w="9525">
              <a:solidFill>
                <a:srgbClr val="BEE3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19"/>
            <p:cNvSpPr txBox="1"/>
            <p:nvPr/>
          </p:nvSpPr>
          <p:spPr>
            <a:xfrm>
              <a:off x="0" y="2571750"/>
              <a:ext cx="5429400" cy="1190700"/>
            </a:xfrm>
            <a:prstGeom prst="rect">
              <a:avLst/>
            </a:prstGeom>
            <a:noFill/>
            <a:ln>
              <a:noFill/>
            </a:ln>
          </p:spPr>
          <p:txBody>
            <a:bodyPr anchorCtr="0" anchor="ctr" bIns="0" lIns="228600" spcFirstLastPara="1" rIns="228600" wrap="square" tIns="0">
              <a:noAutofit/>
            </a:bodyPr>
            <a:lstStyle/>
            <a:p>
              <a:pPr indent="0" lvl="0" marL="0" rtl="0" algn="l">
                <a:spcBef>
                  <a:spcPts val="0"/>
                </a:spcBef>
                <a:spcAft>
                  <a:spcPts val="0"/>
                </a:spcAft>
                <a:buNone/>
              </a:pPr>
              <a:r>
                <a:rPr b="1" lang="en-US" sz="1100">
                  <a:solidFill>
                    <a:srgbClr val="167A9D"/>
                  </a:solidFill>
                  <a:latin typeface="Avenir"/>
                  <a:ea typeface="Avenir"/>
                  <a:cs typeface="Avenir"/>
                  <a:sym typeface="Avenir"/>
                </a:rPr>
                <a:t>Assessment focuses on mechanism, modelling, fair testing, uncertainty and spacesuit engineering trade-offs.</a:t>
              </a:r>
              <a:endParaRPr b="1" sz="1100">
                <a:solidFill>
                  <a:srgbClr val="167A9D"/>
                </a:solidFill>
                <a:latin typeface="Avenir"/>
                <a:ea typeface="Avenir"/>
                <a:cs typeface="Avenir"/>
                <a:sym typeface="Avenir"/>
              </a:endParaRPr>
            </a:p>
          </p:txBody>
        </p:sp>
      </p:grpSp>
      <p:grpSp>
        <p:nvGrpSpPr>
          <p:cNvPr id="501" name="Google Shape;501;p19"/>
          <p:cNvGrpSpPr/>
          <p:nvPr/>
        </p:nvGrpSpPr>
        <p:grpSpPr>
          <a:xfrm>
            <a:off x="495300" y="5162550"/>
            <a:ext cx="11201400" cy="457200"/>
            <a:chOff x="0" y="0"/>
            <a:chExt cx="11201400" cy="457200"/>
          </a:xfrm>
        </p:grpSpPr>
        <p:sp>
          <p:nvSpPr>
            <p:cNvPr id="502" name="Google Shape;502;p19"/>
            <p:cNvSpPr/>
            <p:nvPr/>
          </p:nvSpPr>
          <p:spPr>
            <a:xfrm>
              <a:off x="0" y="0"/>
              <a:ext cx="11201400" cy="457200"/>
            </a:xfrm>
            <a:prstGeom prst="roundRect">
              <a:avLst>
                <a:gd fmla="val 16666" name="adj"/>
              </a:avLst>
            </a:prstGeom>
            <a:solidFill>
              <a:srgbClr val="FFF8E7"/>
            </a:solidFill>
            <a:ln cap="flat" cmpd="sng" w="9525">
              <a:solidFill>
                <a:srgbClr val="FEEBC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p19"/>
            <p:cNvSpPr txBox="1"/>
            <p:nvPr/>
          </p:nvSpPr>
          <p:spPr>
            <a:xfrm>
              <a:off x="0" y="0"/>
              <a:ext cx="11201400" cy="4572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i="1" lang="en-US" sz="1100">
                  <a:solidFill>
                    <a:srgbClr val="B66A00"/>
                  </a:solidFill>
                  <a:latin typeface="Avenir"/>
                  <a:ea typeface="Avenir"/>
                  <a:cs typeface="Avenir"/>
                  <a:sym typeface="Avenir"/>
                </a:rPr>
                <a:t>Safety disclosure: the activity does not certify materials for aerospace, pressure-vessel, fire-protection or personal-protective use.</a:t>
              </a:r>
              <a:endParaRPr i="1" sz="1100">
                <a:solidFill>
                  <a:srgbClr val="B66A00"/>
                </a:solidFill>
                <a:latin typeface="Avenir"/>
                <a:ea typeface="Avenir"/>
                <a:cs typeface="Avenir"/>
                <a:sym typeface="Aveni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