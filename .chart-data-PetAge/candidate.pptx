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123d0bd3b1c4ddc" /><Relationship Type="http://schemas.openxmlformats.org/officeDocument/2006/relationships/extended-properties" Target="/docProps/app.xml" Id="R16d95afd308a4a06" /><Relationship Type="http://schemas.openxmlformats.org/officeDocument/2006/relationships/officeDocument" Target="/ppt/presentation.xml" Id="R267a73e9d5344520" /></Relationships>
</file>

<file path=ppt/presentation.xml><?xml version="1.0" encoding="utf-8"?>
<p:presentation xmlns:p="http://schemas.openxmlformats.org/presentationml/2006/main">
  <p:sldMasterIdLst>
    <p:sldMasterId xmlns:r="http://schemas.openxmlformats.org/officeDocument/2006/relationships" id="2147483648" r:id="R282e2ce74e104653"/>
  </p:sldMasterIdLst>
  <p:notesMasterIdLst>
    <p:notesMasterId xmlns:r="http://schemas.openxmlformats.org/officeDocument/2006/relationships" r:id="R384266e215f846aa"/>
  </p:notesMasterIdLst>
  <p:sldIdLst>
    <p:sldId xmlns:r="http://schemas.openxmlformats.org/officeDocument/2006/relationships" id="256" r:id="R191834e2533b4f50"/>
    <p:sldId xmlns:r="http://schemas.openxmlformats.org/officeDocument/2006/relationships" id="257" r:id="Rdc5ee681c49c4776"/>
    <p:sldId xmlns:r="http://schemas.openxmlformats.org/officeDocument/2006/relationships" id="258" r:id="R149ee4d08a834a56"/>
    <p:sldId xmlns:r="http://schemas.openxmlformats.org/officeDocument/2006/relationships" id="259" r:id="R5fb14eaeb51a4c11"/>
    <p:sldId xmlns:r="http://schemas.openxmlformats.org/officeDocument/2006/relationships" id="260" r:id="Rfe19dd0a235149bf"/>
    <p:sldId xmlns:r="http://schemas.openxmlformats.org/officeDocument/2006/relationships" id="261" r:id="R725f801875f943e8"/>
    <p:sldId xmlns:r="http://schemas.openxmlformats.org/officeDocument/2006/relationships" id="262" r:id="R9f82f51583c149b6"/>
    <p:sldId xmlns:r="http://schemas.openxmlformats.org/officeDocument/2006/relationships" id="263" r:id="R4ef03107712e4059"/>
    <p:sldId xmlns:r="http://schemas.openxmlformats.org/officeDocument/2006/relationships" id="264" r:id="Re5bd4af0ad6d45a1"/>
    <p:sldId xmlns:r="http://schemas.openxmlformats.org/officeDocument/2006/relationships" id="265" r:id="Ra65ef6b773bd44ec"/>
    <p:sldId xmlns:r="http://schemas.openxmlformats.org/officeDocument/2006/relationships" id="266" r:id="Ra54e10c2611349a1"/>
    <p:sldId xmlns:r="http://schemas.openxmlformats.org/officeDocument/2006/relationships" id="267" r:id="Rfc7a99a1893b4599"/>
    <p:sldId xmlns:r="http://schemas.openxmlformats.org/officeDocument/2006/relationships" id="268" r:id="R333747a0f44b45b4"/>
    <p:sldId xmlns:r="http://schemas.openxmlformats.org/officeDocument/2006/relationships" id="269" r:id="R3330d09f5498447c"/>
    <p:sldId xmlns:r="http://schemas.openxmlformats.org/officeDocument/2006/relationships" id="270" r:id="R83ff1d7588524988"/>
    <p:sldId xmlns:r="http://schemas.openxmlformats.org/officeDocument/2006/relationships" id="271" r:id="R4b3d04b4d83f4f53"/>
    <p:sldId xmlns:r="http://schemas.openxmlformats.org/officeDocument/2006/relationships" id="272" r:id="R4cdc5e0f1db24546"/>
    <p:sldId xmlns:r="http://schemas.openxmlformats.org/officeDocument/2006/relationships" id="273" r:id="R551bc7dd81a149fd"/>
    <p:sldId xmlns:r="http://schemas.openxmlformats.org/officeDocument/2006/relationships" id="274" r:id="R9fe250b9752a4d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c8dfb7aca44015" /><Relationship Type="http://schemas.openxmlformats.org/officeDocument/2006/relationships/slideMaster" Target="/ppt/slideMasters/slideMaster1.xml" Id="R282e2ce74e104653" /><Relationship Type="http://schemas.openxmlformats.org/officeDocument/2006/relationships/notesMaster" Target="/ppt/notesMasters/notesMaster1.xml" Id="R384266e215f846aa" /><Relationship Type="http://schemas.openxmlformats.org/officeDocument/2006/relationships/presProps" Target="/ppt/presProps.xml" Id="R273d0b88f853400c" /><Relationship Type="http://schemas.openxmlformats.org/officeDocument/2006/relationships/tableStyles" Target="/ppt/tableStyles.xml" Id="Re6a2b3602b1d45a5" /><Relationship Type="http://schemas.openxmlformats.org/officeDocument/2006/relationships/slide" Target="/ppt/slides/slide1.xml" Id="R191834e2533b4f50" /><Relationship Type="http://schemas.openxmlformats.org/officeDocument/2006/relationships/slide" Target="/ppt/slides/slide2.xml" Id="Rdc5ee681c49c4776" /><Relationship Type="http://schemas.openxmlformats.org/officeDocument/2006/relationships/slide" Target="/ppt/slides/slide3.xml" Id="R149ee4d08a834a56" /><Relationship Type="http://schemas.openxmlformats.org/officeDocument/2006/relationships/slide" Target="/ppt/slides/slide4.xml" Id="R5fb14eaeb51a4c11" /><Relationship Type="http://schemas.openxmlformats.org/officeDocument/2006/relationships/slide" Target="/ppt/slides/slide5.xml" Id="Rfe19dd0a235149bf" /><Relationship Type="http://schemas.openxmlformats.org/officeDocument/2006/relationships/slide" Target="/ppt/slides/slide6.xml" Id="R725f801875f943e8" /><Relationship Type="http://schemas.openxmlformats.org/officeDocument/2006/relationships/slide" Target="/ppt/slides/slide7.xml" Id="R9f82f51583c149b6" /><Relationship Type="http://schemas.openxmlformats.org/officeDocument/2006/relationships/slide" Target="/ppt/slides/slide8.xml" Id="R4ef03107712e4059" /><Relationship Type="http://schemas.openxmlformats.org/officeDocument/2006/relationships/slide" Target="/ppt/slides/slide9.xml" Id="Re5bd4af0ad6d45a1" /><Relationship Type="http://schemas.openxmlformats.org/officeDocument/2006/relationships/slide" Target="/ppt/slides/slide10.xml" Id="Ra65ef6b773bd44ec" /><Relationship Type="http://schemas.openxmlformats.org/officeDocument/2006/relationships/slide" Target="/ppt/slides/slide11.xml" Id="Ra54e10c2611349a1" /><Relationship Type="http://schemas.openxmlformats.org/officeDocument/2006/relationships/slide" Target="/ppt/slides/slide12.xml" Id="Rfc7a99a1893b4599" /><Relationship Type="http://schemas.openxmlformats.org/officeDocument/2006/relationships/slide" Target="/ppt/slides/slide13.xml" Id="R333747a0f44b45b4" /><Relationship Type="http://schemas.openxmlformats.org/officeDocument/2006/relationships/slide" Target="/ppt/slides/slide14.xml" Id="R3330d09f5498447c" /><Relationship Type="http://schemas.openxmlformats.org/officeDocument/2006/relationships/slide" Target="/ppt/slides/slide15.xml" Id="R83ff1d7588524988" /><Relationship Type="http://schemas.openxmlformats.org/officeDocument/2006/relationships/slide" Target="/ppt/slides/slide16.xml" Id="R4b3d04b4d83f4f53" /><Relationship Type="http://schemas.openxmlformats.org/officeDocument/2006/relationships/slide" Target="/ppt/slides/slide17.xml" Id="R4cdc5e0f1db24546" /><Relationship Type="http://schemas.openxmlformats.org/officeDocument/2006/relationships/slide" Target="/ppt/slides/slide18.xml" Id="R551bc7dd81a149fd" /><Relationship Type="http://schemas.openxmlformats.org/officeDocument/2006/relationships/slide" Target="/ppt/slides/slide19.xml" Id="R9fe250b9752a4d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371489a66449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45742874b54847" /><Relationship Type="http://schemas.openxmlformats.org/officeDocument/2006/relationships/notesMaster" Target="/ppt/notesMasters/notesMaster1.xml" Id="R68495e863aed46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02aa89d6214bd6" /><Relationship Type="http://schemas.openxmlformats.org/officeDocument/2006/relationships/notesMaster" Target="/ppt/notesMasters/notesMaster1.xml" Id="Rb27acf93de4f4b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8cc33d4e5c4c4f" /><Relationship Type="http://schemas.openxmlformats.org/officeDocument/2006/relationships/notesMaster" Target="/ppt/notesMasters/notesMaster1.xml" Id="Rdf0d20afc2ef4f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2c8f678747454a" /><Relationship Type="http://schemas.openxmlformats.org/officeDocument/2006/relationships/notesMaster" Target="/ppt/notesMasters/notesMaster1.xml" Id="R6389d34376e247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f15eb325d84f61" /><Relationship Type="http://schemas.openxmlformats.org/officeDocument/2006/relationships/notesMaster" Target="/ppt/notesMasters/notesMaster1.xml" Id="R119e1a3be3ca4f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f6bff683fe4f17" /><Relationship Type="http://schemas.openxmlformats.org/officeDocument/2006/relationships/notesMaster" Target="/ppt/notesMasters/notesMaster1.xml" Id="R188f4d1d651d47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b64343e5a840d5" /><Relationship Type="http://schemas.openxmlformats.org/officeDocument/2006/relationships/notesMaster" Target="/ppt/notesMasters/notesMaster1.xml" Id="Ra24d67865f0347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dddef70eef495e" /><Relationship Type="http://schemas.openxmlformats.org/officeDocument/2006/relationships/notesMaster" Target="/ppt/notesMasters/notesMaster1.xml" Id="Rcdda2b9db32f41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da86f4136e4c9c" /><Relationship Type="http://schemas.openxmlformats.org/officeDocument/2006/relationships/notesMaster" Target="/ppt/notesMasters/notesMaster1.xml" Id="R42b2040822414b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4434fc81aa3464a" /><Relationship Type="http://schemas.openxmlformats.org/officeDocument/2006/relationships/notesMaster" Target="/ppt/notesMasters/notesMaster1.xml" Id="R4892cff29a454ae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d8c0c1a39e421f" /><Relationship Type="http://schemas.openxmlformats.org/officeDocument/2006/relationships/notesMaster" Target="/ppt/notesMasters/notesMaster1.xml" Id="R15a10926102148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e79f2ac3734349" /><Relationship Type="http://schemas.openxmlformats.org/officeDocument/2006/relationships/notesMaster" Target="/ppt/notesMasters/notesMaster1.xml" Id="R129dd525f534491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b3c286a023e4589" /><Relationship Type="http://schemas.openxmlformats.org/officeDocument/2006/relationships/notesMaster" Target="/ppt/notesMasters/notesMaster1.xml" Id="Rfdcdc3e7aa034a2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ab25966acb24541" /><Relationship Type="http://schemas.openxmlformats.org/officeDocument/2006/relationships/notesMaster" Target="/ppt/notesMasters/notesMaster1.xml" Id="R39ab26d4b5c048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c9ff663752440ea" /><Relationship Type="http://schemas.openxmlformats.org/officeDocument/2006/relationships/notesMaster" Target="/ppt/notesMasters/notesMaster1.xml" Id="Rbe90b55bfcc74c5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3b69f5bc6164600" /><Relationship Type="http://schemas.openxmlformats.org/officeDocument/2006/relationships/notesMaster" Target="/ppt/notesMasters/notesMaster1.xml" Id="R3002f8d56b2b44b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c40f1c687a14ab7" /><Relationship Type="http://schemas.openxmlformats.org/officeDocument/2006/relationships/notesMaster" Target="/ppt/notesMasters/notesMaster1.xml" Id="R73609143eca448f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bfb9622a8c243da" /><Relationship Type="http://schemas.openxmlformats.org/officeDocument/2006/relationships/notesMaster" Target="/ppt/notesMasters/notesMaster1.xml" Id="R8a181d2de843473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7417d84b310487d" /><Relationship Type="http://schemas.openxmlformats.org/officeDocument/2006/relationships/notesMaster" Target="/ppt/notesMasters/notesMaster1.xml" Id="R04b888de09de42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0:30</a:t>
            </a:r>
          </a:p>
          <a:p xmlns:a="http://schemas.openxmlformats.org/drawingml/2006/main">
            <a:r>
              <a:t/>
            </a:r>
          </a:p>
          <a:p xmlns:a="http://schemas.openxmlformats.org/drawingml/2006/main">
            <a:r>
              <a:t>Open with the project purpose: SPHERE turns a spacesuit thermal-control challenge into a measurable classroom experiment. Introduce the four-person team and preview the link between theory, the physical test, and Mission Control.</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output/pdf/SPHERE_Thermal_Insulation_Project_Report_Updated.pdf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Frame the laboratory as an engineering analogy. The ice bath emphasizes conduction and convection, while a real spacesuit in vacuum relies heavily on radiation control and active thermal management. Avoid claiming that the setup reproduces space.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1 and 2</a:t>
            </a:r>
          </a:p>
          <a:p xmlns:a="http://schemas.openxmlformats.org/drawingml/2006/main">
            <a:r>
              <a:t>- SPHERE Mission Control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Explain that the strongest project outcome is integration. Students move from theory to assembly, prediction, measurement, analysis and assessment without changing tools or terminology.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index.html</a:t>
            </a:r>
          </a:p>
          <a:p xmlns:a="http://schemas.openxmlformats.org/drawingml/2006/main">
            <a:r>
              <a:t>- student_manual.html</a:t>
            </a:r>
          </a:p>
          <a:p xmlns:a="http://schemas.openxmlformats.org/drawingml/2006/main">
            <a:r>
              <a:t>- teacher_manual.html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0:40</a:t>
            </a:r>
          </a:p>
          <a:p xmlns:a="http://schemas.openxmlformats.org/drawingml/2006/main">
            <a:r>
              <a:t/>
            </a:r>
          </a:p>
          <a:p xmlns:a="http://schemas.openxmlformats.org/drawingml/2006/main">
            <a:r>
              <a:t>Connect each learning objective to an observable student action. The complete classroom run takes about 55 to 70 minutes, although the final presentation summarizes it in under 15 minutes.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Engineering Project Report, Section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0:45</a:t>
            </a:r>
          </a:p>
          <a:p xmlns:a="http://schemas.openxmlformats.org/drawingml/2006/main">
            <a:r>
              <a:t/>
            </a:r>
          </a:p>
          <a:p xmlns:a="http://schemas.openxmlformats.org/drawingml/2006/main">
            <a:r>
              <a:t>Point out the separate bath probe, the centered core probe and the need for consistent immersion depth. The apparatus is deliberately simple, reusable and browser-independent at the sensing stage.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3 and 10</a:t>
            </a:r>
          </a:p>
          <a:p xmlns:a="http://schemas.openxmlformats.org/drawingml/2006/main">
            <a:r>
              <a:t>- Thermal_Insulation_SOP.docx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Describe the physical construction and keep the distinction between effective system coefficient k and material thermal conductivity λ. The current verified Mylar setting is 0.121 min⁻¹.</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app.js, modelConstants</a:t>
            </a:r>
          </a:p>
          <a:p xmlns:a="http://schemas.openxmlformats.org/drawingml/2006/main">
            <a:r>
              <a:t>- Student Manual, test configurations</a:t>
            </a:r>
          </a:p>
          <a:p xmlns:a="http://schemas.openxmlformats.org/drawingml/2006/main">
            <a:r>
              <a:t>- Engineering Project Report, Section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Explain the model as a lumped-parameter approximation. The effective k captures geometry, thermal mass, the boundary and every heat-loss path. It must not be presented as the thermal conductivity of cotton, bubble wrap or Mylar.</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2</a:t>
            </a:r>
          </a:p>
          <a:p xmlns:a="http://schemas.openxmlformats.org/drawingml/2006/main">
            <a:r>
              <a:t>- README.md, Engineering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Present safety as a design requirement. An adult handles hot water, every capsule is leak-tested, and only the metal probe enters water. Mention that the appendix contains the complete 12-step procedure.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4 and 10</a:t>
            </a:r>
          </a:p>
          <a:p xmlns:a="http://schemas.openxmlformats.org/drawingml/2006/main">
            <a:r>
              <a:t>- Thermal Insulation SOP, Safety and Control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Explain the closed loop. The website calculates the model but does not automate the thermometer. Students still observe and enter every value, then receive immediate visual and numerical feedback.</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index.html</a:t>
            </a:r>
          </a:p>
          <a:p xmlns:a="http://schemas.openxmlformats.org/drawingml/2006/main">
            <a:r>
              <a:t>- app.js</a:t>
            </a:r>
          </a:p>
          <a:p xmlns:a="http://schemas.openxmlformats.org/drawingml/2006/main">
            <a:r>
              <a:t>- Engineering Project Report, Section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2:00–3:00</a:t>
            </a:r>
          </a:p>
          <a:p xmlns:a="http://schemas.openxmlformats.org/drawingml/2006/main">
            <a:r>
              <a:t/>
            </a:r>
          </a:p>
          <a:p xmlns:a="http://schemas.openxmlformats.org/drawingml/2006/main">
            <a:r>
              <a:t>DEMO SCRIPT</a:t>
            </a:r>
          </a:p>
          <a:p xmlns:a="http://schemas.openxmlformats.org/drawingml/2006/main">
            <a:r>
              <a:t>1. Open Simulator. Select Multilayer assembly. Confirm T₀ = 80 °C, Tenv = 0 °C and 15 minutes.</a:t>
            </a:r>
          </a:p>
          <a:p xmlns:a="http://schemas.openxmlformats.org/drawingml/2006/main">
            <a:r>
              <a:t>2. Run the model and point to T(15) = 63.9 °C.</a:t>
            </a:r>
          </a:p>
          <a:p xmlns:a="http://schemas.openxmlformats.org/drawingml/2006/main">
            <a:r>
              <a:t>3. Open Measurements. Load or show the supplied full-MLI series. Point to 16/16 points and MAE = 0.98 °C.</a:t>
            </a:r>
          </a:p>
          <a:p xmlns:a="http://schemas.openxmlformats.org/drawingml/2006/main">
            <a:r>
              <a:t>4. Explain that residuals change sign because the measured curve does not follow one perfect exponential.</a:t>
            </a:r>
          </a:p>
          <a:p xmlns:a="http://schemas.openxmlformats.org/drawingml/2006/main">
            <a:r>
              <a:t/>
            </a:r>
          </a:p>
          <a:p xmlns:a="http://schemas.openxmlformats.org/drawingml/2006/main">
            <a:r>
              <a:t>Fallback: remain on this slide if Chart.js, KaTeX or web fonts do not load. The screenshots preserve the exact demonstration state.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SPHERE Mission Control local website</a:t>
            </a:r>
          </a:p>
          <a:p xmlns:a="http://schemas.openxmlformats.org/drawingml/2006/main">
            <a:r>
              <a:t>- Worked telemetry from Engineering Project Report, Section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0:55</a:t>
            </a:r>
          </a:p>
          <a:p xmlns:a="http://schemas.openxmlformats.org/drawingml/2006/main">
            <a:r>
              <a:t/>
            </a:r>
          </a:p>
          <a:p xmlns:a="http://schemas.openxmlformats.org/drawingml/2006/main">
            <a:r>
              <a:t>Use the chart to establish the expected ranking under one common starting point and boundary. State clearly that the coefficients are teaching references that require calibration for a new geometry or build.</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app.js, modelConstants</a:t>
            </a:r>
          </a:p>
          <a:p xmlns:a="http://schemas.openxmlformats.org/drawingml/2006/main">
            <a:r>
              <a:t>- Engineering Project Report, Section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1:10</a:t>
            </a:r>
          </a:p>
          <a:p xmlns:a="http://schemas.openxmlformats.org/drawingml/2006/main">
            <a:r>
              <a:t/>
            </a:r>
          </a:p>
          <a:p xmlns:a="http://schemas.openxmlformats.org/drawingml/2006/main">
            <a:r>
              <a:t>Compare temperature drop rather than final temperature alone because the four trials started at different values. The full MLI produced the smallest drop. Bubble wrap ranked second. The example is illustrative and does not replace repeated trials.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8</a:t>
            </a:r>
          </a:p>
          <a:p xmlns:a="http://schemas.openxmlformats.org/drawingml/2006/main">
            <a:r>
              <a:t>- Thermal Insulation SOP, complete observed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1:00</a:t>
            </a:r>
          </a:p>
          <a:p xmlns:a="http://schemas.openxmlformats.org/drawingml/2006/main">
            <a:r>
              <a:t/>
            </a:r>
          </a:p>
          <a:p xmlns:a="http://schemas.openxmlformats.org/drawingml/2006/main">
            <a:r>
              <a:t>Use the Mylar result to demonstrate engineering interpretation. The correct conclusion concerns the boundary and construction, not a universal property of reflective insulation. Name two or three uncertainty sources and explain their direction of influence.</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0:50</a:t>
            </a:r>
          </a:p>
          <a:p xmlns:a="http://schemas.openxmlformats.org/drawingml/2006/main">
            <a:r>
              <a:t/>
            </a:r>
          </a:p>
          <a:p xmlns:a="http://schemas.openxmlformats.org/drawingml/2006/main">
            <a:r>
              <a:t>Close on the integration outcome. State the current contribution attribution exactly as documented. Invite questions on the experiment, model, website or classroom implementation.</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Sections 11 and 12</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only if the audience asks about kit contents, reuse or feasibility.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10</a:t>
            </a:r>
          </a:p>
          <a:p xmlns:a="http://schemas.openxmlformats.org/drawingml/2006/main">
            <a:r>
              <a:t>- Thermal Insulation SOP, Hardware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This is the condensed presenter version of the complete SOP. Emphasize steps 5–7 when discussing hot-water handling.</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Thermal_Insulation_SOP.docx</a:t>
            </a:r>
          </a:p>
          <a:p xmlns:a="http://schemas.openxmlformats.org/drawingml/2006/main">
            <a:r>
              <a:t>- Experimental_Toolkit_Thermal_Insulation_SOP_Illustrated.docx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to answer questions about individual readings or to verify the plotted series.</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Engineering Project Report, Section 8</a:t>
            </a:r>
          </a:p>
          <a:p xmlns:a="http://schemas.openxmlformats.org/drawingml/2006/main">
            <a:r>
              <a:t>- Thermal Insulation SOP, Table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Explain why MAE is easier to interpret than signed average error: positive and negative residuals cannot cancel. A fitted k is a system-level estimate for the tested boundary and geometry.</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Engineering Project Report, Section 9</a:t>
            </a:r>
          </a:p>
          <a:p xmlns:a="http://schemas.openxmlformats.org/drawingml/2006/main">
            <a:r>
              <a:t>- app.js, telemetry calculation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timing: Backup</a:t>
            </a:r>
          </a:p>
          <a:p xmlns:a="http://schemas.openxmlformats.org/drawingml/2006/main">
            <a:r>
              <a:t/>
            </a:r>
          </a:p>
          <a:p xmlns:a="http://schemas.openxmlformats.org/drawingml/2006/main">
            <a:r>
              <a:t>Use this slide for questions about marking and learning verification. Question 4 remains open response because students must identify plausible physical causes of model deviation.</a:t>
            </a:r>
          </a:p>
          <a:p xmlns:a="http://schemas.openxmlformats.org/drawingml/2006/main">
            <a:r>
              <a:t/>
            </a:r>
          </a:p>
          <a:p xmlns:a="http://schemas.openxmlformats.org/drawingml/2006/main">
            <a:r>
              <a:t>Handoff cue: Pause for the next speaker or section when the final point lands.</a:t>
            </a:r>
          </a:p>
          <a:p xmlns:a="http://schemas.openxmlformats.org/drawingml/2006/main">
            <a:r>
              <a:t/>
            </a:r>
          </a:p>
          <a:p xmlns:a="http://schemas.openxmlformats.org/drawingml/2006/main">
            <a:r>
              <a:t>Sources:</a:t>
            </a:r>
          </a:p>
          <a:p xmlns:a="http://schemas.openxmlformats.org/drawingml/2006/main">
            <a:r>
              <a:t>- Teacher Manual, Assessment Guide</a:t>
            </a:r>
          </a:p>
          <a:p xmlns:a="http://schemas.openxmlformats.org/drawingml/2006/main">
            <a:r>
              <a:t>- index.html, Question Sheet</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c29f96c06343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862b1321ae4827" /><Relationship Type="http://schemas.openxmlformats.org/officeDocument/2006/relationships/slideLayout" Target="/ppt/slideLayouts/slideLayout1.xml" Id="R620fb84da0cc4a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0fb84da0cc4a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22133d7f4749fd" /><Relationship Type="http://schemas.openxmlformats.org/officeDocument/2006/relationships/image" Target="/ppt/media/image.png" Id="R77e2d9e779d74f3f" /><Relationship Type="http://schemas.openxmlformats.org/officeDocument/2006/relationships/notesSlide" Target="/ppt/notesSlides/notesSlide1.xml" Id="R0575573ba48545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8b48e6d50cb436b" /><Relationship Type="http://schemas.openxmlformats.org/officeDocument/2006/relationships/image" Target="/ppt/media/image.jpeg" Id="Rfeb57f1e5fa34dce" /><Relationship Type="http://schemas.openxmlformats.org/officeDocument/2006/relationships/notesSlide" Target="/ppt/notesSlides/notesSlide2.xml" Id="R0a0817a619f74f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04949b157e4050" /><Relationship Type="http://schemas.openxmlformats.org/officeDocument/2006/relationships/image" Target="/ppt/media/image2.png" Id="R1b655edf51bc4533" /><Relationship Type="http://schemas.openxmlformats.org/officeDocument/2006/relationships/notesSlide" Target="/ppt/notesSlides/notesSlide3.xml" Id="Rf32a962f19fc44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1d378b760ee40a5" /><Relationship Type="http://schemas.openxmlformats.org/officeDocument/2006/relationships/notesSlide" Target="/ppt/notesSlides/notesSlide4.xml" Id="Rdfe16bd7992a4d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9fa5845ad264a59" /><Relationship Type="http://schemas.openxmlformats.org/officeDocument/2006/relationships/image" Target="/ppt/media/image2.jpeg" Id="R516ba92281794f8a" /><Relationship Type="http://schemas.openxmlformats.org/officeDocument/2006/relationships/notesSlide" Target="/ppt/notesSlides/notesSlide5.xml" Id="R9359fac47e4746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a185592c3cc4499" /><Relationship Type="http://schemas.openxmlformats.org/officeDocument/2006/relationships/image" Target="/ppt/media/image3.jpeg" Id="R6c3cf6d6e76240d8" /><Relationship Type="http://schemas.openxmlformats.org/officeDocument/2006/relationships/image" Target="/ppt/media/image3.png" Id="R2e896d6511704ed6" /><Relationship Type="http://schemas.openxmlformats.org/officeDocument/2006/relationships/image" Target="/ppt/media/image4.jpeg" Id="R02db9f6418a64c59" /><Relationship Type="http://schemas.openxmlformats.org/officeDocument/2006/relationships/image" Target="/ppt/media/image4.png" Id="R7d4067afa6e8482f" /><Relationship Type="http://schemas.openxmlformats.org/officeDocument/2006/relationships/notesSlide" Target="/ppt/notesSlides/notesSlide6.xml" Id="Ra732b9740a8344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7fdcf88a6f642ca" /><Relationship Type="http://schemas.openxmlformats.org/officeDocument/2006/relationships/image" Target="/ppt/media/image5.png" Id="R55e4938543884cee" /><Relationship Type="http://schemas.openxmlformats.org/officeDocument/2006/relationships/notesSlide" Target="/ppt/notesSlides/notesSlide7.xml" Id="R0a3c889bf5184a4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e5e79ec34c54f17" /><Relationship Type="http://schemas.openxmlformats.org/officeDocument/2006/relationships/notesSlide" Target="/ppt/notesSlides/notesSlide8.xml" Id="R0dadfb707f834b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f02ce312c594c3c" /><Relationship Type="http://schemas.openxmlformats.org/officeDocument/2006/relationships/image" Target="/ppt/media/image6.png" Id="R052bc277c9ef4a71" /><Relationship Type="http://schemas.openxmlformats.org/officeDocument/2006/relationships/notesSlide" Target="/ppt/notesSlides/notesSlide9.xml" Id="Re6ac1b0febfb4a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07c3f61bb504a56" /><Relationship Type="http://schemas.openxmlformats.org/officeDocument/2006/relationships/image" Target="/ppt/media/image7.png" Id="Rc61fb9a0732d409c" /><Relationship Type="http://schemas.openxmlformats.org/officeDocument/2006/relationships/image" Target="/ppt/media/image8.png" Id="R44f09d9dd1ba4066" /><Relationship Type="http://schemas.openxmlformats.org/officeDocument/2006/relationships/notesSlide" Target="/ppt/notesSlides/notesSlide10.xml" Id="R77dcfaf6ba994d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ca093231a264a89" /><Relationship Type="http://schemas.openxmlformats.org/officeDocument/2006/relationships/chart" Target="/ppt/slides/charts/chart1.xml" Id="Re59be4670a2e4d34" /><Relationship Type="http://schemas.openxmlformats.org/officeDocument/2006/relationships/notesSlide" Target="/ppt/notesSlides/notesSlide11.xml" Id="Ra597fc0b11154a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935c4e705494db0" /><Relationship Type="http://schemas.openxmlformats.org/officeDocument/2006/relationships/chart" Target="/ppt/slides/charts/chart2.xml" Id="Re6a734d3cfb54803" /><Relationship Type="http://schemas.openxmlformats.org/officeDocument/2006/relationships/notesSlide" Target="/ppt/notesSlides/notesSlide12.xml" Id="Rb21b882fd4c44da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14a979496754c9f" /><Relationship Type="http://schemas.openxmlformats.org/officeDocument/2006/relationships/image" Target="/ppt/media/image9.png" Id="R37661228dff74030" /><Relationship Type="http://schemas.openxmlformats.org/officeDocument/2006/relationships/notesSlide" Target="/ppt/notesSlides/notesSlide13.xml" Id="R5c0f86bd9c154be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2c4e4ae6f9e47e2" /><Relationship Type="http://schemas.openxmlformats.org/officeDocument/2006/relationships/image" Target="/ppt/media/image10.png" Id="R753be233c8074db2" /><Relationship Type="http://schemas.openxmlformats.org/officeDocument/2006/relationships/notesSlide" Target="/ppt/notesSlides/notesSlide14.xml" Id="R801b7361d268461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4e2166554f24b56" /><Relationship Type="http://schemas.openxmlformats.org/officeDocument/2006/relationships/notesSlide" Target="/ppt/notesSlides/notesSlide15.xml" Id="R5f36443c0ab943f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b409c591c5d4626" /><Relationship Type="http://schemas.openxmlformats.org/officeDocument/2006/relationships/notesSlide" Target="/ppt/notesSlides/notesSlide16.xml" Id="R8cec278d840c4ef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7659f92d8cb429c" /><Relationship Type="http://schemas.openxmlformats.org/officeDocument/2006/relationships/notesSlide" Target="/ppt/notesSlides/notesSlide17.xml" Id="R07c9ee73f7c7436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12f347537d545f8" /><Relationship Type="http://schemas.openxmlformats.org/officeDocument/2006/relationships/notesSlide" Target="/ppt/notesSlides/notesSlide18.xml" Id="R810b158ab9d24df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01cb2b6ebc84399" /><Relationship Type="http://schemas.openxmlformats.org/officeDocument/2006/relationships/image" Target="/ppt/media/image11.png" Id="R929a5503ba35493f" /><Relationship Type="http://schemas.openxmlformats.org/officeDocument/2006/relationships/notesSlide" Target="/ppt/notesSlides/notesSlide19.xml" Id="R7dbcdaf5526041c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Bare control</c:v>
          </c:tx>
          <c:spPr>
            <a:ln xmlns:a="http://schemas.openxmlformats.org/drawingml/2006/main" w="28575">
              <a:solidFill>
                <a:srgbClr val="F05252"/>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80</c:v>
                </c:pt>
                <c:pt idx="1">
                  <c:v>68.86</c:v>
                </c:pt>
                <c:pt idx="2">
                  <c:v>59.27</c:v>
                </c:pt>
                <c:pt idx="3">
                  <c:v>51.01</c:v>
                </c:pt>
                <c:pt idx="4">
                  <c:v>43.9</c:v>
                </c:pt>
                <c:pt idx="5">
                  <c:v>37.79</c:v>
                </c:pt>
                <c:pt idx="6">
                  <c:v>32.53</c:v>
                </c:pt>
                <c:pt idx="7">
                  <c:v>28</c:v>
                </c:pt>
                <c:pt idx="8">
                  <c:v>24.1</c:v>
                </c:pt>
                <c:pt idx="9">
                  <c:v>20.74</c:v>
                </c:pt>
                <c:pt idx="10">
                  <c:v>17.85</c:v>
                </c:pt>
                <c:pt idx="11">
                  <c:v>15.36</c:v>
                </c:pt>
                <c:pt idx="12">
                  <c:v>13.22</c:v>
                </c:pt>
                <c:pt idx="13">
                  <c:v>11.38</c:v>
                </c:pt>
                <c:pt idx="14">
                  <c:v>9.8</c:v>
                </c:pt>
                <c:pt idx="15">
                  <c:v>8.43</c:v>
                </c:pt>
              </c:numCache>
            </c:numRef>
          </c:val>
        </c:ser>
        <c:ser>
          <c:idx val="1"/>
          <c:order val="1"/>
          <c:tx>
            <c:v>Bubble wrap</c:v>
          </c:tx>
          <c:spPr>
            <a:ln xmlns:a="http://schemas.openxmlformats.org/drawingml/2006/main" w="28575">
              <a:solidFill>
                <a:srgbClr val="22B8F0"/>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80</c:v>
                </c:pt>
                <c:pt idx="1">
                  <c:v>76.86</c:v>
                </c:pt>
                <c:pt idx="2">
                  <c:v>73.85</c:v>
                </c:pt>
                <c:pt idx="3">
                  <c:v>70.95</c:v>
                </c:pt>
                <c:pt idx="4">
                  <c:v>68.17</c:v>
                </c:pt>
                <c:pt idx="5">
                  <c:v>65.5</c:v>
                </c:pt>
                <c:pt idx="6">
                  <c:v>62.93</c:v>
                </c:pt>
                <c:pt idx="7">
                  <c:v>60.46</c:v>
                </c:pt>
                <c:pt idx="8">
                  <c:v>58.09</c:v>
                </c:pt>
                <c:pt idx="9">
                  <c:v>55.81</c:v>
                </c:pt>
                <c:pt idx="10">
                  <c:v>53.63</c:v>
                </c:pt>
                <c:pt idx="11">
                  <c:v>51.52</c:v>
                </c:pt>
                <c:pt idx="12">
                  <c:v>49.5</c:v>
                </c:pt>
                <c:pt idx="13">
                  <c:v>47.56</c:v>
                </c:pt>
                <c:pt idx="14">
                  <c:v>45.7</c:v>
                </c:pt>
                <c:pt idx="15">
                  <c:v>43.9</c:v>
                </c:pt>
              </c:numCache>
            </c:numRef>
          </c:val>
        </c:ser>
        <c:ser>
          <c:idx val="2"/>
          <c:order val="2"/>
          <c:tx>
            <c:v>Mylar only</c:v>
          </c:tx>
          <c:spPr>
            <a:ln xmlns:a="http://schemas.openxmlformats.org/drawingml/2006/main" w="28575">
              <a:solidFill>
                <a:srgbClr val="F59E0B"/>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c:v>
                </c:pt>
                <c:pt idx="1">
                  <c:v>70.88</c:v>
                </c:pt>
                <c:pt idx="2">
                  <c:v>62.8</c:v>
                </c:pt>
                <c:pt idx="3">
                  <c:v>55.65</c:v>
                </c:pt>
                <c:pt idx="4">
                  <c:v>49.31</c:v>
                </c:pt>
                <c:pt idx="5">
                  <c:v>43.69</c:v>
                </c:pt>
                <c:pt idx="6">
                  <c:v>38.71</c:v>
                </c:pt>
                <c:pt idx="7">
                  <c:v>34.3</c:v>
                </c:pt>
                <c:pt idx="8">
                  <c:v>30.39</c:v>
                </c:pt>
                <c:pt idx="9">
                  <c:v>26.92</c:v>
                </c:pt>
                <c:pt idx="10">
                  <c:v>23.86</c:v>
                </c:pt>
                <c:pt idx="11">
                  <c:v>21.14</c:v>
                </c:pt>
                <c:pt idx="12">
                  <c:v>18.73</c:v>
                </c:pt>
                <c:pt idx="13">
                  <c:v>16.59</c:v>
                </c:pt>
                <c:pt idx="14">
                  <c:v>14.7</c:v>
                </c:pt>
                <c:pt idx="15">
                  <c:v>13.03</c:v>
                </c:pt>
              </c:numCache>
            </c:numRef>
          </c:val>
        </c:ser>
        <c:ser>
          <c:idx val="3"/>
          <c:order val="3"/>
          <c:tx>
            <c:v>Full MLI</c:v>
          </c:tx>
          <c:spPr>
            <a:ln xmlns:a="http://schemas.openxmlformats.org/drawingml/2006/main" w="38100">
              <a:solidFill>
                <a:srgbClr val="21C98A"/>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c:v>
                </c:pt>
                <c:pt idx="1">
                  <c:v>78.81</c:v>
                </c:pt>
                <c:pt idx="2">
                  <c:v>77.64</c:v>
                </c:pt>
                <c:pt idx="3">
                  <c:v>76.48</c:v>
                </c:pt>
                <c:pt idx="4">
                  <c:v>75.34</c:v>
                </c:pt>
                <c:pt idx="5">
                  <c:v>74.22</c:v>
                </c:pt>
                <c:pt idx="6">
                  <c:v>73.11</c:v>
                </c:pt>
                <c:pt idx="7">
                  <c:v>72.03</c:v>
                </c:pt>
                <c:pt idx="8">
                  <c:v>70.95</c:v>
                </c:pt>
                <c:pt idx="9">
                  <c:v>69.9</c:v>
                </c:pt>
                <c:pt idx="10">
                  <c:v>68.86</c:v>
                </c:pt>
                <c:pt idx="11">
                  <c:v>67.83</c:v>
                </c:pt>
                <c:pt idx="12">
                  <c:v>66.82</c:v>
                </c:pt>
                <c:pt idx="13">
                  <c:v>65.83</c:v>
                </c:pt>
                <c:pt idx="14">
                  <c:v>64.85</c:v>
                </c:pt>
                <c:pt idx="15">
                  <c:v>63.88</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Full MLI</c:v>
          </c:tx>
          <c:spPr>
            <a:ln xmlns:a="http://schemas.openxmlformats.org/drawingml/2006/main" w="38100">
              <a:solidFill>
                <a:srgbClr val="21C98A"/>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77.6</c:v>
                </c:pt>
                <c:pt idx="1">
                  <c:v>76.6</c:v>
                </c:pt>
                <c:pt idx="2">
                  <c:v>76.1</c:v>
                </c:pt>
                <c:pt idx="3">
                  <c:v>75.6</c:v>
                </c:pt>
                <c:pt idx="4">
                  <c:v>75.1</c:v>
                </c:pt>
                <c:pt idx="5">
                  <c:v>74.5</c:v>
                </c:pt>
                <c:pt idx="6">
                  <c:v>73.9</c:v>
                </c:pt>
                <c:pt idx="7">
                  <c:v>73.5</c:v>
                </c:pt>
                <c:pt idx="8">
                  <c:v>72.1</c:v>
                </c:pt>
                <c:pt idx="9">
                  <c:v>70.6</c:v>
                </c:pt>
                <c:pt idx="10">
                  <c:v>69.7</c:v>
                </c:pt>
                <c:pt idx="11">
                  <c:v>68.5</c:v>
                </c:pt>
                <c:pt idx="12">
                  <c:v>67.4</c:v>
                </c:pt>
                <c:pt idx="13">
                  <c:v>65.8</c:v>
                </c:pt>
                <c:pt idx="14">
                  <c:v>64.1</c:v>
                </c:pt>
                <c:pt idx="15">
                  <c:v>62.7</c:v>
                </c:pt>
              </c:numCache>
            </c:numRef>
          </c:val>
        </c:ser>
        <c:ser>
          <c:idx val="1"/>
          <c:order val="1"/>
          <c:tx>
            <c:v>Bubble wrap</c:v>
          </c:tx>
          <c:spPr>
            <a:ln xmlns:a="http://schemas.openxmlformats.org/drawingml/2006/main" w="28575">
              <a:solidFill>
                <a:srgbClr val="22B8F0"/>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82.6</c:v>
                </c:pt>
                <c:pt idx="1">
                  <c:v>79</c:v>
                </c:pt>
                <c:pt idx="2">
                  <c:v>75.2</c:v>
                </c:pt>
                <c:pt idx="3">
                  <c:v>72.5</c:v>
                </c:pt>
                <c:pt idx="4">
                  <c:v>70</c:v>
                </c:pt>
                <c:pt idx="5">
                  <c:v>67.9</c:v>
                </c:pt>
                <c:pt idx="6">
                  <c:v>65.6</c:v>
                </c:pt>
                <c:pt idx="7">
                  <c:v>64</c:v>
                </c:pt>
                <c:pt idx="8">
                  <c:v>62.3</c:v>
                </c:pt>
                <c:pt idx="9">
                  <c:v>60.6</c:v>
                </c:pt>
                <c:pt idx="10">
                  <c:v>58.9</c:v>
                </c:pt>
                <c:pt idx="11">
                  <c:v>57.5</c:v>
                </c:pt>
                <c:pt idx="12">
                  <c:v>56.1</c:v>
                </c:pt>
                <c:pt idx="13">
                  <c:v>54.8</c:v>
                </c:pt>
                <c:pt idx="14">
                  <c:v>53.7</c:v>
                </c:pt>
                <c:pt idx="15">
                  <c:v>52.6</c:v>
                </c:pt>
              </c:numCache>
            </c:numRef>
          </c:val>
        </c:ser>
        <c:ser>
          <c:idx val="2"/>
          <c:order val="2"/>
          <c:tx>
            <c:v>Bare control</c:v>
          </c:tx>
          <c:spPr>
            <a:ln xmlns:a="http://schemas.openxmlformats.org/drawingml/2006/main" w="28575">
              <a:solidFill>
                <a:srgbClr val="F5F8FC"/>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80.1</c:v>
                </c:pt>
                <c:pt idx="1">
                  <c:v>73.9</c:v>
                </c:pt>
                <c:pt idx="2">
                  <c:v>66</c:v>
                </c:pt>
                <c:pt idx="3">
                  <c:v>59.9</c:v>
                </c:pt>
                <c:pt idx="4">
                  <c:v>54.5</c:v>
                </c:pt>
                <c:pt idx="5">
                  <c:v>50.1</c:v>
                </c:pt>
                <c:pt idx="6">
                  <c:v>47.1</c:v>
                </c:pt>
                <c:pt idx="7">
                  <c:v>44.6</c:v>
                </c:pt>
                <c:pt idx="8">
                  <c:v>42.5</c:v>
                </c:pt>
                <c:pt idx="9">
                  <c:v>40.9</c:v>
                </c:pt>
                <c:pt idx="10">
                  <c:v>39.5</c:v>
                </c:pt>
                <c:pt idx="11">
                  <c:v>38.2</c:v>
                </c:pt>
                <c:pt idx="12">
                  <c:v>37.3</c:v>
                </c:pt>
                <c:pt idx="13">
                  <c:v>36.5</c:v>
                </c:pt>
                <c:pt idx="14">
                  <c:v>35.8</c:v>
                </c:pt>
                <c:pt idx="15">
                  <c:v>35.2</c:v>
                </c:pt>
              </c:numCache>
            </c:numRef>
          </c:val>
        </c:ser>
        <c:ser>
          <c:idx val="3"/>
          <c:order val="3"/>
          <c:tx>
            <c:v>Mylar only</c:v>
          </c:tx>
          <c:spPr>
            <a:ln xmlns:a="http://schemas.openxmlformats.org/drawingml/2006/main" w="28575">
              <a:solidFill>
                <a:srgbClr val="F59E0B"/>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80.5</c:v>
                </c:pt>
                <c:pt idx="1">
                  <c:v>68.6</c:v>
                </c:pt>
                <c:pt idx="2">
                  <c:v>61.8</c:v>
                </c:pt>
                <c:pt idx="3">
                  <c:v>55.8</c:v>
                </c:pt>
                <c:pt idx="4">
                  <c:v>51.3</c:v>
                </c:pt>
                <c:pt idx="5">
                  <c:v>47.8</c:v>
                </c:pt>
                <c:pt idx="6">
                  <c:v>44.9</c:v>
                </c:pt>
                <c:pt idx="7">
                  <c:v>42.5</c:v>
                </c:pt>
                <c:pt idx="8">
                  <c:v>40.6</c:v>
                </c:pt>
                <c:pt idx="9">
                  <c:v>38.9</c:v>
                </c:pt>
                <c:pt idx="10">
                  <c:v>38.1</c:v>
                </c:pt>
                <c:pt idx="11">
                  <c:v>36.3</c:v>
                </c:pt>
                <c:pt idx="12">
                  <c:v>35.5</c:v>
                </c:pt>
                <c:pt idx="13">
                  <c:v>34.6</c:v>
                </c:pt>
                <c:pt idx="14">
                  <c:v>33.9</c:v>
                </c:pt>
                <c:pt idx="15">
                  <c:v>33.3</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29456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D8E4F2"/>
                    </a:solidFill>
                    <a:latin typeface="Avenir Next"/>
                    <a:ea typeface="Avenir Next"/>
                    <a:cs typeface="Avenir Next"/>
                  </a:rPr>
                  <a:t>Measured 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D8E4F2"/>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90A5BC"/>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D8E4F2"/>
              </a:solidFill>
              <a:latin typeface="Avenir Next"/>
              <a:ea typeface="Avenir Next"/>
              <a:cs typeface="Avenir Next"/>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7e2d9e779d74f3f"/>
          <a:srcRect xmlns:a="http://schemas.openxmlformats.org/drawingml/2006/main" l="9028" t="0" r="9028"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oundRect">
            <a:avLst>
              <a:gd name="adj" fmla="val 2034"/>
            </a:avLst>
          </a:prstGeom>
        </p:spPr>
      </p:pic>
      <p:sp>
        <p:nvSpPr>
          <p:cNvPr id="2" name="">
            <a:extLst xmlns:a="http://schemas.openxmlformats.org/drawingml/2006/main">
              <a:ext uri="{FF2B5EF4-FFF2-40B4-BE49-F238E27FC236}">
                <a16:creationId xmlns:a16="http://schemas.microsoft.com/office/drawing/2014/main" id="{5BD6550A-2C1C-4428-B1CB-D0A93DC08549}"/>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07122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30DDB27-E5E1-40C1-873A-F834CBA4EBB0}"/>
              </a:ext>
            </a:extLst>
          </p:cNvPr>
          <p:cNvSpPr>
            <a:spLocks xmlns:a="http://schemas.openxmlformats.org/drawingml/2006/main" noGrp="1"/>
          </p:cNvSpPr>
          <p:nvPr/>
        </p:nvSpPr>
        <p:spPr>
          <a:xfrm xmlns:a="http://schemas.openxmlformats.org/drawingml/2006/main">
            <a:off x="6572250" y="0"/>
            <a:ext cx="809625" cy="6858000"/>
          </a:xfrm>
          <a:prstGeom xmlns:a="http://schemas.openxmlformats.org/drawingml/2006/main" prst="rect">
            <a:avLst/>
          </a:prstGeom>
          <a:solidFill xmlns:a="http://schemas.openxmlformats.org/drawingml/2006/main">
            <a:srgbClr val="0C1B3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DE8977-87DD-44DB-BC41-12D2839C63FE}"/>
              </a:ext>
            </a:extLst>
          </p:cNvPr>
          <p:cNvSpPr>
            <a:spLocks xmlns:a="http://schemas.openxmlformats.org/drawingml/2006/main" noGrp="1"/>
          </p:cNvSpPr>
          <p:nvPr/>
        </p:nvSpPr>
        <p:spPr>
          <a:xfrm xmlns:a="http://schemas.openxmlformats.org/drawingml/2006/main">
            <a:off x="590550" y="5143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a:solidFill>
                  <a:srgbClr val="22B8F0"/>
                </a:solidFill>
                <a:latin typeface="Avenir Next"/>
                <a:ea typeface="Avenir Next"/>
                <a:cs typeface="Avenir Next"/>
              </a:defRPr>
            </a:pPr>
            <a:r>
              <a:rPr sz="1125" b="1">
                <a:solidFill>
                  <a:srgbClr val="22B8F0"/>
                </a:solidFill>
                <a:latin typeface="Avenir Next"/>
                <a:ea typeface="Avenir Next"/>
                <a:cs typeface="Avenir Next"/>
              </a:rPr>
              <a:t>TUM HUMAN SPACEFLIGHT TECHNOLOGY</a:t>
            </a:r>
          </a:p>
        </p:txBody>
      </p:sp>
      <p:sp>
        <p:nvSpPr>
          <p:cNvPr id="5" name="">
            <a:extLst xmlns:a="http://schemas.openxmlformats.org/drawingml/2006/main">
              <a:ext uri="{FF2B5EF4-FFF2-40B4-BE49-F238E27FC236}">
                <a16:creationId xmlns:a16="http://schemas.microsoft.com/office/drawing/2014/main" id="{CFC35DA1-D25E-4BB4-B837-0EBB82FEDFF0}"/>
              </a:ext>
            </a:extLst>
          </p:cNvPr>
          <p:cNvSpPr>
            <a:spLocks xmlns:a="http://schemas.openxmlformats.org/drawingml/2006/main" noGrp="1"/>
          </p:cNvSpPr>
          <p:nvPr/>
        </p:nvSpPr>
        <p:spPr>
          <a:xfrm xmlns:a="http://schemas.openxmlformats.org/drawingml/2006/main">
            <a:off x="590550" y="1257300"/>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655"/>
          </a:bodyPr>
          <a:lstStyle xmlns:a="http://schemas.openxmlformats.org/drawingml/2006/main"/>
          <a:p xmlns:a="http://schemas.openxmlformats.org/drawingml/2006/main">
            <a:pPr>
              <a:defRPr sz="4350" b="1">
                <a:solidFill>
                  <a:srgbClr val="F5F8FC"/>
                </a:solidFill>
                <a:latin typeface="Avenir Next"/>
                <a:ea typeface="Avenir Next"/>
                <a:cs typeface="Avenir Next"/>
              </a:defRPr>
            </a:pPr>
            <a:r>
              <a:rPr sz="4350" b="1">
                <a:solidFill>
                  <a:srgbClr val="F5F8FC"/>
                </a:solidFill>
                <a:latin typeface="Avenir Next"/>
                <a:ea typeface="Avenir Next"/>
                <a:cs typeface="Avenir Next"/>
              </a:rPr>
              <a:t>SPHERE</a:t>
            </a:r>
          </a:p>
        </p:txBody>
      </p:sp>
      <p:sp>
        <p:nvSpPr>
          <p:cNvPr id="6" name="">
            <a:extLst xmlns:a="http://schemas.openxmlformats.org/drawingml/2006/main">
              <a:ext uri="{FF2B5EF4-FFF2-40B4-BE49-F238E27FC236}">
                <a16:creationId xmlns:a16="http://schemas.microsoft.com/office/drawing/2014/main" id="{6F0E7D15-C341-49EC-B4B9-DBD88340AC7A}"/>
              </a:ext>
            </a:extLst>
          </p:cNvPr>
          <p:cNvSpPr>
            <a:spLocks xmlns:a="http://schemas.openxmlformats.org/drawingml/2006/main" noGrp="1"/>
          </p:cNvSpPr>
          <p:nvPr/>
        </p:nvSpPr>
        <p:spPr>
          <a:xfrm xmlns:a="http://schemas.openxmlformats.org/drawingml/2006/main">
            <a:off x="590550" y="1971675"/>
            <a:ext cx="552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79D8F7"/>
                </a:solidFill>
                <a:latin typeface="Avenir Next"/>
                <a:ea typeface="Avenir Next"/>
                <a:cs typeface="Avenir Next"/>
              </a:defRPr>
            </a:pPr>
            <a:r>
              <a:rPr sz="2700" b="1">
                <a:solidFill>
                  <a:srgbClr val="79D8F7"/>
                </a:solidFill>
                <a:latin typeface="Avenir Next"/>
                <a:ea typeface="Avenir Next"/>
                <a:cs typeface="Avenir Next"/>
              </a:rPr>
              <a:t>Thermal Insulation Laboratory</a:t>
            </a:r>
          </a:p>
        </p:txBody>
      </p:sp>
      <p:sp>
        <p:nvSpPr>
          <p:cNvPr id="7" name="">
            <a:extLst xmlns:a="http://schemas.openxmlformats.org/drawingml/2006/main">
              <a:ext uri="{FF2B5EF4-FFF2-40B4-BE49-F238E27FC236}">
                <a16:creationId xmlns:a16="http://schemas.microsoft.com/office/drawing/2014/main" id="{EE869448-CED9-44E8-A625-816E1B4FA58C}"/>
              </a:ext>
            </a:extLst>
          </p:cNvPr>
          <p:cNvSpPr>
            <a:spLocks xmlns:a="http://schemas.openxmlformats.org/drawingml/2006/main" noGrp="1"/>
          </p:cNvSpPr>
          <p:nvPr/>
        </p:nvSpPr>
        <p:spPr>
          <a:xfrm xmlns:a="http://schemas.openxmlformats.org/drawingml/2006/main">
            <a:off x="590550" y="2876550"/>
            <a:ext cx="5286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D8E4F2"/>
                </a:solidFill>
                <a:latin typeface="Avenir Next"/>
                <a:ea typeface="Avenir Next"/>
                <a:cs typeface="Avenir Next"/>
              </a:defRPr>
            </a:pPr>
            <a:r>
              <a:rPr sz="1800" b="0">
                <a:solidFill>
                  <a:srgbClr val="D8E4F2"/>
                </a:solidFill>
                <a:latin typeface="Avenir Next"/>
                <a:ea typeface="Avenir Next"/>
                <a:cs typeface="Avenir Next"/>
              </a:rPr>
              <a:t>A classroom experiment linking transient heat transfer, physical testing and model validation</a:t>
            </a:r>
          </a:p>
        </p:txBody>
      </p:sp>
      <p:sp>
        <p:nvSpPr>
          <p:cNvPr id="8" name="">
            <a:extLst xmlns:a="http://schemas.openxmlformats.org/drawingml/2006/main">
              <a:ext uri="{FF2B5EF4-FFF2-40B4-BE49-F238E27FC236}">
                <a16:creationId xmlns:a16="http://schemas.microsoft.com/office/drawing/2014/main" id="{B91CC870-3FAA-4E5C-83A6-83DFA2D6B505}"/>
              </a:ext>
            </a:extLst>
          </p:cNvPr>
          <p:cNvSpPr>
            <a:spLocks xmlns:a="http://schemas.openxmlformats.org/drawingml/2006/main" noGrp="1"/>
          </p:cNvSpPr>
          <p:nvPr/>
        </p:nvSpPr>
        <p:spPr>
          <a:xfrm xmlns:a="http://schemas.openxmlformats.org/drawingml/2006/main">
            <a:off x="590550" y="4019550"/>
            <a:ext cx="4762500" cy="38100"/>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E8D5B9D-9ED8-4F73-BA66-3B843AE30B23}"/>
              </a:ext>
            </a:extLst>
          </p:cNvPr>
          <p:cNvSpPr>
            <a:spLocks xmlns:a="http://schemas.openxmlformats.org/drawingml/2006/main" noGrp="1"/>
          </p:cNvSpPr>
          <p:nvPr/>
        </p:nvSpPr>
        <p:spPr>
          <a:xfrm xmlns:a="http://schemas.openxmlformats.org/drawingml/2006/main">
            <a:off x="590550" y="424815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F59E0B"/>
                </a:solidFill>
                <a:latin typeface="Avenir Next"/>
                <a:ea typeface="Avenir Next"/>
                <a:cs typeface="Avenir Next"/>
              </a:defRPr>
            </a:pPr>
            <a:r>
              <a:rPr sz="1200" b="1">
                <a:solidFill>
                  <a:srgbClr val="F59E0B"/>
                </a:solidFill>
                <a:latin typeface="Avenir Next"/>
                <a:ea typeface="Avenir Next"/>
                <a:cs typeface="Avenir Next"/>
              </a:rPr>
              <a:t>FINAL PROJECT PRESENTATION</a:t>
            </a:r>
          </a:p>
        </p:txBody>
      </p:sp>
      <p:sp>
        <p:nvSpPr>
          <p:cNvPr id="10" name="">
            <a:extLst xmlns:a="http://schemas.openxmlformats.org/drawingml/2006/main">
              <a:ext uri="{FF2B5EF4-FFF2-40B4-BE49-F238E27FC236}">
                <a16:creationId xmlns:a16="http://schemas.microsoft.com/office/drawing/2014/main" id="{16022418-DD52-4E80-A968-E694937860B5}"/>
              </a:ext>
            </a:extLst>
          </p:cNvPr>
          <p:cNvSpPr>
            <a:spLocks xmlns:a="http://schemas.openxmlformats.org/drawingml/2006/main" noGrp="1"/>
          </p:cNvSpPr>
          <p:nvPr/>
        </p:nvSpPr>
        <p:spPr>
          <a:xfrm xmlns:a="http://schemas.openxmlformats.org/drawingml/2006/main">
            <a:off x="590550" y="4714875"/>
            <a:ext cx="5381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F5F8FC"/>
                </a:solidFill>
                <a:latin typeface="Avenir Next"/>
                <a:ea typeface="Avenir Next"/>
                <a:cs typeface="Avenir Next"/>
              </a:defRPr>
            </a:pPr>
            <a:r>
              <a:rPr sz="1500" b="0">
                <a:solidFill>
                  <a:srgbClr val="F5F8FC"/>
                </a:solidFill>
                <a:latin typeface="Avenir Next"/>
                <a:ea typeface="Avenir Next"/>
                <a:cs typeface="Avenir Next"/>
              </a:rPr>
              <a:t>Piyath Vithanage  ·  Elio Krollpfeiffer</a:t>
            </a:r>
          </a:p>
          <a:p xmlns:a="http://schemas.openxmlformats.org/drawingml/2006/main">
            <a:pPr>
              <a:defRPr sz="1500" b="0">
                <a:solidFill>
                  <a:srgbClr val="F5F8FC"/>
                </a:solidFill>
                <a:latin typeface="Avenir Next"/>
                <a:ea typeface="Avenir Next"/>
                <a:cs typeface="Avenir Next"/>
              </a:defRPr>
            </a:pPr>
            <a:r>
              <a:rPr sz="1500" b="0">
                <a:solidFill>
                  <a:srgbClr val="F5F8FC"/>
                </a:solidFill>
                <a:latin typeface="Avenir Next"/>
                <a:ea typeface="Avenir Next"/>
                <a:cs typeface="Avenir Next"/>
              </a:rPr>
              <a:t>Dilan Fernando  ·  Nuhansee Migelhewage</a:t>
            </a:r>
          </a:p>
        </p:txBody>
      </p:sp>
      <p:sp>
        <p:nvSpPr>
          <p:cNvPr id="11" name="">
            <a:extLst xmlns:a="http://schemas.openxmlformats.org/drawingml/2006/main">
              <a:ext uri="{FF2B5EF4-FFF2-40B4-BE49-F238E27FC236}">
                <a16:creationId xmlns:a16="http://schemas.microsoft.com/office/drawing/2014/main" id="{CAC9609D-C17E-4569-8530-80E2597FA140}"/>
              </a:ext>
            </a:extLst>
          </p:cNvPr>
          <p:cNvSpPr>
            <a:spLocks xmlns:a="http://schemas.openxmlformats.org/drawingml/2006/main" noGrp="1"/>
          </p:cNvSpPr>
          <p:nvPr/>
        </p:nvSpPr>
        <p:spPr>
          <a:xfrm xmlns:a="http://schemas.openxmlformats.org/drawingml/2006/main">
            <a:off x="590550" y="605790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9 September 2026</a:t>
            </a:r>
          </a:p>
        </p:txBody>
      </p:sp>
    </p:spTree>
    <p:extLst>
      <p:ext uri="{BB962C8B-B14F-4D97-AF65-F5344CB8AC3E}">
        <p14:creationId xmlns:p14="http://schemas.microsoft.com/office/powerpoint/2010/main" val="1942398172"/>
      </p:ext>
    </p:extLst>
  </p:cSld>
</p:sld>
</file>

<file path=ppt/slides/slide2.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8E07B47-132A-49DB-9C21-D4B282D45CA9}"/>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371BE6CB-2639-4801-A012-D575BE16A58E}"/>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From spacesuit thermal control to a classroom experiment</a:t>
            </a:r>
          </a:p>
        </p:txBody>
      </p:sp>
      <p:sp>
        <p:nvSpPr>
          <p:cNvPr id="3" name="">
            <a:extLst xmlns:a="http://schemas.openxmlformats.org/drawingml/2006/main">
              <a:ext uri="{FF2B5EF4-FFF2-40B4-BE49-F238E27FC236}">
                <a16:creationId xmlns:a16="http://schemas.microsoft.com/office/drawing/2014/main" id="{C15D2B5D-CC93-4F10-A9FA-45E9E6206ABA}"/>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60068CD-9C25-4E79-B27A-AE8728A29ABD}"/>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0CC6F20F-F262-4E7A-B730-04747D55DBE4}"/>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02</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feb57f1e5fa34dce"/>
          <a:srcRect xmlns:a="http://schemas.openxmlformats.org/drawingml/2006/main" l="2909" t="0" r="2909" b="0"/>
          <a:stretch xmlns:a="http://schemas.openxmlformats.org/drawingml/2006/main">
            <a:fillRect l="0" t="0" r="0" b="0"/>
          </a:stretch>
        </p:blipFill>
        <p:spPr>
          <a:xfrm xmlns:a="http://schemas.openxmlformats.org/drawingml/2006/main">
            <a:off x="495300" y="1409700"/>
            <a:ext cx="5286375" cy="4191000"/>
          </a:xfrm>
          <a:prstGeom xmlns:a="http://schemas.openxmlformats.org/drawingml/2006/main" prst="roundRect">
            <a:avLst>
              <a:gd name="adj" fmla="val 2727"/>
            </a:avLst>
          </a:prstGeom>
        </p:spPr>
      </p:pic>
      <p:sp>
        <p:nvSpPr>
          <p:cNvPr id="7" name="">
            <a:extLst xmlns:a="http://schemas.openxmlformats.org/drawingml/2006/main">
              <a:ext uri="{FF2B5EF4-FFF2-40B4-BE49-F238E27FC236}">
                <a16:creationId xmlns:a16="http://schemas.microsoft.com/office/drawing/2014/main" id="{0A2EC8D7-9978-47C7-837B-8C9016F50304}"/>
              </a:ext>
            </a:extLst>
          </p:cNvPr>
          <p:cNvSpPr>
            <a:spLocks xmlns:a="http://schemas.openxmlformats.org/drawingml/2006/main" noGrp="1"/>
          </p:cNvSpPr>
          <p:nvPr/>
        </p:nvSpPr>
        <p:spPr>
          <a:xfrm xmlns:a="http://schemas.openxmlformats.org/drawingml/2006/main">
            <a:off x="6210300" y="1476375"/>
            <a:ext cx="457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THE ENGINEERING QUESTION</a:t>
            </a:r>
          </a:p>
        </p:txBody>
      </p:sp>
      <p:sp>
        <p:nvSpPr>
          <p:cNvPr id="8" name="">
            <a:extLst xmlns:a="http://schemas.openxmlformats.org/drawingml/2006/main">
              <a:ext uri="{FF2B5EF4-FFF2-40B4-BE49-F238E27FC236}">
                <a16:creationId xmlns:a16="http://schemas.microsoft.com/office/drawing/2014/main" id="{CF9EF929-0457-40CD-9028-EB9932A7E65E}"/>
              </a:ext>
            </a:extLst>
          </p:cNvPr>
          <p:cNvSpPr>
            <a:spLocks xmlns:a="http://schemas.openxmlformats.org/drawingml/2006/main" noGrp="1"/>
          </p:cNvSpPr>
          <p:nvPr/>
        </p:nvSpPr>
        <p:spPr>
          <a:xfrm xmlns:a="http://schemas.openxmlformats.org/drawingml/2006/main">
            <a:off x="6210300" y="17907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004"/>
          </a:bodyPr>
          <a:lstStyle xmlns:a="http://schemas.openxmlformats.org/drawingml/2006/main"/>
          <a:p xmlns:a="http://schemas.openxmlformats.org/drawingml/2006/main">
            <a:pPr>
              <a:defRPr sz="2325" b="1">
                <a:solidFill>
                  <a:srgbClr val="F5F8FC"/>
                </a:solidFill>
                <a:latin typeface="Avenir Next"/>
                <a:ea typeface="Avenir Next"/>
                <a:cs typeface="Avenir Next"/>
              </a:defRPr>
            </a:pPr>
            <a:r>
              <a:rPr sz="2325" b="1">
                <a:solidFill>
                  <a:srgbClr val="F5F8FC"/>
                </a:solidFill>
                <a:latin typeface="Avenir Next"/>
                <a:ea typeface="Avenir Next"/>
                <a:cs typeface="Avenir Next"/>
              </a:rPr>
              <a:t>How do layered materials change the transient cooling of a protected thermal mass?</a:t>
            </a:r>
          </a:p>
        </p:txBody>
      </p:sp>
      <p:sp>
        <p:nvSpPr>
          <p:cNvPr id="9" name="">
            <a:extLst xmlns:a="http://schemas.openxmlformats.org/drawingml/2006/main">
              <a:ext uri="{FF2B5EF4-FFF2-40B4-BE49-F238E27FC236}">
                <a16:creationId xmlns:a16="http://schemas.microsoft.com/office/drawing/2014/main" id="{B2581C84-50BE-4160-BEE4-8D375095C626}"/>
              </a:ext>
            </a:extLst>
          </p:cNvPr>
          <p:cNvSpPr>
            <a:spLocks xmlns:a="http://schemas.openxmlformats.org/drawingml/2006/main" noGrp="1"/>
          </p:cNvSpPr>
          <p:nvPr/>
        </p:nvSpPr>
        <p:spPr>
          <a:xfrm xmlns:a="http://schemas.openxmlformats.org/drawingml/2006/main">
            <a:off x="6210300" y="31242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5EB8AA5-3BCC-4A78-BFF0-DB10C1549FEA}"/>
              </a:ext>
            </a:extLst>
          </p:cNvPr>
          <p:cNvSpPr>
            <a:spLocks xmlns:a="http://schemas.openxmlformats.org/drawingml/2006/main" noGrp="1"/>
          </p:cNvSpPr>
          <p:nvPr/>
        </p:nvSpPr>
        <p:spPr>
          <a:xfrm xmlns:a="http://schemas.openxmlformats.org/drawingml/2006/main">
            <a:off x="6438900" y="304800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312"/>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Warm water represents the protected thermal mass.</a:t>
            </a:r>
          </a:p>
        </p:txBody>
      </p:sp>
      <p:sp>
        <p:nvSpPr>
          <p:cNvPr id="11" name="">
            <a:extLst xmlns:a="http://schemas.openxmlformats.org/drawingml/2006/main">
              <a:ext uri="{FF2B5EF4-FFF2-40B4-BE49-F238E27FC236}">
                <a16:creationId xmlns:a16="http://schemas.microsoft.com/office/drawing/2014/main" id="{5714392E-43A6-4192-AC57-D0F1EC847A90}"/>
              </a:ext>
            </a:extLst>
          </p:cNvPr>
          <p:cNvSpPr>
            <a:spLocks xmlns:a="http://schemas.openxmlformats.org/drawingml/2006/main" noGrp="1"/>
          </p:cNvSpPr>
          <p:nvPr/>
        </p:nvSpPr>
        <p:spPr>
          <a:xfrm xmlns:a="http://schemas.openxmlformats.org/drawingml/2006/main">
            <a:off x="6210300" y="36766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5BB545F-F78B-4501-8631-0026FCA58440}"/>
              </a:ext>
            </a:extLst>
          </p:cNvPr>
          <p:cNvSpPr>
            <a:spLocks xmlns:a="http://schemas.openxmlformats.org/drawingml/2006/main" noGrp="1"/>
          </p:cNvSpPr>
          <p:nvPr/>
        </p:nvSpPr>
        <p:spPr>
          <a:xfrm xmlns:a="http://schemas.openxmlformats.org/drawingml/2006/main">
            <a:off x="6438900" y="360045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24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An ice-water bath supplies a repeatable cold boundary.</a:t>
            </a:r>
          </a:p>
        </p:txBody>
      </p:sp>
      <p:sp>
        <p:nvSpPr>
          <p:cNvPr id="13" name="">
            <a:extLst xmlns:a="http://schemas.openxmlformats.org/drawingml/2006/main">
              <a:ext uri="{FF2B5EF4-FFF2-40B4-BE49-F238E27FC236}">
                <a16:creationId xmlns:a16="http://schemas.microsoft.com/office/drawing/2014/main" id="{F9BE76B9-47FF-4076-85A7-39F89D996F2F}"/>
              </a:ext>
            </a:extLst>
          </p:cNvPr>
          <p:cNvSpPr>
            <a:spLocks xmlns:a="http://schemas.openxmlformats.org/drawingml/2006/main" noGrp="1"/>
          </p:cNvSpPr>
          <p:nvPr/>
        </p:nvSpPr>
        <p:spPr>
          <a:xfrm xmlns:a="http://schemas.openxmlformats.org/drawingml/2006/main">
            <a:off x="6210300" y="42291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9A9E583-5088-4D5D-92C4-B92FDCE501A0}"/>
              </a:ext>
            </a:extLst>
          </p:cNvPr>
          <p:cNvSpPr>
            <a:spLocks xmlns:a="http://schemas.openxmlformats.org/drawingml/2006/main" noGrp="1"/>
          </p:cNvSpPr>
          <p:nvPr/>
        </p:nvSpPr>
        <p:spPr>
          <a:xfrm xmlns:a="http://schemas.openxmlformats.org/drawingml/2006/main">
            <a:off x="6438900" y="415290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859"/>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Four insulation builds create a controlled comparison.</a:t>
            </a:r>
          </a:p>
        </p:txBody>
      </p:sp>
      <p:sp>
        <p:nvSpPr>
          <p:cNvPr id="15" name="">
            <a:extLst xmlns:a="http://schemas.openxmlformats.org/drawingml/2006/main">
              <a:ext uri="{FF2B5EF4-FFF2-40B4-BE49-F238E27FC236}">
                <a16:creationId xmlns:a16="http://schemas.microsoft.com/office/drawing/2014/main" id="{7AF80AB6-8B39-44AB-AD4C-C8E8A3D3BF69}"/>
              </a:ext>
            </a:extLst>
          </p:cNvPr>
          <p:cNvSpPr>
            <a:spLocks xmlns:a="http://schemas.openxmlformats.org/drawingml/2006/main" noGrp="1"/>
          </p:cNvSpPr>
          <p:nvPr/>
        </p:nvSpPr>
        <p:spPr>
          <a:xfrm xmlns:a="http://schemas.openxmlformats.org/drawingml/2006/main">
            <a:off x="6210300" y="47815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17852C8-8818-4F2A-B8D4-7A5DBE798420}"/>
              </a:ext>
            </a:extLst>
          </p:cNvPr>
          <p:cNvSpPr>
            <a:spLocks xmlns:a="http://schemas.openxmlformats.org/drawingml/2006/main" noGrp="1"/>
          </p:cNvSpPr>
          <p:nvPr/>
        </p:nvSpPr>
        <p:spPr>
          <a:xfrm xmlns:a="http://schemas.openxmlformats.org/drawingml/2006/main">
            <a:off x="6438900" y="4705350"/>
            <a:ext cx="472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94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Prediction and observation meet in the same workflow.</a:t>
            </a:r>
          </a:p>
        </p:txBody>
      </p:sp>
      <p:sp>
        <p:nvSpPr>
          <p:cNvPr id="17" name="">
            <a:extLst xmlns:a="http://schemas.openxmlformats.org/drawingml/2006/main">
              <a:ext uri="{FF2B5EF4-FFF2-40B4-BE49-F238E27FC236}">
                <a16:creationId xmlns:a16="http://schemas.microsoft.com/office/drawing/2014/main" id="{635EB711-95C3-4AB2-93E8-A1E3106B2693}"/>
              </a:ext>
            </a:extLst>
          </p:cNvPr>
          <p:cNvSpPr>
            <a:spLocks xmlns:a="http://schemas.openxmlformats.org/drawingml/2006/main" noGrp="1"/>
          </p:cNvSpPr>
          <p:nvPr/>
        </p:nvSpPr>
        <p:spPr>
          <a:xfrm xmlns:a="http://schemas.openxmlformats.org/drawingml/2006/main">
            <a:off x="6210300" y="5391150"/>
            <a:ext cx="4953000" cy="533400"/>
          </a:xfrm>
          <a:prstGeom xmlns:a="http://schemas.openxmlformats.org/drawingml/2006/main" prst="roundRect">
            <a:avLst>
              <a:gd name="adj" fmla="val 14286"/>
            </a:avLst>
          </a:prstGeom>
          <a:solidFill xmlns:a="http://schemas.openxmlformats.org/drawingml/2006/main">
            <a:srgbClr val="112744"/>
          </a:solidFill>
          <a:ln xmlns:a="http://schemas.openxmlformats.org/drawingml/2006/main" w="9525">
            <a:solidFill>
              <a:srgbClr val="294564"/>
            </a:solidFill>
            <a:prstDash val="solid"/>
          </a:ln>
        </p:spPr>
      </p:sp>
      <p:sp>
        <p:nvSpPr>
          <p:cNvPr id="18" name="">
            <a:extLst xmlns:a="http://schemas.openxmlformats.org/drawingml/2006/main">
              <a:ext uri="{FF2B5EF4-FFF2-40B4-BE49-F238E27FC236}">
                <a16:creationId xmlns:a16="http://schemas.microsoft.com/office/drawing/2014/main" id="{A838CC00-7B66-4CC6-A0F2-6F00B031ED76}"/>
              </a:ext>
            </a:extLst>
          </p:cNvPr>
          <p:cNvSpPr>
            <a:spLocks xmlns:a="http://schemas.openxmlformats.org/drawingml/2006/main" noGrp="1"/>
          </p:cNvSpPr>
          <p:nvPr/>
        </p:nvSpPr>
        <p:spPr>
          <a:xfrm xmlns:a="http://schemas.openxmlformats.org/drawingml/2006/main">
            <a:off x="6419850" y="552450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625"/>
          </a:bodyPr>
          <a:lstStyle xmlns:a="http://schemas.openxmlformats.org/drawingml/2006/main"/>
          <a:p xmlns:a="http://schemas.openxmlformats.org/drawingml/2006/main">
            <a:pPr>
              <a:defRPr sz="1350" b="1">
                <a:solidFill>
                  <a:srgbClr val="79D8F7"/>
                </a:solidFill>
                <a:latin typeface="Avenir Next"/>
                <a:ea typeface="Avenir Next"/>
                <a:cs typeface="Avenir Next"/>
              </a:defRPr>
            </a:pPr>
            <a:r>
              <a:rPr sz="1350" b="1">
                <a:solidFill>
                  <a:srgbClr val="79D8F7"/>
                </a:solidFill>
                <a:latin typeface="Avenir Next"/>
                <a:ea typeface="Avenir Next"/>
                <a:cs typeface="Avenir Next"/>
              </a:rPr>
              <a:t>Analogy to spacecraft thermal control, not a vacuum simulation</a:t>
            </a:r>
          </a:p>
        </p:txBody>
      </p:sp>
    </p:spTree>
    <p:extLst>
      <p:ext uri="{BB962C8B-B14F-4D97-AF65-F5344CB8AC3E}">
        <p14:creationId xmlns:p14="http://schemas.microsoft.com/office/powerpoint/2010/main" val="396410698"/>
      </p:ext>
    </p:extLst>
  </p:cSld>
</p:sld>
</file>

<file path=ppt/slides/slide3.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1F27654-854F-4CC2-B9BB-4E443B29AACF}"/>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26868CC6-2ADA-4297-9365-CAB7710617A2}"/>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One project connects experiment, software and assessment</a:t>
            </a:r>
          </a:p>
        </p:txBody>
      </p:sp>
      <p:sp>
        <p:nvSpPr>
          <p:cNvPr id="3" name="">
            <a:extLst xmlns:a="http://schemas.openxmlformats.org/drawingml/2006/main">
              <a:ext uri="{FF2B5EF4-FFF2-40B4-BE49-F238E27FC236}">
                <a16:creationId xmlns:a16="http://schemas.microsoft.com/office/drawing/2014/main" id="{566EF49E-35EB-464F-BA12-C0F148E59290}"/>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8F74C47-FFF8-4DDD-BB17-20CBD583EB95}"/>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1116094D-735D-494A-8387-73177330D65C}"/>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03</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1b655edf51bc4533"/>
          <a:srcRect xmlns:a="http://schemas.openxmlformats.org/drawingml/2006/main" l="0" t="1429" r="0" b="1429"/>
          <a:stretch xmlns:a="http://schemas.openxmlformats.org/drawingml/2006/main">
            <a:fillRect l="0" t="0" r="0" b="0"/>
          </a:stretch>
        </p:blipFill>
        <p:spPr>
          <a:xfrm xmlns:a="http://schemas.openxmlformats.org/drawingml/2006/main">
            <a:off x="495300" y="1428750"/>
            <a:ext cx="6667500" cy="4048125"/>
          </a:xfrm>
          <a:prstGeom xmlns:a="http://schemas.openxmlformats.org/drawingml/2006/main" prst="roundRect">
            <a:avLst>
              <a:gd name="adj" fmla="val 2824"/>
            </a:avLst>
          </a:prstGeom>
        </p:spPr>
      </p:pic>
      <p:sp>
        <p:nvSpPr>
          <p:cNvPr id="7" name="">
            <a:extLst xmlns:a="http://schemas.openxmlformats.org/drawingml/2006/main">
              <a:ext uri="{FF2B5EF4-FFF2-40B4-BE49-F238E27FC236}">
                <a16:creationId xmlns:a16="http://schemas.microsoft.com/office/drawing/2014/main" id="{890EE688-7488-40E3-8B6B-919BE1FBF05A}"/>
              </a:ext>
            </a:extLst>
          </p:cNvPr>
          <p:cNvSpPr>
            <a:spLocks xmlns:a="http://schemas.openxmlformats.org/drawingml/2006/main" noGrp="1"/>
          </p:cNvSpPr>
          <p:nvPr/>
        </p:nvSpPr>
        <p:spPr>
          <a:xfrm xmlns:a="http://schemas.openxmlformats.org/drawingml/2006/main">
            <a:off x="7639050" y="1476375"/>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DELIVERABLE SUITE</a:t>
            </a:r>
          </a:p>
        </p:txBody>
      </p:sp>
      <p:sp>
        <p:nvSpPr>
          <p:cNvPr id="8" name="">
            <a:extLst xmlns:a="http://schemas.openxmlformats.org/drawingml/2006/main">
              <a:ext uri="{FF2B5EF4-FFF2-40B4-BE49-F238E27FC236}">
                <a16:creationId xmlns:a16="http://schemas.microsoft.com/office/drawing/2014/main" id="{11FE2387-D302-479D-A2F3-AAC7F893AAE8}"/>
              </a:ext>
            </a:extLst>
          </p:cNvPr>
          <p:cNvSpPr>
            <a:spLocks xmlns:a="http://schemas.openxmlformats.org/drawingml/2006/main" noGrp="1"/>
          </p:cNvSpPr>
          <p:nvPr/>
        </p:nvSpPr>
        <p:spPr>
          <a:xfrm xmlns:a="http://schemas.openxmlformats.org/drawingml/2006/main">
            <a:off x="7639050" y="19240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95EFB08-E201-4106-B18D-9B40DC2F2C41}"/>
              </a:ext>
            </a:extLst>
          </p:cNvPr>
          <p:cNvSpPr>
            <a:spLocks xmlns:a="http://schemas.openxmlformats.org/drawingml/2006/main" noGrp="1"/>
          </p:cNvSpPr>
          <p:nvPr/>
        </p:nvSpPr>
        <p:spPr>
          <a:xfrm xmlns:a="http://schemas.openxmlformats.org/drawingml/2006/main">
            <a:off x="7867650" y="184785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112"/>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Mission Control browser application</a:t>
            </a:r>
          </a:p>
        </p:txBody>
      </p:sp>
      <p:sp>
        <p:nvSpPr>
          <p:cNvPr id="10" name="">
            <a:extLst xmlns:a="http://schemas.openxmlformats.org/drawingml/2006/main">
              <a:ext uri="{FF2B5EF4-FFF2-40B4-BE49-F238E27FC236}">
                <a16:creationId xmlns:a16="http://schemas.microsoft.com/office/drawing/2014/main" id="{191170EF-D2EE-4B79-9315-107DC05CB49E}"/>
              </a:ext>
            </a:extLst>
          </p:cNvPr>
          <p:cNvSpPr>
            <a:spLocks xmlns:a="http://schemas.openxmlformats.org/drawingml/2006/main" noGrp="1"/>
          </p:cNvSpPr>
          <p:nvPr/>
        </p:nvSpPr>
        <p:spPr>
          <a:xfrm xmlns:a="http://schemas.openxmlformats.org/drawingml/2006/main">
            <a:off x="7639050" y="248602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AA0B800-0096-49B9-8CC6-702FD2012730}"/>
              </a:ext>
            </a:extLst>
          </p:cNvPr>
          <p:cNvSpPr>
            <a:spLocks xmlns:a="http://schemas.openxmlformats.org/drawingml/2006/main" noGrp="1"/>
          </p:cNvSpPr>
          <p:nvPr/>
        </p:nvSpPr>
        <p:spPr>
          <a:xfrm xmlns:a="http://schemas.openxmlformats.org/drawingml/2006/main">
            <a:off x="7867650" y="240982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Student and teacher manuals</a:t>
            </a:r>
          </a:p>
        </p:txBody>
      </p:sp>
      <p:sp>
        <p:nvSpPr>
          <p:cNvPr id="12" name="">
            <a:extLst xmlns:a="http://schemas.openxmlformats.org/drawingml/2006/main">
              <a:ext uri="{FF2B5EF4-FFF2-40B4-BE49-F238E27FC236}">
                <a16:creationId xmlns:a16="http://schemas.microsoft.com/office/drawing/2014/main" id="{827CC5BF-E7B1-49E6-8B84-8E62F34CAE13}"/>
              </a:ext>
            </a:extLst>
          </p:cNvPr>
          <p:cNvSpPr>
            <a:spLocks xmlns:a="http://schemas.openxmlformats.org/drawingml/2006/main" noGrp="1"/>
          </p:cNvSpPr>
          <p:nvPr/>
        </p:nvSpPr>
        <p:spPr>
          <a:xfrm xmlns:a="http://schemas.openxmlformats.org/drawingml/2006/main">
            <a:off x="7639050" y="30480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FC859D4-4F4F-4CE0-9C92-64D6E099AB5C}"/>
              </a:ext>
            </a:extLst>
          </p:cNvPr>
          <p:cNvSpPr>
            <a:spLocks xmlns:a="http://schemas.openxmlformats.org/drawingml/2006/main" noGrp="1"/>
          </p:cNvSpPr>
          <p:nvPr/>
        </p:nvSpPr>
        <p:spPr>
          <a:xfrm xmlns:a="http://schemas.openxmlformats.org/drawingml/2006/main">
            <a:off x="7867650" y="297180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Illustrated experimental SOP</a:t>
            </a:r>
          </a:p>
        </p:txBody>
      </p:sp>
      <p:sp>
        <p:nvSpPr>
          <p:cNvPr id="14" name="">
            <a:extLst xmlns:a="http://schemas.openxmlformats.org/drawingml/2006/main">
              <a:ext uri="{FF2B5EF4-FFF2-40B4-BE49-F238E27FC236}">
                <a16:creationId xmlns:a16="http://schemas.microsoft.com/office/drawing/2014/main" id="{B1B97E78-C146-4223-A749-F8BA0D1F7A28}"/>
              </a:ext>
            </a:extLst>
          </p:cNvPr>
          <p:cNvSpPr>
            <a:spLocks xmlns:a="http://schemas.openxmlformats.org/drawingml/2006/main" noGrp="1"/>
          </p:cNvSpPr>
          <p:nvPr/>
        </p:nvSpPr>
        <p:spPr>
          <a:xfrm xmlns:a="http://schemas.openxmlformats.org/drawingml/2006/main">
            <a:off x="7639050" y="360997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2887458-83DE-47F6-9B75-1211BEDD9587}"/>
              </a:ext>
            </a:extLst>
          </p:cNvPr>
          <p:cNvSpPr>
            <a:spLocks xmlns:a="http://schemas.openxmlformats.org/drawingml/2006/main" noGrp="1"/>
          </p:cNvSpPr>
          <p:nvPr/>
        </p:nvSpPr>
        <p:spPr>
          <a:xfrm xmlns:a="http://schemas.openxmlformats.org/drawingml/2006/main">
            <a:off x="7867650" y="353377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Two-page task sheet</a:t>
            </a:r>
          </a:p>
        </p:txBody>
      </p:sp>
      <p:sp>
        <p:nvSpPr>
          <p:cNvPr id="16" name="">
            <a:extLst xmlns:a="http://schemas.openxmlformats.org/drawingml/2006/main">
              <a:ext uri="{FF2B5EF4-FFF2-40B4-BE49-F238E27FC236}">
                <a16:creationId xmlns:a16="http://schemas.microsoft.com/office/drawing/2014/main" id="{08C993D3-991D-4642-B99D-78E49D34D0CB}"/>
              </a:ext>
            </a:extLst>
          </p:cNvPr>
          <p:cNvSpPr>
            <a:spLocks xmlns:a="http://schemas.openxmlformats.org/drawingml/2006/main" noGrp="1"/>
          </p:cNvSpPr>
          <p:nvPr/>
        </p:nvSpPr>
        <p:spPr>
          <a:xfrm xmlns:a="http://schemas.openxmlformats.org/drawingml/2006/main">
            <a:off x="7639050" y="41719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FE3B96B-D47A-4907-898F-BA3A315CD111}"/>
              </a:ext>
            </a:extLst>
          </p:cNvPr>
          <p:cNvSpPr>
            <a:spLocks xmlns:a="http://schemas.openxmlformats.org/drawingml/2006/main" noGrp="1"/>
          </p:cNvSpPr>
          <p:nvPr/>
        </p:nvSpPr>
        <p:spPr>
          <a:xfrm xmlns:a="http://schemas.openxmlformats.org/drawingml/2006/main">
            <a:off x="7867650" y="4095750"/>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Revision flashcards</a:t>
            </a:r>
          </a:p>
        </p:txBody>
      </p:sp>
      <p:sp>
        <p:nvSpPr>
          <p:cNvPr id="18" name="">
            <a:extLst xmlns:a="http://schemas.openxmlformats.org/drawingml/2006/main">
              <a:ext uri="{FF2B5EF4-FFF2-40B4-BE49-F238E27FC236}">
                <a16:creationId xmlns:a16="http://schemas.microsoft.com/office/drawing/2014/main" id="{E0286B42-5958-47A3-9FBB-22CEF72B0040}"/>
              </a:ext>
            </a:extLst>
          </p:cNvPr>
          <p:cNvSpPr>
            <a:spLocks xmlns:a="http://schemas.openxmlformats.org/drawingml/2006/main" noGrp="1"/>
          </p:cNvSpPr>
          <p:nvPr/>
        </p:nvSpPr>
        <p:spPr>
          <a:xfrm xmlns:a="http://schemas.openxmlformats.org/drawingml/2006/main">
            <a:off x="7639050" y="473392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9546BCB-D497-4ABE-A11C-A50296539F88}"/>
              </a:ext>
            </a:extLst>
          </p:cNvPr>
          <p:cNvSpPr>
            <a:spLocks xmlns:a="http://schemas.openxmlformats.org/drawingml/2006/main" noGrp="1"/>
          </p:cNvSpPr>
          <p:nvPr/>
        </p:nvSpPr>
        <p:spPr>
          <a:xfrm xmlns:a="http://schemas.openxmlformats.org/drawingml/2006/main">
            <a:off x="7867650" y="4657725"/>
            <a:ext cx="34385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Unified ten-question assessment</a:t>
            </a:r>
          </a:p>
        </p:txBody>
      </p:sp>
      <p:sp>
        <p:nvSpPr>
          <p:cNvPr id="20" name="">
            <a:extLst xmlns:a="http://schemas.openxmlformats.org/drawingml/2006/main">
              <a:ext uri="{FF2B5EF4-FFF2-40B4-BE49-F238E27FC236}">
                <a16:creationId xmlns:a16="http://schemas.microsoft.com/office/drawing/2014/main" id="{8E54A5CE-C067-4824-BF8E-D9B2D4F2B2D5}"/>
              </a:ext>
            </a:extLst>
          </p:cNvPr>
          <p:cNvSpPr>
            <a:spLocks xmlns:a="http://schemas.openxmlformats.org/drawingml/2006/main" noGrp="1"/>
          </p:cNvSpPr>
          <p:nvPr/>
        </p:nvSpPr>
        <p:spPr>
          <a:xfrm xmlns:a="http://schemas.openxmlformats.org/drawingml/2006/main">
            <a:off x="7639050" y="5391150"/>
            <a:ext cx="3600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642"/>
          </a:bodyPr>
          <a:lstStyle xmlns:a="http://schemas.openxmlformats.org/drawingml/2006/main"/>
          <a:p xmlns:a="http://schemas.openxmlformats.org/drawingml/2006/main">
            <a:pPr>
              <a:defRPr sz="1500" b="1">
                <a:solidFill>
                  <a:srgbClr val="79D8F7"/>
                </a:solidFill>
                <a:latin typeface="Avenir Next"/>
                <a:ea typeface="Avenir Next"/>
                <a:cs typeface="Avenir Next"/>
              </a:defRPr>
            </a:pPr>
            <a:r>
              <a:rPr sz="1500" b="1">
                <a:solidFill>
                  <a:srgbClr val="79D8F7"/>
                </a:solidFill>
                <a:latin typeface="Avenir Next"/>
                <a:ea typeface="Avenir Next"/>
                <a:cs typeface="Avenir Next"/>
              </a:rPr>
              <a:t>The same settings and terminology now appear across every learning resource.</a:t>
            </a:r>
          </a:p>
        </p:txBody>
      </p:sp>
    </p:spTree>
    <p:extLst>
      <p:ext uri="{BB962C8B-B14F-4D97-AF65-F5344CB8AC3E}">
        <p14:creationId xmlns:p14="http://schemas.microsoft.com/office/powerpoint/2010/main" val="585877388"/>
      </p:ext>
    </p:extLst>
  </p:cSld>
</p:sld>
</file>

<file path=ppt/slides/slide4.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953469E-47A2-4BA2-B26B-1E8EFB1DDDA7}"/>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8D545350-D6D9-40D8-B20A-A076F96EDEF3}"/>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Learning objectives and classroom constraints</a:t>
            </a:r>
          </a:p>
        </p:txBody>
      </p:sp>
      <p:sp>
        <p:nvSpPr>
          <p:cNvPr id="3" name="">
            <a:extLst xmlns:a="http://schemas.openxmlformats.org/drawingml/2006/main">
              <a:ext uri="{FF2B5EF4-FFF2-40B4-BE49-F238E27FC236}">
                <a16:creationId xmlns:a16="http://schemas.microsoft.com/office/drawing/2014/main" id="{DFD59C64-599C-4A61-8351-E7B92A2A7BC9}"/>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2D940E8-A94E-4C47-AF28-DF24F190C4B4}"/>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6DA14315-DB5F-4422-B84D-F83D56BD9C0B}"/>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04</a:t>
            </a:r>
          </a:p>
        </p:txBody>
      </p:sp>
      <p:sp>
        <p:nvSpPr>
          <p:cNvPr id="6" name="">
            <a:extLst xmlns:a="http://schemas.openxmlformats.org/drawingml/2006/main">
              <a:ext uri="{FF2B5EF4-FFF2-40B4-BE49-F238E27FC236}">
                <a16:creationId xmlns:a16="http://schemas.microsoft.com/office/drawing/2014/main" id="{E5B97463-560B-4BAC-9773-09778EC14FB3}"/>
              </a:ext>
            </a:extLst>
          </p:cNvPr>
          <p:cNvSpPr>
            <a:spLocks xmlns:a="http://schemas.openxmlformats.org/drawingml/2006/main" noGrp="1"/>
          </p:cNvSpPr>
          <p:nvPr/>
        </p:nvSpPr>
        <p:spPr>
          <a:xfrm xmlns:a="http://schemas.openxmlformats.org/drawingml/2006/main">
            <a:off x="571500" y="1466850"/>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8E935734-583D-4A76-82FA-F027022CC856}"/>
              </a:ext>
            </a:extLst>
          </p:cNvPr>
          <p:cNvSpPr>
            <a:spLocks xmlns:a="http://schemas.openxmlformats.org/drawingml/2006/main" noGrp="1"/>
          </p:cNvSpPr>
          <p:nvPr/>
        </p:nvSpPr>
        <p:spPr>
          <a:xfrm xmlns:a="http://schemas.openxmlformats.org/drawingml/2006/main">
            <a:off x="1238250" y="146685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Heat-transfer mechanisms</a:t>
            </a:r>
          </a:p>
        </p:txBody>
      </p:sp>
      <p:sp>
        <p:nvSpPr>
          <p:cNvPr id="8" name="">
            <a:extLst xmlns:a="http://schemas.openxmlformats.org/drawingml/2006/main">
              <a:ext uri="{FF2B5EF4-FFF2-40B4-BE49-F238E27FC236}">
                <a16:creationId xmlns:a16="http://schemas.microsoft.com/office/drawing/2014/main" id="{DD478832-046B-4C84-B578-E595A0DCFDC5}"/>
              </a:ext>
            </a:extLst>
          </p:cNvPr>
          <p:cNvSpPr>
            <a:spLocks xmlns:a="http://schemas.openxmlformats.org/drawingml/2006/main" noGrp="1"/>
          </p:cNvSpPr>
          <p:nvPr/>
        </p:nvSpPr>
        <p:spPr>
          <a:xfrm xmlns:a="http://schemas.openxmlformats.org/drawingml/2006/main">
            <a:off x="4476750" y="14668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Distinguish conduction, convection and radiation in the test system.</a:t>
            </a:r>
          </a:p>
        </p:txBody>
      </p:sp>
      <p:sp>
        <p:nvSpPr>
          <p:cNvPr id="9" name="">
            <a:extLst xmlns:a="http://schemas.openxmlformats.org/drawingml/2006/main">
              <a:ext uri="{FF2B5EF4-FFF2-40B4-BE49-F238E27FC236}">
                <a16:creationId xmlns:a16="http://schemas.microsoft.com/office/drawing/2014/main" id="{AF1BC6FA-7171-4867-AEBF-3C8AF5210B19}"/>
              </a:ext>
            </a:extLst>
          </p:cNvPr>
          <p:cNvSpPr>
            <a:spLocks xmlns:a="http://schemas.openxmlformats.org/drawingml/2006/main" noGrp="1"/>
          </p:cNvSpPr>
          <p:nvPr/>
        </p:nvSpPr>
        <p:spPr>
          <a:xfrm xmlns:a="http://schemas.openxmlformats.org/drawingml/2006/main">
            <a:off x="571500" y="2133600"/>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ABBB98F-2F99-4CF7-A06D-7A6385E5A769}"/>
              </a:ext>
            </a:extLst>
          </p:cNvPr>
          <p:cNvSpPr>
            <a:spLocks xmlns:a="http://schemas.openxmlformats.org/drawingml/2006/main" noGrp="1"/>
          </p:cNvSpPr>
          <p:nvPr/>
        </p:nvSpPr>
        <p:spPr>
          <a:xfrm xmlns:a="http://schemas.openxmlformats.org/drawingml/2006/main">
            <a:off x="571500" y="2447925"/>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E78481E6-6FB3-4D90-B211-79A3C3F8F202}"/>
              </a:ext>
            </a:extLst>
          </p:cNvPr>
          <p:cNvSpPr>
            <a:spLocks xmlns:a="http://schemas.openxmlformats.org/drawingml/2006/main" noGrp="1"/>
          </p:cNvSpPr>
          <p:nvPr/>
        </p:nvSpPr>
        <p:spPr>
          <a:xfrm xmlns:a="http://schemas.openxmlformats.org/drawingml/2006/main">
            <a:off x="1238250" y="244792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Newton cooling model</a:t>
            </a:r>
          </a:p>
        </p:txBody>
      </p:sp>
      <p:sp>
        <p:nvSpPr>
          <p:cNvPr id="12" name="">
            <a:extLst xmlns:a="http://schemas.openxmlformats.org/drawingml/2006/main">
              <a:ext uri="{FF2B5EF4-FFF2-40B4-BE49-F238E27FC236}">
                <a16:creationId xmlns:a16="http://schemas.microsoft.com/office/drawing/2014/main" id="{EB28CF81-81D9-48D4-8CEF-F2A4C9C3E713}"/>
              </a:ext>
            </a:extLst>
          </p:cNvPr>
          <p:cNvSpPr>
            <a:spLocks xmlns:a="http://schemas.openxmlformats.org/drawingml/2006/main" noGrp="1"/>
          </p:cNvSpPr>
          <p:nvPr/>
        </p:nvSpPr>
        <p:spPr>
          <a:xfrm xmlns:a="http://schemas.openxmlformats.org/drawingml/2006/main">
            <a:off x="4476750" y="244792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Interpret the effective cooling constant and calculate a reference curve.</a:t>
            </a:r>
          </a:p>
        </p:txBody>
      </p:sp>
      <p:sp>
        <p:nvSpPr>
          <p:cNvPr id="13" name="">
            <a:extLst xmlns:a="http://schemas.openxmlformats.org/drawingml/2006/main">
              <a:ext uri="{FF2B5EF4-FFF2-40B4-BE49-F238E27FC236}">
                <a16:creationId xmlns:a16="http://schemas.microsoft.com/office/drawing/2014/main" id="{E1D21E1A-775C-4E5A-A9D3-68135B1C3D80}"/>
              </a:ext>
            </a:extLst>
          </p:cNvPr>
          <p:cNvSpPr>
            <a:spLocks xmlns:a="http://schemas.openxmlformats.org/drawingml/2006/main" noGrp="1"/>
          </p:cNvSpPr>
          <p:nvPr/>
        </p:nvSpPr>
        <p:spPr>
          <a:xfrm xmlns:a="http://schemas.openxmlformats.org/drawingml/2006/main">
            <a:off x="571500" y="3114675"/>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4945F57-4A5F-4CF9-8B97-701C888C5CAA}"/>
              </a:ext>
            </a:extLst>
          </p:cNvPr>
          <p:cNvSpPr>
            <a:spLocks xmlns:a="http://schemas.openxmlformats.org/drawingml/2006/main" noGrp="1"/>
          </p:cNvSpPr>
          <p:nvPr/>
        </p:nvSpPr>
        <p:spPr>
          <a:xfrm xmlns:a="http://schemas.openxmlformats.org/drawingml/2006/main">
            <a:off x="571500" y="3429000"/>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DEB5EF16-95FA-4B25-B39A-2A8A49CDD92A}"/>
              </a:ext>
            </a:extLst>
          </p:cNvPr>
          <p:cNvSpPr>
            <a:spLocks xmlns:a="http://schemas.openxmlformats.org/drawingml/2006/main" noGrp="1"/>
          </p:cNvSpPr>
          <p:nvPr/>
        </p:nvSpPr>
        <p:spPr>
          <a:xfrm xmlns:a="http://schemas.openxmlformats.org/drawingml/2006/main">
            <a:off x="1238250" y="342900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Experimental evidence</a:t>
            </a:r>
          </a:p>
        </p:txBody>
      </p:sp>
      <p:sp>
        <p:nvSpPr>
          <p:cNvPr id="16" name="">
            <a:extLst xmlns:a="http://schemas.openxmlformats.org/drawingml/2006/main">
              <a:ext uri="{FF2B5EF4-FFF2-40B4-BE49-F238E27FC236}">
                <a16:creationId xmlns:a16="http://schemas.microsoft.com/office/drawing/2014/main" id="{C13E7233-02C4-4B4E-B11B-9785C79C41FC}"/>
              </a:ext>
            </a:extLst>
          </p:cNvPr>
          <p:cNvSpPr>
            <a:spLocks xmlns:a="http://schemas.openxmlformats.org/drawingml/2006/main" noGrp="1"/>
          </p:cNvSpPr>
          <p:nvPr/>
        </p:nvSpPr>
        <p:spPr>
          <a:xfrm xmlns:a="http://schemas.openxmlformats.org/drawingml/2006/main">
            <a:off x="4476750" y="342900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Collect a controlled 16-point temperature history and plot it.</a:t>
            </a:r>
          </a:p>
        </p:txBody>
      </p:sp>
      <p:sp>
        <p:nvSpPr>
          <p:cNvPr id="17" name="">
            <a:extLst xmlns:a="http://schemas.openxmlformats.org/drawingml/2006/main">
              <a:ext uri="{FF2B5EF4-FFF2-40B4-BE49-F238E27FC236}">
                <a16:creationId xmlns:a16="http://schemas.microsoft.com/office/drawing/2014/main" id="{B71C3C55-7EBE-4BBC-B685-055A544103DD}"/>
              </a:ext>
            </a:extLst>
          </p:cNvPr>
          <p:cNvSpPr>
            <a:spLocks xmlns:a="http://schemas.openxmlformats.org/drawingml/2006/main" noGrp="1"/>
          </p:cNvSpPr>
          <p:nvPr/>
        </p:nvSpPr>
        <p:spPr>
          <a:xfrm xmlns:a="http://schemas.openxmlformats.org/drawingml/2006/main">
            <a:off x="571500" y="4095750"/>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A7BCCBD-C724-44B6-B3D5-7EA96F6B2AD2}"/>
              </a:ext>
            </a:extLst>
          </p:cNvPr>
          <p:cNvSpPr>
            <a:spLocks xmlns:a="http://schemas.openxmlformats.org/drawingml/2006/main" noGrp="1"/>
          </p:cNvSpPr>
          <p:nvPr/>
        </p:nvSpPr>
        <p:spPr>
          <a:xfrm xmlns:a="http://schemas.openxmlformats.org/drawingml/2006/main">
            <a:off x="571500" y="4410075"/>
            <a:ext cx="52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030"/>
          </a:bodyPr>
          <a:lstStyle xmlns:a="http://schemas.openxmlformats.org/drawingml/2006/main"/>
          <a:p xmlns:a="http://schemas.openxmlformats.org/drawingml/2006/main">
            <a:pPr>
              <a:defRPr sz="2100" b="1">
                <a:solidFill>
                  <a:srgbClr val="22B8F0"/>
                </a:solidFill>
                <a:latin typeface="Avenir Next"/>
                <a:ea typeface="Avenir Next"/>
                <a:cs typeface="Avenir Next"/>
              </a:defRPr>
            </a:pPr>
            <a:r>
              <a:rPr sz="2100" b="1">
                <a:solidFill>
                  <a:srgbClr val="22B8F0"/>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6E2E36AC-955A-4AA9-98E0-9A3F1A703E37}"/>
              </a:ext>
            </a:extLst>
          </p:cNvPr>
          <p:cNvSpPr>
            <a:spLocks xmlns:a="http://schemas.openxmlformats.org/drawingml/2006/main" noGrp="1"/>
          </p:cNvSpPr>
          <p:nvPr/>
        </p:nvSpPr>
        <p:spPr>
          <a:xfrm xmlns:a="http://schemas.openxmlformats.org/drawingml/2006/main">
            <a:off x="1238250" y="441007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Model evaluation</a:t>
            </a:r>
          </a:p>
        </p:txBody>
      </p:sp>
      <p:sp>
        <p:nvSpPr>
          <p:cNvPr id="20" name="">
            <a:extLst xmlns:a="http://schemas.openxmlformats.org/drawingml/2006/main">
              <a:ext uri="{FF2B5EF4-FFF2-40B4-BE49-F238E27FC236}">
                <a16:creationId xmlns:a16="http://schemas.microsoft.com/office/drawing/2014/main" id="{B0BA98A1-2A3C-4AEB-B67E-ABB8ED196C8E}"/>
              </a:ext>
            </a:extLst>
          </p:cNvPr>
          <p:cNvSpPr>
            <a:spLocks xmlns:a="http://schemas.openxmlformats.org/drawingml/2006/main" noGrp="1"/>
          </p:cNvSpPr>
          <p:nvPr/>
        </p:nvSpPr>
        <p:spPr>
          <a:xfrm xmlns:a="http://schemas.openxmlformats.org/drawingml/2006/main">
            <a:off x="4476750" y="441007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Use residuals and MAE to explain agreement and uncertainty.</a:t>
            </a:r>
          </a:p>
        </p:txBody>
      </p:sp>
      <p:sp>
        <p:nvSpPr>
          <p:cNvPr id="21" name="">
            <a:extLst xmlns:a="http://schemas.openxmlformats.org/drawingml/2006/main">
              <a:ext uri="{FF2B5EF4-FFF2-40B4-BE49-F238E27FC236}">
                <a16:creationId xmlns:a16="http://schemas.microsoft.com/office/drawing/2014/main" id="{60D8C930-77E4-47EE-84BC-51EE4D7D9D49}"/>
              </a:ext>
            </a:extLst>
          </p:cNvPr>
          <p:cNvSpPr>
            <a:spLocks xmlns:a="http://schemas.openxmlformats.org/drawingml/2006/main" noGrp="1"/>
          </p:cNvSpPr>
          <p:nvPr/>
        </p:nvSpPr>
        <p:spPr>
          <a:xfrm xmlns:a="http://schemas.openxmlformats.org/drawingml/2006/main">
            <a:off x="571500" y="5076825"/>
            <a:ext cx="105727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02AC98B-3F2F-4ECC-BC8B-94D3EABA0C6E}"/>
              </a:ext>
            </a:extLst>
          </p:cNvPr>
          <p:cNvSpPr>
            <a:spLocks xmlns:a="http://schemas.openxmlformats.org/drawingml/2006/main" noGrp="1"/>
          </p:cNvSpPr>
          <p:nvPr/>
        </p:nvSpPr>
        <p:spPr>
          <a:xfrm xmlns:a="http://schemas.openxmlformats.org/drawingml/2006/main">
            <a:off x="571500" y="5476875"/>
            <a:ext cx="10572750" cy="590550"/>
          </a:xfrm>
          <a:prstGeom xmlns:a="http://schemas.openxmlformats.org/drawingml/2006/main" prst="roundRect">
            <a:avLst>
              <a:gd name="adj" fmla="val 12903"/>
            </a:avLst>
          </a:prstGeom>
          <a:solidFill xmlns:a="http://schemas.openxmlformats.org/drawingml/2006/main">
            <a:srgbClr val="11274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B91F769-770F-4D8D-AA66-67BE9D06EF87}"/>
              </a:ext>
            </a:extLst>
          </p:cNvPr>
          <p:cNvSpPr>
            <a:spLocks xmlns:a="http://schemas.openxmlformats.org/drawingml/2006/main" noGrp="1"/>
          </p:cNvSpPr>
          <p:nvPr/>
        </p:nvSpPr>
        <p:spPr>
          <a:xfrm xmlns:a="http://schemas.openxmlformats.org/drawingml/2006/main">
            <a:off x="781050" y="56197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F59E0B"/>
                </a:solidFill>
                <a:latin typeface="Avenir Next"/>
                <a:ea typeface="Avenir Next"/>
                <a:cs typeface="Avenir Next"/>
              </a:defRPr>
            </a:pPr>
            <a:r>
              <a:rPr sz="1275" b="1">
                <a:solidFill>
                  <a:srgbClr val="F59E0B"/>
                </a:solidFill>
                <a:latin typeface="Avenir Next"/>
                <a:ea typeface="Avenir Next"/>
                <a:cs typeface="Avenir Next"/>
              </a:rPr>
              <a:t>Class format</a:t>
            </a:r>
          </a:p>
        </p:txBody>
      </p:sp>
      <p:sp>
        <p:nvSpPr>
          <p:cNvPr id="24" name="">
            <a:extLst xmlns:a="http://schemas.openxmlformats.org/drawingml/2006/main">
              <a:ext uri="{FF2B5EF4-FFF2-40B4-BE49-F238E27FC236}">
                <a16:creationId xmlns:a16="http://schemas.microsoft.com/office/drawing/2014/main" id="{9A674831-A4D7-404A-8BB4-F977BEEBD2CD}"/>
              </a:ext>
            </a:extLst>
          </p:cNvPr>
          <p:cNvSpPr>
            <a:spLocks xmlns:a="http://schemas.openxmlformats.org/drawingml/2006/main" noGrp="1"/>
          </p:cNvSpPr>
          <p:nvPr/>
        </p:nvSpPr>
        <p:spPr>
          <a:xfrm xmlns:a="http://schemas.openxmlformats.org/drawingml/2006/main">
            <a:off x="2190750" y="5600700"/>
            <a:ext cx="866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0">
                <a:solidFill>
                  <a:srgbClr val="F5F8FC"/>
                </a:solidFill>
                <a:latin typeface="Avenir Next"/>
                <a:ea typeface="Avenir Next"/>
                <a:cs typeface="Avenir Next"/>
              </a:defRPr>
            </a:pPr>
            <a:r>
              <a:rPr sz="1425" b="0">
                <a:solidFill>
                  <a:srgbClr val="F5F8FC"/>
                </a:solidFill>
                <a:latin typeface="Avenir Next"/>
                <a:ea typeface="Avenir Next"/>
                <a:cs typeface="Avenir Next"/>
              </a:rPr>
              <a:t>Four groups in parallel  ·  55–70 minutes  ·  15-minute measurement interval  ·  Reusable hardware</a:t>
            </a:r>
          </a:p>
        </p:txBody>
      </p:sp>
    </p:spTree>
    <p:extLst>
      <p:ext uri="{BB962C8B-B14F-4D97-AF65-F5344CB8AC3E}">
        <p14:creationId xmlns:p14="http://schemas.microsoft.com/office/powerpoint/2010/main" val="955634971"/>
      </p:ext>
    </p:extLst>
  </p:cSld>
</p:sld>
</file>

<file path=ppt/slides/slide5.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0D56624-682F-4256-AD14-68B9AC523CE3}"/>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3D56DA5A-9337-4F2C-9C78-C0719EC317F4}"/>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Experimental hardware and boundary conditions</a:t>
            </a:r>
          </a:p>
        </p:txBody>
      </p:sp>
      <p:sp>
        <p:nvSpPr>
          <p:cNvPr id="3" name="">
            <a:extLst xmlns:a="http://schemas.openxmlformats.org/drawingml/2006/main">
              <a:ext uri="{FF2B5EF4-FFF2-40B4-BE49-F238E27FC236}">
                <a16:creationId xmlns:a16="http://schemas.microsoft.com/office/drawing/2014/main" id="{D7A71215-8B37-47B0-B5FE-A6B8F0C88B77}"/>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A11262-1439-402E-B0DB-6A3D5D2CFB5D}"/>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599613CC-E4C4-4755-B683-290DA10B3C01}"/>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05</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16ba92281794f8a"/>
          <a:srcRect xmlns:a="http://schemas.openxmlformats.org/drawingml/2006/main" l="0" t="9259" r="0" b="9259"/>
          <a:stretch xmlns:a="http://schemas.openxmlformats.org/drawingml/2006/main">
            <a:fillRect l="0" t="0" r="0" b="0"/>
          </a:stretch>
        </p:blipFill>
        <p:spPr>
          <a:xfrm xmlns:a="http://schemas.openxmlformats.org/drawingml/2006/main">
            <a:off x="495300" y="1428750"/>
            <a:ext cx="6858000" cy="4191000"/>
          </a:xfrm>
          <a:prstGeom xmlns:a="http://schemas.openxmlformats.org/drawingml/2006/main" prst="roundRect">
            <a:avLst>
              <a:gd name="adj" fmla="val 2727"/>
            </a:avLst>
          </a:prstGeom>
        </p:spPr>
      </p:pic>
      <p:sp>
        <p:nvSpPr>
          <p:cNvPr id="7" name="">
            <a:extLst xmlns:a="http://schemas.openxmlformats.org/drawingml/2006/main">
              <a:ext uri="{FF2B5EF4-FFF2-40B4-BE49-F238E27FC236}">
                <a16:creationId xmlns:a16="http://schemas.microsoft.com/office/drawing/2014/main" id="{63246FA3-6426-4E14-B78D-16668481795B}"/>
              </a:ext>
            </a:extLst>
          </p:cNvPr>
          <p:cNvSpPr>
            <a:spLocks xmlns:a="http://schemas.openxmlformats.org/drawingml/2006/main" noGrp="1"/>
          </p:cNvSpPr>
          <p:nvPr/>
        </p:nvSpPr>
        <p:spPr>
          <a:xfrm xmlns:a="http://schemas.openxmlformats.org/drawingml/2006/main">
            <a:off x="7810500" y="1476375"/>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VERIFIED SETTINGS</a:t>
            </a:r>
          </a:p>
        </p:txBody>
      </p:sp>
      <p:sp>
        <p:nvSpPr>
          <p:cNvPr id="8" name="">
            <a:extLst xmlns:a="http://schemas.openxmlformats.org/drawingml/2006/main">
              <a:ext uri="{FF2B5EF4-FFF2-40B4-BE49-F238E27FC236}">
                <a16:creationId xmlns:a16="http://schemas.microsoft.com/office/drawing/2014/main" id="{A71DA9F8-2B18-4D4B-B9F3-E010CA0F591F}"/>
              </a:ext>
            </a:extLst>
          </p:cNvPr>
          <p:cNvSpPr>
            <a:spLocks xmlns:a="http://schemas.openxmlformats.org/drawingml/2006/main" noGrp="1"/>
          </p:cNvSpPr>
          <p:nvPr/>
        </p:nvSpPr>
        <p:spPr>
          <a:xfrm xmlns:a="http://schemas.openxmlformats.org/drawingml/2006/main">
            <a:off x="7810500" y="18669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100 mL</a:t>
            </a:r>
          </a:p>
        </p:txBody>
      </p:sp>
      <p:sp>
        <p:nvSpPr>
          <p:cNvPr id="9" name="">
            <a:extLst xmlns:a="http://schemas.openxmlformats.org/drawingml/2006/main">
              <a:ext uri="{FF2B5EF4-FFF2-40B4-BE49-F238E27FC236}">
                <a16:creationId xmlns:a16="http://schemas.microsoft.com/office/drawing/2014/main" id="{4050EF2A-9E7D-4E2F-8A6D-8793DF82B3D8}"/>
              </a:ext>
            </a:extLst>
          </p:cNvPr>
          <p:cNvSpPr>
            <a:spLocks xmlns:a="http://schemas.openxmlformats.org/drawingml/2006/main" noGrp="1"/>
          </p:cNvSpPr>
          <p:nvPr/>
        </p:nvSpPr>
        <p:spPr>
          <a:xfrm xmlns:a="http://schemas.openxmlformats.org/drawingml/2006/main">
            <a:off x="7810500" y="22288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wide-mouth glass thermal core</a:t>
            </a:r>
          </a:p>
        </p:txBody>
      </p:sp>
      <p:sp>
        <p:nvSpPr>
          <p:cNvPr id="10" name="">
            <a:extLst xmlns:a="http://schemas.openxmlformats.org/drawingml/2006/main">
              <a:ext uri="{FF2B5EF4-FFF2-40B4-BE49-F238E27FC236}">
                <a16:creationId xmlns:a16="http://schemas.microsoft.com/office/drawing/2014/main" id="{277446E0-1B36-464E-A7FB-0EDE78AB05C6}"/>
              </a:ext>
            </a:extLst>
          </p:cNvPr>
          <p:cNvSpPr>
            <a:spLocks xmlns:a="http://schemas.openxmlformats.org/drawingml/2006/main" noGrp="1"/>
          </p:cNvSpPr>
          <p:nvPr/>
        </p:nvSpPr>
        <p:spPr>
          <a:xfrm xmlns:a="http://schemas.openxmlformats.org/drawingml/2006/main">
            <a:off x="7810500" y="26860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≈80 °C</a:t>
            </a:r>
          </a:p>
        </p:txBody>
      </p:sp>
      <p:sp>
        <p:nvSpPr>
          <p:cNvPr id="11" name="">
            <a:extLst xmlns:a="http://schemas.openxmlformats.org/drawingml/2006/main">
              <a:ext uri="{FF2B5EF4-FFF2-40B4-BE49-F238E27FC236}">
                <a16:creationId xmlns:a16="http://schemas.microsoft.com/office/drawing/2014/main" id="{351568BE-0BB7-4230-B8F5-D7EDBA65825B}"/>
              </a:ext>
            </a:extLst>
          </p:cNvPr>
          <p:cNvSpPr>
            <a:spLocks xmlns:a="http://schemas.openxmlformats.org/drawingml/2006/main" noGrp="1"/>
          </p:cNvSpPr>
          <p:nvPr/>
        </p:nvSpPr>
        <p:spPr>
          <a:xfrm xmlns:a="http://schemas.openxmlformats.org/drawingml/2006/main">
            <a:off x="7810500" y="30480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908"/>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initial water temperature; record actual T₀</a:t>
            </a:r>
          </a:p>
        </p:txBody>
      </p:sp>
      <p:sp>
        <p:nvSpPr>
          <p:cNvPr id="12" name="">
            <a:extLst xmlns:a="http://schemas.openxmlformats.org/drawingml/2006/main">
              <a:ext uri="{FF2B5EF4-FFF2-40B4-BE49-F238E27FC236}">
                <a16:creationId xmlns:a16="http://schemas.microsoft.com/office/drawing/2014/main" id="{97FB89C0-D245-4C8C-8F07-47F2F6DF52DB}"/>
              </a:ext>
            </a:extLst>
          </p:cNvPr>
          <p:cNvSpPr>
            <a:spLocks xmlns:a="http://schemas.openxmlformats.org/drawingml/2006/main" noGrp="1"/>
          </p:cNvSpPr>
          <p:nvPr/>
        </p:nvSpPr>
        <p:spPr>
          <a:xfrm xmlns:a="http://schemas.openxmlformats.org/drawingml/2006/main">
            <a:off x="7810500" y="350520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Measured</a:t>
            </a:r>
          </a:p>
        </p:txBody>
      </p:sp>
      <p:sp>
        <p:nvSpPr>
          <p:cNvPr id="13" name="">
            <a:extLst xmlns:a="http://schemas.openxmlformats.org/drawingml/2006/main">
              <a:ext uri="{FF2B5EF4-FFF2-40B4-BE49-F238E27FC236}">
                <a16:creationId xmlns:a16="http://schemas.microsoft.com/office/drawing/2014/main" id="{A27E6628-5AFF-45AD-8120-E3CF8CE28DC6}"/>
              </a:ext>
            </a:extLst>
          </p:cNvPr>
          <p:cNvSpPr>
            <a:spLocks xmlns:a="http://schemas.openxmlformats.org/drawingml/2006/main" noGrp="1"/>
          </p:cNvSpPr>
          <p:nvPr/>
        </p:nvSpPr>
        <p:spPr>
          <a:xfrm xmlns:a="http://schemas.openxmlformats.org/drawingml/2006/main">
            <a:off x="7810500" y="38671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ice-water bath temperature Tenv</a:t>
            </a:r>
          </a:p>
        </p:txBody>
      </p:sp>
      <p:sp>
        <p:nvSpPr>
          <p:cNvPr id="14" name="">
            <a:extLst xmlns:a="http://schemas.openxmlformats.org/drawingml/2006/main">
              <a:ext uri="{FF2B5EF4-FFF2-40B4-BE49-F238E27FC236}">
                <a16:creationId xmlns:a16="http://schemas.microsoft.com/office/drawing/2014/main" id="{04D65CE7-679E-4A9D-B809-5197B391FED9}"/>
              </a:ext>
            </a:extLst>
          </p:cNvPr>
          <p:cNvSpPr>
            <a:spLocks xmlns:a="http://schemas.openxmlformats.org/drawingml/2006/main" noGrp="1"/>
          </p:cNvSpPr>
          <p:nvPr/>
        </p:nvSpPr>
        <p:spPr>
          <a:xfrm xmlns:a="http://schemas.openxmlformats.org/drawingml/2006/main">
            <a:off x="7810500" y="43243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309"/>
          </a:bodyPr>
          <a:lstStyle xmlns:a="http://schemas.openxmlformats.org/drawingml/2006/main"/>
          <a:p xmlns:a="http://schemas.openxmlformats.org/drawingml/2006/main">
            <a:pPr>
              <a:defRPr sz="2025" b="1">
                <a:solidFill>
                  <a:srgbClr val="79D8F7"/>
                </a:solidFill>
                <a:latin typeface="Avenir Next"/>
                <a:ea typeface="Avenir Next"/>
                <a:cs typeface="Avenir Next"/>
              </a:defRPr>
            </a:pPr>
            <a:r>
              <a:rPr sz="2025" b="1">
                <a:solidFill>
                  <a:srgbClr val="79D8F7"/>
                </a:solidFill>
                <a:latin typeface="Avenir Next"/>
                <a:ea typeface="Avenir Next"/>
                <a:cs typeface="Avenir Next"/>
              </a:rPr>
              <a:t>1 minute</a:t>
            </a:r>
          </a:p>
        </p:txBody>
      </p:sp>
      <p:sp>
        <p:nvSpPr>
          <p:cNvPr id="15" name="">
            <a:extLst xmlns:a="http://schemas.openxmlformats.org/drawingml/2006/main">
              <a:ext uri="{FF2B5EF4-FFF2-40B4-BE49-F238E27FC236}">
                <a16:creationId xmlns:a16="http://schemas.microsoft.com/office/drawing/2014/main" id="{EED5354C-2F33-489F-8909-88B8911AB5AD}"/>
              </a:ext>
            </a:extLst>
          </p:cNvPr>
          <p:cNvSpPr>
            <a:spLocks xmlns:a="http://schemas.openxmlformats.org/drawingml/2006/main" noGrp="1"/>
          </p:cNvSpPr>
          <p:nvPr/>
        </p:nvSpPr>
        <p:spPr>
          <a:xfrm xmlns:a="http://schemas.openxmlformats.org/drawingml/2006/main">
            <a:off x="7810500" y="46863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sampling from t = 0 through 15</a:t>
            </a:r>
          </a:p>
        </p:txBody>
      </p:sp>
      <p:sp>
        <p:nvSpPr>
          <p:cNvPr id="16" name="">
            <a:extLst xmlns:a="http://schemas.openxmlformats.org/drawingml/2006/main">
              <a:ext uri="{FF2B5EF4-FFF2-40B4-BE49-F238E27FC236}">
                <a16:creationId xmlns:a16="http://schemas.microsoft.com/office/drawing/2014/main" id="{31AB4984-2808-4F05-9A1F-200BF4DAC47A}"/>
              </a:ext>
            </a:extLst>
          </p:cNvPr>
          <p:cNvSpPr>
            <a:spLocks xmlns:a="http://schemas.openxmlformats.org/drawingml/2006/main" noGrp="1"/>
          </p:cNvSpPr>
          <p:nvPr/>
        </p:nvSpPr>
        <p:spPr>
          <a:xfrm xmlns:a="http://schemas.openxmlformats.org/drawingml/2006/main">
            <a:off x="7810500" y="5257800"/>
            <a:ext cx="3333750" cy="628650"/>
          </a:xfrm>
          <a:prstGeom xmlns:a="http://schemas.openxmlformats.org/drawingml/2006/main" prst="roundRect">
            <a:avLst>
              <a:gd name="adj" fmla="val 12121"/>
            </a:avLst>
          </a:prstGeom>
          <a:solidFill xmlns:a="http://schemas.openxmlformats.org/drawingml/2006/main">
            <a:srgbClr val="11274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1B0A295-9217-4216-AD59-0355BECA01BF}"/>
              </a:ext>
            </a:extLst>
          </p:cNvPr>
          <p:cNvSpPr>
            <a:spLocks xmlns:a="http://schemas.openxmlformats.org/drawingml/2006/main" noGrp="1"/>
          </p:cNvSpPr>
          <p:nvPr/>
        </p:nvSpPr>
        <p:spPr>
          <a:xfrm xmlns:a="http://schemas.openxmlformats.org/drawingml/2006/main">
            <a:off x="8020050" y="5410200"/>
            <a:ext cx="300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2034"/>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Four matched cores allow parallel classroom testing</a:t>
            </a:r>
          </a:p>
        </p:txBody>
      </p:sp>
    </p:spTree>
    <p:extLst>
      <p:ext uri="{BB962C8B-B14F-4D97-AF65-F5344CB8AC3E}">
        <p14:creationId xmlns:p14="http://schemas.microsoft.com/office/powerpoint/2010/main" val="1143667131"/>
      </p:ext>
    </p:extLst>
  </p:cSld>
</p:sld>
</file>

<file path=ppt/slides/slide6.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FA0BF09-B18F-4C02-B759-CB2FABD8DF21}"/>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B2A23F29-2DC5-40A0-9DEF-D98AE9C9C29C}"/>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Four controlled insulation configurations</a:t>
            </a:r>
          </a:p>
        </p:txBody>
      </p:sp>
      <p:sp>
        <p:nvSpPr>
          <p:cNvPr id="3" name="">
            <a:extLst xmlns:a="http://schemas.openxmlformats.org/drawingml/2006/main">
              <a:ext uri="{FF2B5EF4-FFF2-40B4-BE49-F238E27FC236}">
                <a16:creationId xmlns:a16="http://schemas.microsoft.com/office/drawing/2014/main" id="{B1A71782-A57A-47C8-8A3A-F8C3B520A9AD}"/>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F476CEF-137F-4D12-B64C-A4838FD708C8}"/>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508BA5EB-DEF6-46CD-B88C-D2EEC86F37C2}"/>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06</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6c3cf6d6e76240d8"/>
          <a:srcRect xmlns:a="http://schemas.openxmlformats.org/drawingml/2006/main" l="0" t="1402" r="0" b="1402"/>
          <a:stretch xmlns:a="http://schemas.openxmlformats.org/drawingml/2006/main">
            <a:fillRect l="0" t="0" r="0" b="0"/>
          </a:stretch>
        </p:blipFill>
        <p:spPr>
          <a:xfrm xmlns:a="http://schemas.openxmlformats.org/drawingml/2006/main">
            <a:off x="495300" y="1409700"/>
            <a:ext cx="2571750" cy="3333750"/>
          </a:xfrm>
          <a:prstGeom xmlns:a="http://schemas.openxmlformats.org/drawingml/2006/main" prst="roundRect">
            <a:avLst>
              <a:gd name="adj" fmla="val 4444"/>
            </a:avLst>
          </a:prstGeom>
        </p:spPr>
      </p:pic>
      <p:sp>
        <p:nvSpPr>
          <p:cNvPr id="7" name="">
            <a:extLst xmlns:a="http://schemas.openxmlformats.org/drawingml/2006/main">
              <a:ext uri="{FF2B5EF4-FFF2-40B4-BE49-F238E27FC236}">
                <a16:creationId xmlns:a16="http://schemas.microsoft.com/office/drawing/2014/main" id="{0681D23E-D449-4A72-9B29-53B72AFA9FA5}"/>
              </a:ext>
            </a:extLst>
          </p:cNvPr>
          <p:cNvSpPr>
            <a:spLocks xmlns:a="http://schemas.openxmlformats.org/drawingml/2006/main" noGrp="1"/>
          </p:cNvSpPr>
          <p:nvPr/>
        </p:nvSpPr>
        <p:spPr>
          <a:xfrm xmlns:a="http://schemas.openxmlformats.org/drawingml/2006/main">
            <a:off x="4953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Bare control</a:t>
            </a:r>
          </a:p>
        </p:txBody>
      </p:sp>
      <p:sp>
        <p:nvSpPr>
          <p:cNvPr id="8" name="">
            <a:extLst xmlns:a="http://schemas.openxmlformats.org/drawingml/2006/main">
              <a:ext uri="{FF2B5EF4-FFF2-40B4-BE49-F238E27FC236}">
                <a16:creationId xmlns:a16="http://schemas.microsoft.com/office/drawing/2014/main" id="{A90A6315-0174-485C-9959-C14FFD0122C5}"/>
              </a:ext>
            </a:extLst>
          </p:cNvPr>
          <p:cNvSpPr>
            <a:spLocks xmlns:a="http://schemas.openxmlformats.org/drawingml/2006/main" noGrp="1"/>
          </p:cNvSpPr>
          <p:nvPr/>
        </p:nvSpPr>
        <p:spPr>
          <a:xfrm xmlns:a="http://schemas.openxmlformats.org/drawingml/2006/main">
            <a:off x="4953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2B8F0"/>
                </a:solidFill>
                <a:latin typeface="Avenir Next"/>
                <a:ea typeface="Avenir Next"/>
                <a:cs typeface="Avenir Next"/>
              </a:defRPr>
            </a:pPr>
            <a:r>
              <a:rPr sz="1275" b="1">
                <a:solidFill>
                  <a:srgbClr val="22B8F0"/>
                </a:solidFill>
                <a:latin typeface="Avenir Next"/>
                <a:ea typeface="Avenir Next"/>
                <a:cs typeface="Avenir Next"/>
              </a:rPr>
              <a:t>k = 0.150 min⁻¹</a:t>
            </a:r>
          </a:p>
        </p:txBody>
      </p:sp>
      <p:sp>
        <p:nvSpPr>
          <p:cNvPr id="9" name="">
            <a:extLst xmlns:a="http://schemas.openxmlformats.org/drawingml/2006/main">
              <a:ext uri="{FF2B5EF4-FFF2-40B4-BE49-F238E27FC236}">
                <a16:creationId xmlns:a16="http://schemas.microsoft.com/office/drawing/2014/main" id="{4B16F6DC-B10A-48C0-8214-E33E3B56B9F1}"/>
              </a:ext>
            </a:extLst>
          </p:cNvPr>
          <p:cNvSpPr>
            <a:spLocks xmlns:a="http://schemas.openxmlformats.org/drawingml/2006/main" noGrp="1"/>
          </p:cNvSpPr>
          <p:nvPr/>
        </p:nvSpPr>
        <p:spPr>
          <a:xfrm xmlns:a="http://schemas.openxmlformats.org/drawingml/2006/main">
            <a:off x="4953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Reference heat loss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e896d6511704ed6"/>
          <a:srcRect xmlns:a="http://schemas.openxmlformats.org/drawingml/2006/main" l="0" t="1389" r="0" b="1389"/>
          <a:stretch xmlns:a="http://schemas.openxmlformats.org/drawingml/2006/main">
            <a:fillRect l="0" t="0" r="0" b="0"/>
          </a:stretch>
        </p:blipFill>
        <p:spPr>
          <a:xfrm xmlns:a="http://schemas.openxmlformats.org/drawingml/2006/main">
            <a:off x="3352800" y="1409700"/>
            <a:ext cx="2571750" cy="3333750"/>
          </a:xfrm>
          <a:prstGeom xmlns:a="http://schemas.openxmlformats.org/drawingml/2006/main" prst="roundRect">
            <a:avLst>
              <a:gd name="adj" fmla="val 4444"/>
            </a:avLst>
          </a:prstGeom>
        </p:spPr>
      </p:pic>
      <p:sp>
        <p:nvSpPr>
          <p:cNvPr id="11" name="">
            <a:extLst xmlns:a="http://schemas.openxmlformats.org/drawingml/2006/main">
              <a:ext uri="{FF2B5EF4-FFF2-40B4-BE49-F238E27FC236}">
                <a16:creationId xmlns:a16="http://schemas.microsoft.com/office/drawing/2014/main" id="{C8A51E6C-CF1F-4DB4-B5EF-C831590DB2FD}"/>
              </a:ext>
            </a:extLst>
          </p:cNvPr>
          <p:cNvSpPr>
            <a:spLocks xmlns:a="http://schemas.openxmlformats.org/drawingml/2006/main" noGrp="1"/>
          </p:cNvSpPr>
          <p:nvPr/>
        </p:nvSpPr>
        <p:spPr>
          <a:xfrm xmlns:a="http://schemas.openxmlformats.org/drawingml/2006/main">
            <a:off x="33528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Bubble wrap</a:t>
            </a:r>
          </a:p>
        </p:txBody>
      </p:sp>
      <p:sp>
        <p:nvSpPr>
          <p:cNvPr id="12" name="">
            <a:extLst xmlns:a="http://schemas.openxmlformats.org/drawingml/2006/main">
              <a:ext uri="{FF2B5EF4-FFF2-40B4-BE49-F238E27FC236}">
                <a16:creationId xmlns:a16="http://schemas.microsoft.com/office/drawing/2014/main" id="{4AE8703E-6C5B-4DB6-B711-FE3AE2A5667E}"/>
              </a:ext>
            </a:extLst>
          </p:cNvPr>
          <p:cNvSpPr>
            <a:spLocks xmlns:a="http://schemas.openxmlformats.org/drawingml/2006/main" noGrp="1"/>
          </p:cNvSpPr>
          <p:nvPr/>
        </p:nvSpPr>
        <p:spPr>
          <a:xfrm xmlns:a="http://schemas.openxmlformats.org/drawingml/2006/main">
            <a:off x="33528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2B8F0"/>
                </a:solidFill>
                <a:latin typeface="Avenir Next"/>
                <a:ea typeface="Avenir Next"/>
                <a:cs typeface="Avenir Next"/>
              </a:defRPr>
            </a:pPr>
            <a:r>
              <a:rPr sz="1275" b="1">
                <a:solidFill>
                  <a:srgbClr val="22B8F0"/>
                </a:solidFill>
                <a:latin typeface="Avenir Next"/>
                <a:ea typeface="Avenir Next"/>
                <a:cs typeface="Avenir Next"/>
              </a:rPr>
              <a:t>k = 0.040 min⁻¹</a:t>
            </a:r>
          </a:p>
        </p:txBody>
      </p:sp>
      <p:sp>
        <p:nvSpPr>
          <p:cNvPr id="13" name="">
            <a:extLst xmlns:a="http://schemas.openxmlformats.org/drawingml/2006/main">
              <a:ext uri="{FF2B5EF4-FFF2-40B4-BE49-F238E27FC236}">
                <a16:creationId xmlns:a16="http://schemas.microsoft.com/office/drawing/2014/main" id="{16386B69-532D-477B-9FBF-33F786813C2A}"/>
              </a:ext>
            </a:extLst>
          </p:cNvPr>
          <p:cNvSpPr>
            <a:spLocks xmlns:a="http://schemas.openxmlformats.org/drawingml/2006/main" noGrp="1"/>
          </p:cNvSpPr>
          <p:nvPr/>
        </p:nvSpPr>
        <p:spPr>
          <a:xfrm xmlns:a="http://schemas.openxmlformats.org/drawingml/2006/main">
            <a:off x="33528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Trapped air cells</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02db9f6418a64c59"/>
          <a:srcRect xmlns:a="http://schemas.openxmlformats.org/drawingml/2006/main" l="0" t="1389" r="0" b="1389"/>
          <a:stretch xmlns:a="http://schemas.openxmlformats.org/drawingml/2006/main">
            <a:fillRect l="0" t="0" r="0" b="0"/>
          </a:stretch>
        </p:blipFill>
        <p:spPr>
          <a:xfrm xmlns:a="http://schemas.openxmlformats.org/drawingml/2006/main">
            <a:off x="6210300" y="1409700"/>
            <a:ext cx="2571750" cy="3333750"/>
          </a:xfrm>
          <a:prstGeom xmlns:a="http://schemas.openxmlformats.org/drawingml/2006/main" prst="roundRect">
            <a:avLst>
              <a:gd name="adj" fmla="val 4444"/>
            </a:avLst>
          </a:prstGeom>
        </p:spPr>
      </p:pic>
      <p:sp>
        <p:nvSpPr>
          <p:cNvPr id="15" name="">
            <a:extLst xmlns:a="http://schemas.openxmlformats.org/drawingml/2006/main">
              <a:ext uri="{FF2B5EF4-FFF2-40B4-BE49-F238E27FC236}">
                <a16:creationId xmlns:a16="http://schemas.microsoft.com/office/drawing/2014/main" id="{158B99A4-9187-4454-87E2-0A353351EFB1}"/>
              </a:ext>
            </a:extLst>
          </p:cNvPr>
          <p:cNvSpPr>
            <a:spLocks xmlns:a="http://schemas.openxmlformats.org/drawingml/2006/main" noGrp="1"/>
          </p:cNvSpPr>
          <p:nvPr/>
        </p:nvSpPr>
        <p:spPr>
          <a:xfrm xmlns:a="http://schemas.openxmlformats.org/drawingml/2006/main">
            <a:off x="62103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Mylar only</a:t>
            </a:r>
          </a:p>
        </p:txBody>
      </p:sp>
      <p:sp>
        <p:nvSpPr>
          <p:cNvPr id="16" name="">
            <a:extLst xmlns:a="http://schemas.openxmlformats.org/drawingml/2006/main">
              <a:ext uri="{FF2B5EF4-FFF2-40B4-BE49-F238E27FC236}">
                <a16:creationId xmlns:a16="http://schemas.microsoft.com/office/drawing/2014/main" id="{A3BC4F9F-E504-4FB9-B370-83859FD2F692}"/>
              </a:ext>
            </a:extLst>
          </p:cNvPr>
          <p:cNvSpPr>
            <a:spLocks xmlns:a="http://schemas.openxmlformats.org/drawingml/2006/main" noGrp="1"/>
          </p:cNvSpPr>
          <p:nvPr/>
        </p:nvSpPr>
        <p:spPr>
          <a:xfrm xmlns:a="http://schemas.openxmlformats.org/drawingml/2006/main">
            <a:off x="62103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2B8F0"/>
                </a:solidFill>
                <a:latin typeface="Avenir Next"/>
                <a:ea typeface="Avenir Next"/>
                <a:cs typeface="Avenir Next"/>
              </a:defRPr>
            </a:pPr>
            <a:r>
              <a:rPr sz="1275" b="1">
                <a:solidFill>
                  <a:srgbClr val="22B8F0"/>
                </a:solidFill>
                <a:latin typeface="Avenir Next"/>
                <a:ea typeface="Avenir Next"/>
                <a:cs typeface="Avenir Next"/>
              </a:rPr>
              <a:t>k = 0.121 min⁻¹</a:t>
            </a:r>
          </a:p>
        </p:txBody>
      </p:sp>
      <p:sp>
        <p:nvSpPr>
          <p:cNvPr id="17" name="">
            <a:extLst xmlns:a="http://schemas.openxmlformats.org/drawingml/2006/main">
              <a:ext uri="{FF2B5EF4-FFF2-40B4-BE49-F238E27FC236}">
                <a16:creationId xmlns:a16="http://schemas.microsoft.com/office/drawing/2014/main" id="{00B28D5C-5EAF-4E4B-A713-A5C53591F3DF}"/>
              </a:ext>
            </a:extLst>
          </p:cNvPr>
          <p:cNvSpPr>
            <a:spLocks xmlns:a="http://schemas.openxmlformats.org/drawingml/2006/main" noGrp="1"/>
          </p:cNvSpPr>
          <p:nvPr/>
        </p:nvSpPr>
        <p:spPr>
          <a:xfrm xmlns:a="http://schemas.openxmlformats.org/drawingml/2006/main">
            <a:off x="62103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Reflective layer</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7d4067afa6e8482f"/>
          <a:srcRect xmlns:a="http://schemas.openxmlformats.org/drawingml/2006/main" l="0" t="1389" r="0" b="1389"/>
          <a:stretch xmlns:a="http://schemas.openxmlformats.org/drawingml/2006/main">
            <a:fillRect l="0" t="0" r="0" b="0"/>
          </a:stretch>
        </p:blipFill>
        <p:spPr>
          <a:xfrm xmlns:a="http://schemas.openxmlformats.org/drawingml/2006/main">
            <a:off x="9067800" y="1409700"/>
            <a:ext cx="2571750" cy="3333750"/>
          </a:xfrm>
          <a:prstGeom xmlns:a="http://schemas.openxmlformats.org/drawingml/2006/main" prst="roundRect">
            <a:avLst>
              <a:gd name="adj" fmla="val 4444"/>
            </a:avLst>
          </a:prstGeom>
        </p:spPr>
      </p:pic>
      <p:sp>
        <p:nvSpPr>
          <p:cNvPr id="19" name="">
            <a:extLst xmlns:a="http://schemas.openxmlformats.org/drawingml/2006/main">
              <a:ext uri="{FF2B5EF4-FFF2-40B4-BE49-F238E27FC236}">
                <a16:creationId xmlns:a16="http://schemas.microsoft.com/office/drawing/2014/main" id="{80CC923A-16DD-4F5C-AE0C-B12508CBE6CB}"/>
              </a:ext>
            </a:extLst>
          </p:cNvPr>
          <p:cNvSpPr>
            <a:spLocks xmlns:a="http://schemas.openxmlformats.org/drawingml/2006/main" noGrp="1"/>
          </p:cNvSpPr>
          <p:nvPr/>
        </p:nvSpPr>
        <p:spPr>
          <a:xfrm xmlns:a="http://schemas.openxmlformats.org/drawingml/2006/main">
            <a:off x="9067800" y="489585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F8FC"/>
                </a:solidFill>
                <a:latin typeface="Avenir Next"/>
                <a:ea typeface="Avenir Next"/>
                <a:cs typeface="Avenir Next"/>
              </a:defRPr>
            </a:pPr>
            <a:r>
              <a:rPr sz="1725" b="1">
                <a:solidFill>
                  <a:srgbClr val="F5F8FC"/>
                </a:solidFill>
                <a:latin typeface="Avenir Next"/>
                <a:ea typeface="Avenir Next"/>
                <a:cs typeface="Avenir Next"/>
              </a:rPr>
              <a:t>Full MLI</a:t>
            </a:r>
          </a:p>
        </p:txBody>
      </p:sp>
      <p:sp>
        <p:nvSpPr>
          <p:cNvPr id="20" name="">
            <a:extLst xmlns:a="http://schemas.openxmlformats.org/drawingml/2006/main">
              <a:ext uri="{FF2B5EF4-FFF2-40B4-BE49-F238E27FC236}">
                <a16:creationId xmlns:a16="http://schemas.microsoft.com/office/drawing/2014/main" id="{361C3067-50F1-407D-8E17-1D06BF889C84}"/>
              </a:ext>
            </a:extLst>
          </p:cNvPr>
          <p:cNvSpPr>
            <a:spLocks xmlns:a="http://schemas.openxmlformats.org/drawingml/2006/main" noGrp="1"/>
          </p:cNvSpPr>
          <p:nvPr/>
        </p:nvSpPr>
        <p:spPr>
          <a:xfrm xmlns:a="http://schemas.openxmlformats.org/drawingml/2006/main">
            <a:off x="9067800" y="5248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392"/>
          </a:bodyPr>
          <a:lstStyle xmlns:a="http://schemas.openxmlformats.org/drawingml/2006/main"/>
          <a:p xmlns:a="http://schemas.openxmlformats.org/drawingml/2006/main">
            <a:pPr>
              <a:defRPr sz="1275" b="1">
                <a:solidFill>
                  <a:srgbClr val="21C98A"/>
                </a:solidFill>
                <a:latin typeface="Avenir Next"/>
                <a:ea typeface="Avenir Next"/>
                <a:cs typeface="Avenir Next"/>
              </a:defRPr>
            </a:pPr>
            <a:r>
              <a:rPr sz="1275" b="1">
                <a:solidFill>
                  <a:srgbClr val="21C98A"/>
                </a:solidFill>
                <a:latin typeface="Avenir Next"/>
                <a:ea typeface="Avenir Next"/>
                <a:cs typeface="Avenir Next"/>
              </a:rPr>
              <a:t>k = 0.015 min⁻¹</a:t>
            </a:r>
          </a:p>
        </p:txBody>
      </p:sp>
      <p:sp>
        <p:nvSpPr>
          <p:cNvPr id="21" name="">
            <a:extLst xmlns:a="http://schemas.openxmlformats.org/drawingml/2006/main">
              <a:ext uri="{FF2B5EF4-FFF2-40B4-BE49-F238E27FC236}">
                <a16:creationId xmlns:a16="http://schemas.microsoft.com/office/drawing/2014/main" id="{722D7745-2C87-4326-8BC8-3D2B7E9C110E}"/>
              </a:ext>
            </a:extLst>
          </p:cNvPr>
          <p:cNvSpPr>
            <a:spLocks xmlns:a="http://schemas.openxmlformats.org/drawingml/2006/main" noGrp="1"/>
          </p:cNvSpPr>
          <p:nvPr/>
        </p:nvSpPr>
        <p:spPr>
          <a:xfrm xmlns:a="http://schemas.openxmlformats.org/drawingml/2006/main">
            <a:off x="9067800" y="55435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Cotton + bubble + Mylar</a:t>
            </a:r>
          </a:p>
        </p:txBody>
      </p:sp>
      <p:sp>
        <p:nvSpPr>
          <p:cNvPr id="22" name="">
            <a:extLst xmlns:a="http://schemas.openxmlformats.org/drawingml/2006/main">
              <a:ext uri="{FF2B5EF4-FFF2-40B4-BE49-F238E27FC236}">
                <a16:creationId xmlns:a16="http://schemas.microsoft.com/office/drawing/2014/main" id="{0AB71817-9EC7-4ADA-A768-B8B789ED53C9}"/>
              </a:ext>
            </a:extLst>
          </p:cNvPr>
          <p:cNvSpPr>
            <a:spLocks xmlns:a="http://schemas.openxmlformats.org/drawingml/2006/main" noGrp="1"/>
          </p:cNvSpPr>
          <p:nvPr/>
        </p:nvSpPr>
        <p:spPr>
          <a:xfrm xmlns:a="http://schemas.openxmlformats.org/drawingml/2006/main">
            <a:off x="495300" y="60198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0" i="1">
                <a:solidFill>
                  <a:srgbClr val="F59E0B"/>
                </a:solidFill>
                <a:latin typeface="Avenir Next"/>
                <a:ea typeface="Avenir Next"/>
                <a:cs typeface="Avenir Next"/>
              </a:defRPr>
            </a:pPr>
            <a:r>
              <a:rPr sz="1350" b="0" i="1">
                <a:solidFill>
                  <a:srgbClr val="F59E0B"/>
                </a:solidFill>
                <a:latin typeface="Avenir Next"/>
                <a:ea typeface="Avenir Next"/>
                <a:cs typeface="Avenir Next"/>
              </a:rPr>
              <a:t>Reference coefficients are educational system settings, not material conductivities.</a:t>
            </a:r>
          </a:p>
        </p:txBody>
      </p:sp>
    </p:spTree>
    <p:extLst>
      <p:ext uri="{BB962C8B-B14F-4D97-AF65-F5344CB8AC3E}">
        <p14:creationId xmlns:p14="http://schemas.microsoft.com/office/powerpoint/2010/main" val="343542481"/>
      </p:ext>
    </p:extLst>
  </p:cSld>
</p:sld>
</file>

<file path=ppt/slides/slide7.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2F77145-4696-4895-87D5-492305E27535}"/>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2DAC742F-85E6-4086-A2A9-781E2FFBE387}"/>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Thermodynamic framework</a:t>
            </a:r>
          </a:p>
        </p:txBody>
      </p:sp>
      <p:sp>
        <p:nvSpPr>
          <p:cNvPr id="3" name="">
            <a:extLst xmlns:a="http://schemas.openxmlformats.org/drawingml/2006/main">
              <a:ext uri="{FF2B5EF4-FFF2-40B4-BE49-F238E27FC236}">
                <a16:creationId xmlns:a16="http://schemas.microsoft.com/office/drawing/2014/main" id="{705FBA6D-65E9-4B7E-B2E3-C3809E915433}"/>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4350132-34EC-42D7-856C-8BA02AFCAEC9}"/>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9C674B40-E19D-490A-9058-EB0174BA85FB}"/>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07</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55e4938543884cee"/>
          <a:stretch xmlns:a="http://schemas.openxmlformats.org/drawingml/2006/main"/>
        </p:blipFill>
        <p:spPr>
          <a:xfrm xmlns:a="http://schemas.openxmlformats.org/drawingml/2006/main">
            <a:off x="538289" y="1333500"/>
            <a:ext cx="6581522" cy="2905125"/>
          </a:xfrm>
          <a:prstGeom xmlns:a="http://schemas.openxmlformats.org/drawingml/2006/main" prst="roundRect">
            <a:avLst>
              <a:gd name="adj" fmla="val 3934"/>
            </a:avLst>
          </a:prstGeom>
        </p:spPr>
      </p:pic>
      <p:sp>
        <p:nvSpPr>
          <p:cNvPr id="7" name="">
            <a:extLst xmlns:a="http://schemas.openxmlformats.org/drawingml/2006/main">
              <a:ext uri="{FF2B5EF4-FFF2-40B4-BE49-F238E27FC236}">
                <a16:creationId xmlns:a16="http://schemas.microsoft.com/office/drawing/2014/main" id="{76452002-39CE-47CD-8DC1-D9BAE889672A}"/>
              </a:ext>
            </a:extLst>
          </p:cNvPr>
          <p:cNvSpPr>
            <a:spLocks xmlns:a="http://schemas.openxmlformats.org/drawingml/2006/main" noGrp="1"/>
          </p:cNvSpPr>
          <p:nvPr/>
        </p:nvSpPr>
        <p:spPr>
          <a:xfrm xmlns:a="http://schemas.openxmlformats.org/drawingml/2006/main">
            <a:off x="7524750" y="1333500"/>
            <a:ext cx="4076700" cy="1428750"/>
          </a:xfrm>
          <a:prstGeom xmlns:a="http://schemas.openxmlformats.org/drawingml/2006/main" prst="roundRect">
            <a:avLst>
              <a:gd name="adj" fmla="val 5333"/>
            </a:avLst>
          </a:prstGeom>
          <a:solidFill xmlns:a="http://schemas.openxmlformats.org/drawingml/2006/main">
            <a:srgbClr val="11274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B3F30E9-DE5D-4449-B341-C5EBC876F641}"/>
              </a:ext>
            </a:extLst>
          </p:cNvPr>
          <p:cNvSpPr>
            <a:spLocks xmlns:a="http://schemas.openxmlformats.org/drawingml/2006/main" noGrp="1"/>
          </p:cNvSpPr>
          <p:nvPr/>
        </p:nvSpPr>
        <p:spPr>
          <a:xfrm xmlns:a="http://schemas.openxmlformats.org/drawingml/2006/main">
            <a:off x="7772400" y="15240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273"/>
          </a:bodyPr>
          <a:lstStyle xmlns:a="http://schemas.openxmlformats.org/drawingml/2006/main"/>
          <a:p xmlns:a="http://schemas.openxmlformats.org/drawingml/2006/main">
            <a:pPr>
              <a:defRPr sz="1650" b="1">
                <a:solidFill>
                  <a:srgbClr val="79D8F7"/>
                </a:solidFill>
                <a:latin typeface="Avenir Next"/>
                <a:ea typeface="Avenir Next"/>
                <a:cs typeface="Avenir Next"/>
              </a:defRPr>
            </a:pPr>
            <a:r>
              <a:rPr sz="1650" b="1">
                <a:solidFill>
                  <a:srgbClr val="79D8F7"/>
                </a:solidFill>
                <a:latin typeface="Avenir Next"/>
                <a:ea typeface="Avenir Next"/>
                <a:cs typeface="Avenir Next"/>
              </a:rPr>
              <a:t>Newton cooling model</a:t>
            </a:r>
          </a:p>
        </p:txBody>
      </p:sp>
      <p:sp>
        <p:nvSpPr>
          <p:cNvPr id="9" name="">
            <a:extLst xmlns:a="http://schemas.openxmlformats.org/drawingml/2006/main">
              <a:ext uri="{FF2B5EF4-FFF2-40B4-BE49-F238E27FC236}">
                <a16:creationId xmlns:a16="http://schemas.microsoft.com/office/drawing/2014/main" id="{8CC97255-E74B-442F-B483-2F81C1F075C1}"/>
              </a:ext>
            </a:extLst>
          </p:cNvPr>
          <p:cNvSpPr>
            <a:spLocks xmlns:a="http://schemas.openxmlformats.org/drawingml/2006/main" noGrp="1"/>
          </p:cNvSpPr>
          <p:nvPr/>
        </p:nvSpPr>
        <p:spPr>
          <a:xfrm xmlns:a="http://schemas.openxmlformats.org/drawingml/2006/main">
            <a:off x="7772400" y="1981200"/>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F5F8FC"/>
                </a:solidFill>
                <a:latin typeface="Avenir Next"/>
                <a:ea typeface="Avenir Next"/>
                <a:cs typeface="Avenir Next"/>
              </a:defRPr>
            </a:pPr>
            <a:r>
              <a:rPr sz="2025" b="1">
                <a:solidFill>
                  <a:srgbClr val="F5F8FC"/>
                </a:solidFill>
                <a:latin typeface="Avenir Next"/>
                <a:ea typeface="Avenir Next"/>
                <a:cs typeface="Avenir Next"/>
              </a:rPr>
              <a:t>T(t) = Tenv + (T₀ − Tenv)e⁻ᵏᵗ</a:t>
            </a:r>
          </a:p>
        </p:txBody>
      </p:sp>
      <p:sp>
        <p:nvSpPr>
          <p:cNvPr id="10" name="">
            <a:extLst xmlns:a="http://schemas.openxmlformats.org/drawingml/2006/main">
              <a:ext uri="{FF2B5EF4-FFF2-40B4-BE49-F238E27FC236}">
                <a16:creationId xmlns:a16="http://schemas.microsoft.com/office/drawing/2014/main" id="{0A0042E0-F2D5-4E35-BCF0-E1B07531A3BE}"/>
              </a:ext>
            </a:extLst>
          </p:cNvPr>
          <p:cNvSpPr>
            <a:spLocks xmlns:a="http://schemas.openxmlformats.org/drawingml/2006/main" noGrp="1"/>
          </p:cNvSpPr>
          <p:nvPr/>
        </p:nvSpPr>
        <p:spPr>
          <a:xfrm xmlns:a="http://schemas.openxmlformats.org/drawingml/2006/main">
            <a:off x="7772400" y="2457450"/>
            <a:ext cx="352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Smaller k means slower approach to the bath temperature</a:t>
            </a:r>
          </a:p>
        </p:txBody>
      </p:sp>
      <p:sp>
        <p:nvSpPr>
          <p:cNvPr id="11" name="">
            <a:extLst xmlns:a="http://schemas.openxmlformats.org/drawingml/2006/main">
              <a:ext uri="{FF2B5EF4-FFF2-40B4-BE49-F238E27FC236}">
                <a16:creationId xmlns:a16="http://schemas.microsoft.com/office/drawing/2014/main" id="{74CC7994-C96E-42EF-B5A3-EC908FB772C0}"/>
              </a:ext>
            </a:extLst>
          </p:cNvPr>
          <p:cNvSpPr>
            <a:spLocks xmlns:a="http://schemas.openxmlformats.org/drawingml/2006/main" noGrp="1"/>
          </p:cNvSpPr>
          <p:nvPr/>
        </p:nvSpPr>
        <p:spPr>
          <a:xfrm xmlns:a="http://schemas.openxmlformats.org/drawingml/2006/main">
            <a:off x="495300" y="44767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1">
                <a:solidFill>
                  <a:srgbClr val="F59E0B"/>
                </a:solidFill>
                <a:latin typeface="Avenir Next"/>
                <a:ea typeface="Avenir Next"/>
                <a:cs typeface="Avenir Next"/>
              </a:defRPr>
            </a:pPr>
            <a:r>
              <a:rPr sz="1200" b="1">
                <a:solidFill>
                  <a:srgbClr val="F59E0B"/>
                </a:solidFill>
                <a:latin typeface="Avenir Next"/>
                <a:ea typeface="Avenir Next"/>
                <a:cs typeface="Avenir Next"/>
              </a:rPr>
              <a:t>CONDUCTION</a:t>
            </a:r>
          </a:p>
        </p:txBody>
      </p:sp>
      <p:sp>
        <p:nvSpPr>
          <p:cNvPr id="12" name="">
            <a:extLst xmlns:a="http://schemas.openxmlformats.org/drawingml/2006/main">
              <a:ext uri="{FF2B5EF4-FFF2-40B4-BE49-F238E27FC236}">
                <a16:creationId xmlns:a16="http://schemas.microsoft.com/office/drawing/2014/main" id="{FC2DA311-289C-4C18-9A3F-6C6BA9692798}"/>
              </a:ext>
            </a:extLst>
          </p:cNvPr>
          <p:cNvSpPr>
            <a:spLocks xmlns:a="http://schemas.openxmlformats.org/drawingml/2006/main" noGrp="1"/>
          </p:cNvSpPr>
          <p:nvPr/>
        </p:nvSpPr>
        <p:spPr>
          <a:xfrm xmlns:a="http://schemas.openxmlformats.org/drawingml/2006/main">
            <a:off x="2238375" y="447675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Direct contact through glass, water and solid layers</a:t>
            </a:r>
          </a:p>
        </p:txBody>
      </p:sp>
      <p:sp>
        <p:nvSpPr>
          <p:cNvPr id="13" name="">
            <a:extLst xmlns:a="http://schemas.openxmlformats.org/drawingml/2006/main">
              <a:ext uri="{FF2B5EF4-FFF2-40B4-BE49-F238E27FC236}">
                <a16:creationId xmlns:a16="http://schemas.microsoft.com/office/drawing/2014/main" id="{39BA84B3-CC22-484C-8B9B-EEC848EFDF68}"/>
              </a:ext>
            </a:extLst>
          </p:cNvPr>
          <p:cNvSpPr>
            <a:spLocks xmlns:a="http://schemas.openxmlformats.org/drawingml/2006/main" noGrp="1"/>
          </p:cNvSpPr>
          <p:nvPr/>
        </p:nvSpPr>
        <p:spPr>
          <a:xfrm xmlns:a="http://schemas.openxmlformats.org/drawingml/2006/main">
            <a:off x="7143750" y="44767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Cotton and interfaces add resistance</a:t>
            </a:r>
          </a:p>
        </p:txBody>
      </p:sp>
      <p:sp>
        <p:nvSpPr>
          <p:cNvPr id="14" name="">
            <a:extLst xmlns:a="http://schemas.openxmlformats.org/drawingml/2006/main">
              <a:ext uri="{FF2B5EF4-FFF2-40B4-BE49-F238E27FC236}">
                <a16:creationId xmlns:a16="http://schemas.microsoft.com/office/drawing/2014/main" id="{9F8946C7-A98F-4958-86D8-E031722691A9}"/>
              </a:ext>
            </a:extLst>
          </p:cNvPr>
          <p:cNvSpPr>
            <a:spLocks xmlns:a="http://schemas.openxmlformats.org/drawingml/2006/main" noGrp="1"/>
          </p:cNvSpPr>
          <p:nvPr/>
        </p:nvSpPr>
        <p:spPr>
          <a:xfrm xmlns:a="http://schemas.openxmlformats.org/drawingml/2006/main">
            <a:off x="495300" y="506730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1">
                <a:solidFill>
                  <a:srgbClr val="22B8F0"/>
                </a:solidFill>
                <a:latin typeface="Avenir Next"/>
                <a:ea typeface="Avenir Next"/>
                <a:cs typeface="Avenir Next"/>
              </a:defRPr>
            </a:pPr>
            <a:r>
              <a:rPr sz="1200" b="1">
                <a:solidFill>
                  <a:srgbClr val="22B8F0"/>
                </a:solidFill>
                <a:latin typeface="Avenir Next"/>
                <a:ea typeface="Avenir Next"/>
                <a:cs typeface="Avenir Next"/>
              </a:rPr>
              <a:t>CONVECTION</a:t>
            </a:r>
          </a:p>
        </p:txBody>
      </p:sp>
      <p:sp>
        <p:nvSpPr>
          <p:cNvPr id="15" name="">
            <a:extLst xmlns:a="http://schemas.openxmlformats.org/drawingml/2006/main">
              <a:ext uri="{FF2B5EF4-FFF2-40B4-BE49-F238E27FC236}">
                <a16:creationId xmlns:a16="http://schemas.microsoft.com/office/drawing/2014/main" id="{E5E95B95-DA9C-4EC0-B567-0DF7547FED3F}"/>
              </a:ext>
            </a:extLst>
          </p:cNvPr>
          <p:cNvSpPr>
            <a:spLocks xmlns:a="http://schemas.openxmlformats.org/drawingml/2006/main" noGrp="1"/>
          </p:cNvSpPr>
          <p:nvPr/>
        </p:nvSpPr>
        <p:spPr>
          <a:xfrm xmlns:a="http://schemas.openxmlformats.org/drawingml/2006/main">
            <a:off x="2238375" y="506730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Fluid movement in the bath and gaps</a:t>
            </a:r>
          </a:p>
        </p:txBody>
      </p:sp>
      <p:sp>
        <p:nvSpPr>
          <p:cNvPr id="16" name="">
            <a:extLst xmlns:a="http://schemas.openxmlformats.org/drawingml/2006/main">
              <a:ext uri="{FF2B5EF4-FFF2-40B4-BE49-F238E27FC236}">
                <a16:creationId xmlns:a16="http://schemas.microsoft.com/office/drawing/2014/main" id="{2F361637-7CA9-4D79-895D-653CFF4859B0}"/>
              </a:ext>
            </a:extLst>
          </p:cNvPr>
          <p:cNvSpPr>
            <a:spLocks xmlns:a="http://schemas.openxmlformats.org/drawingml/2006/main" noGrp="1"/>
          </p:cNvSpPr>
          <p:nvPr/>
        </p:nvSpPr>
        <p:spPr>
          <a:xfrm xmlns:a="http://schemas.openxmlformats.org/drawingml/2006/main">
            <a:off x="7143750" y="506730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Sealed bubble cells restrict circulation</a:t>
            </a:r>
          </a:p>
        </p:txBody>
      </p:sp>
      <p:sp>
        <p:nvSpPr>
          <p:cNvPr id="17" name="">
            <a:extLst xmlns:a="http://schemas.openxmlformats.org/drawingml/2006/main">
              <a:ext uri="{FF2B5EF4-FFF2-40B4-BE49-F238E27FC236}">
                <a16:creationId xmlns:a16="http://schemas.microsoft.com/office/drawing/2014/main" id="{51678D36-F27F-4972-B605-9D4D99789B86}"/>
              </a:ext>
            </a:extLst>
          </p:cNvPr>
          <p:cNvSpPr>
            <a:spLocks xmlns:a="http://schemas.openxmlformats.org/drawingml/2006/main" noGrp="1"/>
          </p:cNvSpPr>
          <p:nvPr/>
        </p:nvSpPr>
        <p:spPr>
          <a:xfrm xmlns:a="http://schemas.openxmlformats.org/drawingml/2006/main">
            <a:off x="495300" y="56578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1">
                <a:solidFill>
                  <a:srgbClr val="21C98A"/>
                </a:solidFill>
                <a:latin typeface="Avenir Next"/>
                <a:ea typeface="Avenir Next"/>
                <a:cs typeface="Avenir Next"/>
              </a:defRPr>
            </a:pPr>
            <a:r>
              <a:rPr sz="1200" b="1">
                <a:solidFill>
                  <a:srgbClr val="21C98A"/>
                </a:solidFill>
                <a:latin typeface="Avenir Next"/>
                <a:ea typeface="Avenir Next"/>
                <a:cs typeface="Avenir Next"/>
              </a:rPr>
              <a:t>RADIATION</a:t>
            </a:r>
          </a:p>
        </p:txBody>
      </p:sp>
      <p:sp>
        <p:nvSpPr>
          <p:cNvPr id="18" name="">
            <a:extLst xmlns:a="http://schemas.openxmlformats.org/drawingml/2006/main">
              <a:ext uri="{FF2B5EF4-FFF2-40B4-BE49-F238E27FC236}">
                <a16:creationId xmlns:a16="http://schemas.microsoft.com/office/drawing/2014/main" id="{09C15F86-4AD4-40FB-907E-A5A93B291CC8}"/>
              </a:ext>
            </a:extLst>
          </p:cNvPr>
          <p:cNvSpPr>
            <a:spLocks xmlns:a="http://schemas.openxmlformats.org/drawingml/2006/main" noGrp="1"/>
          </p:cNvSpPr>
          <p:nvPr/>
        </p:nvSpPr>
        <p:spPr>
          <a:xfrm xmlns:a="http://schemas.openxmlformats.org/drawingml/2006/main">
            <a:off x="2238375" y="5657850"/>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Infrared exchange between surfaces</a:t>
            </a:r>
          </a:p>
        </p:txBody>
      </p:sp>
      <p:sp>
        <p:nvSpPr>
          <p:cNvPr id="19" name="">
            <a:extLst xmlns:a="http://schemas.openxmlformats.org/drawingml/2006/main">
              <a:ext uri="{FF2B5EF4-FFF2-40B4-BE49-F238E27FC236}">
                <a16:creationId xmlns:a16="http://schemas.microsoft.com/office/drawing/2014/main" id="{551F3026-566A-42F7-8278-4E3FC12B1A5E}"/>
              </a:ext>
            </a:extLst>
          </p:cNvPr>
          <p:cNvSpPr>
            <a:spLocks xmlns:a="http://schemas.openxmlformats.org/drawingml/2006/main" noGrp="1"/>
          </p:cNvSpPr>
          <p:nvPr/>
        </p:nvSpPr>
        <p:spPr>
          <a:xfrm xmlns:a="http://schemas.openxmlformats.org/drawingml/2006/main">
            <a:off x="7143750" y="565785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Mylar reduces radiative exchange</a:t>
            </a:r>
          </a:p>
        </p:txBody>
      </p:sp>
    </p:spTree>
    <p:extLst>
      <p:ext uri="{BB962C8B-B14F-4D97-AF65-F5344CB8AC3E}">
        <p14:creationId xmlns:p14="http://schemas.microsoft.com/office/powerpoint/2010/main" val="1183290413"/>
      </p:ext>
    </p:extLst>
  </p:cSld>
</p:sld>
</file>

<file path=ppt/slides/slide8.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33EA80F1-2DC1-452A-BD8C-38A241333A02}"/>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0D384F7A-77BE-48BF-AD0F-DBC01497F032}"/>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Controlled method and safety-critical checks</a:t>
            </a:r>
          </a:p>
        </p:txBody>
      </p:sp>
      <p:sp>
        <p:nvSpPr>
          <p:cNvPr id="3" name="">
            <a:extLst xmlns:a="http://schemas.openxmlformats.org/drawingml/2006/main">
              <a:ext uri="{FF2B5EF4-FFF2-40B4-BE49-F238E27FC236}">
                <a16:creationId xmlns:a16="http://schemas.microsoft.com/office/drawing/2014/main" id="{3E21CAE6-6D1C-4183-B956-C0BA683BC869}"/>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06FEDE1-92D2-498B-AE7D-64B8C45B8068}"/>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975ECBA6-A302-46A1-85E4-0F81E387F6DF}"/>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08</a:t>
            </a:r>
          </a:p>
        </p:txBody>
      </p:sp>
      <p:sp>
        <p:nvSpPr>
          <p:cNvPr id="6" name="">
            <a:extLst xmlns:a="http://schemas.openxmlformats.org/drawingml/2006/main">
              <a:ext uri="{FF2B5EF4-FFF2-40B4-BE49-F238E27FC236}">
                <a16:creationId xmlns:a16="http://schemas.microsoft.com/office/drawing/2014/main" id="{21A963BB-0AFB-49D8-9C80-566DEC0E2523}"/>
              </a:ext>
            </a:extLst>
          </p:cNvPr>
          <p:cNvSpPr>
            <a:spLocks xmlns:a="http://schemas.openxmlformats.org/drawingml/2006/main" noGrp="1"/>
          </p:cNvSpPr>
          <p:nvPr/>
        </p:nvSpPr>
        <p:spPr>
          <a:xfrm xmlns:a="http://schemas.openxmlformats.org/drawingml/2006/main">
            <a:off x="4953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99DA7B60-11C8-4B00-8AA4-27F01622878B}"/>
              </a:ext>
            </a:extLst>
          </p:cNvPr>
          <p:cNvSpPr>
            <a:spLocks xmlns:a="http://schemas.openxmlformats.org/drawingml/2006/main" noGrp="1"/>
          </p:cNvSpPr>
          <p:nvPr/>
        </p:nvSpPr>
        <p:spPr>
          <a:xfrm xmlns:a="http://schemas.openxmlformats.org/drawingml/2006/main">
            <a:off x="11620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PREPARE</a:t>
            </a:r>
          </a:p>
        </p:txBody>
      </p:sp>
      <p:sp>
        <p:nvSpPr>
          <p:cNvPr id="8" name="">
            <a:extLst xmlns:a="http://schemas.openxmlformats.org/drawingml/2006/main">
              <a:ext uri="{FF2B5EF4-FFF2-40B4-BE49-F238E27FC236}">
                <a16:creationId xmlns:a16="http://schemas.microsoft.com/office/drawing/2014/main" id="{0BCFB851-577D-4607-AE41-DDDEEBE94EA5}"/>
              </a:ext>
            </a:extLst>
          </p:cNvPr>
          <p:cNvSpPr>
            <a:spLocks xmlns:a="http://schemas.openxmlformats.org/drawingml/2006/main" noGrp="1"/>
          </p:cNvSpPr>
          <p:nvPr/>
        </p:nvSpPr>
        <p:spPr>
          <a:xfrm xmlns:a="http://schemas.openxmlformats.org/drawingml/2006/main">
            <a:off x="4953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Measure Tenv, label conditions, leak-test the cores</a:t>
            </a:r>
          </a:p>
        </p:txBody>
      </p:sp>
      <p:sp>
        <p:nvSpPr>
          <p:cNvPr id="9" name="">
            <a:extLst xmlns:a="http://schemas.openxmlformats.org/drawingml/2006/main">
              <a:ext uri="{FF2B5EF4-FFF2-40B4-BE49-F238E27FC236}">
                <a16:creationId xmlns:a16="http://schemas.microsoft.com/office/drawing/2014/main" id="{4217C3AE-B564-4475-9E02-B703F59DCB69}"/>
              </a:ext>
            </a:extLst>
          </p:cNvPr>
          <p:cNvSpPr>
            <a:spLocks xmlns:a="http://schemas.openxmlformats.org/drawingml/2006/main" noGrp="1"/>
          </p:cNvSpPr>
          <p:nvPr/>
        </p:nvSpPr>
        <p:spPr>
          <a:xfrm xmlns:a="http://schemas.openxmlformats.org/drawingml/2006/main">
            <a:off x="3067050" y="1714500"/>
            <a:ext cx="238125" cy="2857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B4BC065-F66A-406C-BB33-0E8F4D170747}"/>
              </a:ext>
            </a:extLst>
          </p:cNvPr>
          <p:cNvSpPr>
            <a:spLocks xmlns:a="http://schemas.openxmlformats.org/drawingml/2006/main" noGrp="1"/>
          </p:cNvSpPr>
          <p:nvPr/>
        </p:nvSpPr>
        <p:spPr>
          <a:xfrm xmlns:a="http://schemas.openxmlformats.org/drawingml/2006/main">
            <a:off x="33528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6E81E139-EFC2-48A9-8A85-F17348C84E8F}"/>
              </a:ext>
            </a:extLst>
          </p:cNvPr>
          <p:cNvSpPr>
            <a:spLocks xmlns:a="http://schemas.openxmlformats.org/drawingml/2006/main" noGrp="1"/>
          </p:cNvSpPr>
          <p:nvPr/>
        </p:nvSpPr>
        <p:spPr>
          <a:xfrm xmlns:a="http://schemas.openxmlformats.org/drawingml/2006/main">
            <a:off x="40195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CONDITION</a:t>
            </a:r>
          </a:p>
        </p:txBody>
      </p:sp>
      <p:sp>
        <p:nvSpPr>
          <p:cNvPr id="12" name="">
            <a:extLst xmlns:a="http://schemas.openxmlformats.org/drawingml/2006/main">
              <a:ext uri="{FF2B5EF4-FFF2-40B4-BE49-F238E27FC236}">
                <a16:creationId xmlns:a16="http://schemas.microsoft.com/office/drawing/2014/main" id="{FFF47212-773F-470A-B4C9-26181195AD8B}"/>
              </a:ext>
            </a:extLst>
          </p:cNvPr>
          <p:cNvSpPr>
            <a:spLocks xmlns:a="http://schemas.openxmlformats.org/drawingml/2006/main" noGrp="1"/>
          </p:cNvSpPr>
          <p:nvPr/>
        </p:nvSpPr>
        <p:spPr>
          <a:xfrm xmlns:a="http://schemas.openxmlformats.org/drawingml/2006/main">
            <a:off x="33528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Fill 100 mL near 80 °C and record the actual T₀</a:t>
            </a:r>
          </a:p>
        </p:txBody>
      </p:sp>
      <p:sp>
        <p:nvSpPr>
          <p:cNvPr id="13" name="">
            <a:extLst xmlns:a="http://schemas.openxmlformats.org/drawingml/2006/main">
              <a:ext uri="{FF2B5EF4-FFF2-40B4-BE49-F238E27FC236}">
                <a16:creationId xmlns:a16="http://schemas.microsoft.com/office/drawing/2014/main" id="{CBC14EDC-F503-4C0D-A67E-F20238EF81C0}"/>
              </a:ext>
            </a:extLst>
          </p:cNvPr>
          <p:cNvSpPr>
            <a:spLocks xmlns:a="http://schemas.openxmlformats.org/drawingml/2006/main" noGrp="1"/>
          </p:cNvSpPr>
          <p:nvPr/>
        </p:nvSpPr>
        <p:spPr>
          <a:xfrm xmlns:a="http://schemas.openxmlformats.org/drawingml/2006/main">
            <a:off x="5924550" y="1714500"/>
            <a:ext cx="238125" cy="2857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6801670-5F4C-407B-BFAB-1D19C2012B14}"/>
              </a:ext>
            </a:extLst>
          </p:cNvPr>
          <p:cNvSpPr>
            <a:spLocks xmlns:a="http://schemas.openxmlformats.org/drawingml/2006/main" noGrp="1"/>
          </p:cNvSpPr>
          <p:nvPr/>
        </p:nvSpPr>
        <p:spPr>
          <a:xfrm xmlns:a="http://schemas.openxmlformats.org/drawingml/2006/main">
            <a:off x="62103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03</a:t>
            </a:r>
          </a:p>
        </p:txBody>
      </p:sp>
      <p:sp>
        <p:nvSpPr>
          <p:cNvPr id="15" name="">
            <a:extLst xmlns:a="http://schemas.openxmlformats.org/drawingml/2006/main">
              <a:ext uri="{FF2B5EF4-FFF2-40B4-BE49-F238E27FC236}">
                <a16:creationId xmlns:a16="http://schemas.microsoft.com/office/drawing/2014/main" id="{D412874B-B758-4E28-8735-EDD84B003D46}"/>
              </a:ext>
            </a:extLst>
          </p:cNvPr>
          <p:cNvSpPr>
            <a:spLocks xmlns:a="http://schemas.openxmlformats.org/drawingml/2006/main" noGrp="1"/>
          </p:cNvSpPr>
          <p:nvPr/>
        </p:nvSpPr>
        <p:spPr>
          <a:xfrm xmlns:a="http://schemas.openxmlformats.org/drawingml/2006/main">
            <a:off x="68770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MEASURE</a:t>
            </a:r>
          </a:p>
        </p:txBody>
      </p:sp>
      <p:sp>
        <p:nvSpPr>
          <p:cNvPr id="16" name="">
            <a:extLst xmlns:a="http://schemas.openxmlformats.org/drawingml/2006/main">
              <a:ext uri="{FF2B5EF4-FFF2-40B4-BE49-F238E27FC236}">
                <a16:creationId xmlns:a16="http://schemas.microsoft.com/office/drawing/2014/main" id="{0A7B2464-D7CC-46B0-A17C-E7F998585229}"/>
              </a:ext>
            </a:extLst>
          </p:cNvPr>
          <p:cNvSpPr>
            <a:spLocks xmlns:a="http://schemas.openxmlformats.org/drawingml/2006/main" noGrp="1"/>
          </p:cNvSpPr>
          <p:nvPr/>
        </p:nvSpPr>
        <p:spPr>
          <a:xfrm xmlns:a="http://schemas.openxmlformats.org/drawingml/2006/main">
            <a:off x="62103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Immerse consistently and log one reading each minute</a:t>
            </a:r>
          </a:p>
        </p:txBody>
      </p:sp>
      <p:sp>
        <p:nvSpPr>
          <p:cNvPr id="17" name="">
            <a:extLst xmlns:a="http://schemas.openxmlformats.org/drawingml/2006/main">
              <a:ext uri="{FF2B5EF4-FFF2-40B4-BE49-F238E27FC236}">
                <a16:creationId xmlns:a16="http://schemas.microsoft.com/office/drawing/2014/main" id="{B84B4D4A-D191-4A41-8323-E31C6A8769D8}"/>
              </a:ext>
            </a:extLst>
          </p:cNvPr>
          <p:cNvSpPr>
            <a:spLocks xmlns:a="http://schemas.openxmlformats.org/drawingml/2006/main" noGrp="1"/>
          </p:cNvSpPr>
          <p:nvPr/>
        </p:nvSpPr>
        <p:spPr>
          <a:xfrm xmlns:a="http://schemas.openxmlformats.org/drawingml/2006/main">
            <a:off x="8782050" y="1714500"/>
            <a:ext cx="238125" cy="28575"/>
          </a:xfrm>
          <a:prstGeom xmlns:a="http://schemas.openxmlformats.org/drawingml/2006/main" prst="rect">
            <a:avLst/>
          </a:prstGeom>
          <a:solidFill xmlns:a="http://schemas.openxmlformats.org/drawingml/2006/main">
            <a:srgbClr val="F59E0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D49918B-FC72-4F80-B9B0-E53B29692B73}"/>
              </a:ext>
            </a:extLst>
          </p:cNvPr>
          <p:cNvSpPr>
            <a:spLocks xmlns:a="http://schemas.openxmlformats.org/drawingml/2006/main" noGrp="1"/>
          </p:cNvSpPr>
          <p:nvPr/>
        </p:nvSpPr>
        <p:spPr>
          <a:xfrm xmlns:a="http://schemas.openxmlformats.org/drawingml/2006/main">
            <a:off x="9067800" y="147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22B8F0"/>
                </a:solidFill>
                <a:latin typeface="Avenir Next"/>
                <a:ea typeface="Avenir Next"/>
                <a:cs typeface="Avenir Next"/>
              </a:defRPr>
            </a:pPr>
            <a:r>
              <a:rPr sz="2400" b="1">
                <a:solidFill>
                  <a:srgbClr val="22B8F0"/>
                </a:solidFill>
                <a:latin typeface="Avenir Next"/>
                <a:ea typeface="Avenir Next"/>
                <a:cs typeface="Avenir Next"/>
              </a:rPr>
              <a:t>04</a:t>
            </a:r>
          </a:p>
        </p:txBody>
      </p:sp>
      <p:sp>
        <p:nvSpPr>
          <p:cNvPr id="19" name="">
            <a:extLst xmlns:a="http://schemas.openxmlformats.org/drawingml/2006/main">
              <a:ext uri="{FF2B5EF4-FFF2-40B4-BE49-F238E27FC236}">
                <a16:creationId xmlns:a16="http://schemas.microsoft.com/office/drawing/2014/main" id="{22CADB2C-C3B7-4548-BC1F-8C9C7D66F0FF}"/>
              </a:ext>
            </a:extLst>
          </p:cNvPr>
          <p:cNvSpPr>
            <a:spLocks xmlns:a="http://schemas.openxmlformats.org/drawingml/2006/main" noGrp="1"/>
          </p:cNvSpPr>
          <p:nvPr/>
        </p:nvSpPr>
        <p:spPr>
          <a:xfrm xmlns:a="http://schemas.openxmlformats.org/drawingml/2006/main">
            <a:off x="9734550" y="1514475"/>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a:solidFill>
                  <a:srgbClr val="F5F8FC"/>
                </a:solidFill>
                <a:latin typeface="Avenir Next"/>
                <a:ea typeface="Avenir Next"/>
                <a:cs typeface="Avenir Next"/>
              </a:defRPr>
            </a:pPr>
            <a:r>
              <a:rPr sz="1425" b="1">
                <a:solidFill>
                  <a:srgbClr val="F5F8FC"/>
                </a:solidFill>
                <a:latin typeface="Avenir Next"/>
                <a:ea typeface="Avenir Next"/>
                <a:cs typeface="Avenir Next"/>
              </a:rPr>
              <a:t>ANALYSE</a:t>
            </a:r>
          </a:p>
        </p:txBody>
      </p:sp>
      <p:sp>
        <p:nvSpPr>
          <p:cNvPr id="20" name="">
            <a:extLst xmlns:a="http://schemas.openxmlformats.org/drawingml/2006/main">
              <a:ext uri="{FF2B5EF4-FFF2-40B4-BE49-F238E27FC236}">
                <a16:creationId xmlns:a16="http://schemas.microsoft.com/office/drawing/2014/main" id="{2921F5DD-1CD2-4AA3-A3D5-E1FFC6B3EB5B}"/>
              </a:ext>
            </a:extLst>
          </p:cNvPr>
          <p:cNvSpPr>
            <a:spLocks xmlns:a="http://schemas.openxmlformats.org/drawingml/2006/main" noGrp="1"/>
          </p:cNvSpPr>
          <p:nvPr/>
        </p:nvSpPr>
        <p:spPr>
          <a:xfrm xmlns:a="http://schemas.openxmlformats.org/drawingml/2006/main">
            <a:off x="9067800" y="2038350"/>
            <a:ext cx="247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Compare curves, residuals, k and MAE</a:t>
            </a:r>
          </a:p>
        </p:txBody>
      </p:sp>
      <p:sp>
        <p:nvSpPr>
          <p:cNvPr id="21" name="">
            <a:extLst xmlns:a="http://schemas.openxmlformats.org/drawingml/2006/main">
              <a:ext uri="{FF2B5EF4-FFF2-40B4-BE49-F238E27FC236}">
                <a16:creationId xmlns:a16="http://schemas.microsoft.com/office/drawing/2014/main" id="{9952B81A-7B01-411D-B44D-5FEA9E36DEB3}"/>
              </a:ext>
            </a:extLst>
          </p:cNvPr>
          <p:cNvSpPr>
            <a:spLocks xmlns:a="http://schemas.openxmlformats.org/drawingml/2006/main" noGrp="1"/>
          </p:cNvSpPr>
          <p:nvPr/>
        </p:nvSpPr>
        <p:spPr>
          <a:xfrm xmlns:a="http://schemas.openxmlformats.org/drawingml/2006/main">
            <a:off x="495300" y="3048000"/>
            <a:ext cx="11049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A749ABF-13A0-4D33-959D-4D04A841EA5E}"/>
              </a:ext>
            </a:extLst>
          </p:cNvPr>
          <p:cNvSpPr>
            <a:spLocks xmlns:a="http://schemas.openxmlformats.org/drawingml/2006/main" noGrp="1"/>
          </p:cNvSpPr>
          <p:nvPr/>
        </p:nvSpPr>
        <p:spPr>
          <a:xfrm xmlns:a="http://schemas.openxmlformats.org/drawingml/2006/main">
            <a:off x="495300" y="32861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defRPr sz="1125" b="1">
                <a:solidFill>
                  <a:srgbClr val="F59E0B"/>
                </a:solidFill>
                <a:latin typeface="Avenir Next"/>
                <a:ea typeface="Avenir Next"/>
                <a:cs typeface="Avenir Next"/>
              </a:defRPr>
            </a:pPr>
            <a:r>
              <a:rPr sz="1125" b="1">
                <a:solidFill>
                  <a:srgbClr val="F59E0B"/>
                </a:solidFill>
                <a:latin typeface="Avenir Next"/>
                <a:ea typeface="Avenir Next"/>
                <a:cs typeface="Avenir Next"/>
              </a:rPr>
              <a:t>FAIR-TEST CONTROLS</a:t>
            </a:r>
          </a:p>
        </p:txBody>
      </p:sp>
      <p:sp>
        <p:nvSpPr>
          <p:cNvPr id="23" name="">
            <a:extLst xmlns:a="http://schemas.openxmlformats.org/drawingml/2006/main">
              <a:ext uri="{FF2B5EF4-FFF2-40B4-BE49-F238E27FC236}">
                <a16:creationId xmlns:a16="http://schemas.microsoft.com/office/drawing/2014/main" id="{F611461F-EE8D-4E89-8F3E-C77DEEF2D68B}"/>
              </a:ext>
            </a:extLst>
          </p:cNvPr>
          <p:cNvSpPr>
            <a:spLocks xmlns:a="http://schemas.openxmlformats.org/drawingml/2006/main" noGrp="1"/>
          </p:cNvSpPr>
          <p:nvPr/>
        </p:nvSpPr>
        <p:spPr>
          <a:xfrm xmlns:a="http://schemas.openxmlformats.org/drawingml/2006/main">
            <a:off x="495300" y="36957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2FC7B36-848D-4618-BE5B-EAAB0EBEB1D1}"/>
              </a:ext>
            </a:extLst>
          </p:cNvPr>
          <p:cNvSpPr>
            <a:spLocks xmlns:a="http://schemas.openxmlformats.org/drawingml/2006/main" noGrp="1"/>
          </p:cNvSpPr>
          <p:nvPr/>
        </p:nvSpPr>
        <p:spPr>
          <a:xfrm xmlns:a="http://schemas.openxmlformats.org/drawingml/2006/main">
            <a:off x="723900" y="361950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41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Same jar geometry, water volume, probe depth and immersion location</a:t>
            </a:r>
          </a:p>
        </p:txBody>
      </p:sp>
      <p:sp>
        <p:nvSpPr>
          <p:cNvPr id="25" name="">
            <a:extLst xmlns:a="http://schemas.openxmlformats.org/drawingml/2006/main">
              <a:ext uri="{FF2B5EF4-FFF2-40B4-BE49-F238E27FC236}">
                <a16:creationId xmlns:a16="http://schemas.microsoft.com/office/drawing/2014/main" id="{E9C84A2A-4172-40C2-BEA6-120F690D2A5E}"/>
              </a:ext>
            </a:extLst>
          </p:cNvPr>
          <p:cNvSpPr>
            <a:spLocks xmlns:a="http://schemas.openxmlformats.org/drawingml/2006/main" noGrp="1"/>
          </p:cNvSpPr>
          <p:nvPr/>
        </p:nvSpPr>
        <p:spPr>
          <a:xfrm xmlns:a="http://schemas.openxmlformats.org/drawingml/2006/main">
            <a:off x="495300" y="42481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6AAF5CB-BC48-4F78-9842-895BD0FCC596}"/>
              </a:ext>
            </a:extLst>
          </p:cNvPr>
          <p:cNvSpPr>
            <a:spLocks xmlns:a="http://schemas.openxmlformats.org/drawingml/2006/main" noGrp="1"/>
          </p:cNvSpPr>
          <p:nvPr/>
        </p:nvSpPr>
        <p:spPr>
          <a:xfrm xmlns:a="http://schemas.openxmlformats.org/drawingml/2006/main">
            <a:off x="723900" y="417195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26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Same sampling interval and documented starting-temperature tolerance</a:t>
            </a:r>
          </a:p>
        </p:txBody>
      </p:sp>
      <p:sp>
        <p:nvSpPr>
          <p:cNvPr id="27" name="">
            <a:extLst xmlns:a="http://schemas.openxmlformats.org/drawingml/2006/main">
              <a:ext uri="{FF2B5EF4-FFF2-40B4-BE49-F238E27FC236}">
                <a16:creationId xmlns:a16="http://schemas.microsoft.com/office/drawing/2014/main" id="{118852B3-D0A9-4A2A-B7F1-D825F35D552E}"/>
              </a:ext>
            </a:extLst>
          </p:cNvPr>
          <p:cNvSpPr>
            <a:spLocks xmlns:a="http://schemas.openxmlformats.org/drawingml/2006/main" noGrp="1"/>
          </p:cNvSpPr>
          <p:nvPr/>
        </p:nvSpPr>
        <p:spPr>
          <a:xfrm xmlns:a="http://schemas.openxmlformats.org/drawingml/2006/main">
            <a:off x="495300" y="48006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27B9AE5-F6E2-43FC-A912-5F18592F136A}"/>
              </a:ext>
            </a:extLst>
          </p:cNvPr>
          <p:cNvSpPr>
            <a:spLocks xmlns:a="http://schemas.openxmlformats.org/drawingml/2006/main" noGrp="1"/>
          </p:cNvSpPr>
          <p:nvPr/>
        </p:nvSpPr>
        <p:spPr>
          <a:xfrm xmlns:a="http://schemas.openxmlformats.org/drawingml/2006/main">
            <a:off x="723900" y="4724400"/>
            <a:ext cx="6105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62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Rank unequal starts by temperature drop, normalized retention or fitted k</a:t>
            </a:r>
          </a:p>
        </p:txBody>
      </p:sp>
      <p:sp>
        <p:nvSpPr>
          <p:cNvPr id="29" name="">
            <a:extLst xmlns:a="http://schemas.openxmlformats.org/drawingml/2006/main">
              <a:ext uri="{FF2B5EF4-FFF2-40B4-BE49-F238E27FC236}">
                <a16:creationId xmlns:a16="http://schemas.microsoft.com/office/drawing/2014/main" id="{4669D7BC-13F0-4201-A0A2-3003F9F12195}"/>
              </a:ext>
            </a:extLst>
          </p:cNvPr>
          <p:cNvSpPr>
            <a:spLocks xmlns:a="http://schemas.openxmlformats.org/drawingml/2006/main" noGrp="1"/>
          </p:cNvSpPr>
          <p:nvPr/>
        </p:nvSpPr>
        <p:spPr>
          <a:xfrm xmlns:a="http://schemas.openxmlformats.org/drawingml/2006/main">
            <a:off x="7334250" y="3286125"/>
            <a:ext cx="4191000" cy="2238375"/>
          </a:xfrm>
          <a:prstGeom xmlns:a="http://schemas.openxmlformats.org/drawingml/2006/main" prst="roundRect">
            <a:avLst>
              <a:gd name="adj" fmla="val 3404"/>
            </a:avLst>
          </a:prstGeom>
          <a:solidFill xmlns:a="http://schemas.openxmlformats.org/drawingml/2006/main">
            <a:srgbClr val="112744"/>
          </a:solidFill>
          <a:ln xmlns:a="http://schemas.openxmlformats.org/drawingml/2006/main" w="9525">
            <a:solidFill>
              <a:srgbClr val="F05252"/>
            </a:solidFill>
            <a:prstDash val="solid"/>
          </a:ln>
        </p:spPr>
      </p:sp>
      <p:sp>
        <p:nvSpPr>
          <p:cNvPr id="30" name="">
            <a:extLst xmlns:a="http://schemas.openxmlformats.org/drawingml/2006/main">
              <a:ext uri="{FF2B5EF4-FFF2-40B4-BE49-F238E27FC236}">
                <a16:creationId xmlns:a16="http://schemas.microsoft.com/office/drawing/2014/main" id="{55276783-1273-4CE4-839C-52030FD5E778}"/>
              </a:ext>
            </a:extLst>
          </p:cNvPr>
          <p:cNvSpPr>
            <a:spLocks xmlns:a="http://schemas.openxmlformats.org/drawingml/2006/main" noGrp="1"/>
          </p:cNvSpPr>
          <p:nvPr/>
        </p:nvSpPr>
        <p:spPr>
          <a:xfrm xmlns:a="http://schemas.openxmlformats.org/drawingml/2006/main">
            <a:off x="7600950" y="35052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6667"/>
          </a:bodyPr>
          <a:lstStyle xmlns:a="http://schemas.openxmlformats.org/drawingml/2006/main"/>
          <a:p xmlns:a="http://schemas.openxmlformats.org/drawingml/2006/main">
            <a:pPr>
              <a:defRPr sz="1500" b="1">
                <a:solidFill>
                  <a:srgbClr val="F05252"/>
                </a:solidFill>
                <a:latin typeface="Avenir Next"/>
                <a:ea typeface="Avenir Next"/>
                <a:cs typeface="Avenir Next"/>
              </a:defRPr>
            </a:pPr>
            <a:r>
              <a:rPr sz="1500" b="1">
                <a:solidFill>
                  <a:srgbClr val="F05252"/>
                </a:solidFill>
                <a:latin typeface="Avenir Next"/>
                <a:ea typeface="Avenir Next"/>
                <a:cs typeface="Avenir Next"/>
              </a:rPr>
              <a:t>MANDATORY SAFETY</a:t>
            </a:r>
          </a:p>
        </p:txBody>
      </p:sp>
      <p:sp>
        <p:nvSpPr>
          <p:cNvPr id="31" name="">
            <a:extLst xmlns:a="http://schemas.openxmlformats.org/drawingml/2006/main">
              <a:ext uri="{FF2B5EF4-FFF2-40B4-BE49-F238E27FC236}">
                <a16:creationId xmlns:a16="http://schemas.microsoft.com/office/drawing/2014/main" id="{F137ED34-39B8-490A-A202-279D2FCD0C12}"/>
              </a:ext>
            </a:extLst>
          </p:cNvPr>
          <p:cNvSpPr>
            <a:spLocks xmlns:a="http://schemas.openxmlformats.org/drawingml/2006/main" noGrp="1"/>
          </p:cNvSpPr>
          <p:nvPr/>
        </p:nvSpPr>
        <p:spPr>
          <a:xfrm xmlns:a="http://schemas.openxmlformats.org/drawingml/2006/main">
            <a:off x="7600950" y="3981450"/>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730A6FE-F1A6-41C4-BF28-99DC8CB88B49}"/>
              </a:ext>
            </a:extLst>
          </p:cNvPr>
          <p:cNvSpPr>
            <a:spLocks xmlns:a="http://schemas.openxmlformats.org/drawingml/2006/main" noGrp="1"/>
          </p:cNvSpPr>
          <p:nvPr/>
        </p:nvSpPr>
        <p:spPr>
          <a:xfrm xmlns:a="http://schemas.openxmlformats.org/drawingml/2006/main">
            <a:off x="7829550" y="3905250"/>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503"/>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Adult handling of water near 80 °C; never use boiling water</a:t>
            </a:r>
          </a:p>
        </p:txBody>
      </p:sp>
      <p:sp>
        <p:nvSpPr>
          <p:cNvPr id="33" name="">
            <a:extLst xmlns:a="http://schemas.openxmlformats.org/drawingml/2006/main">
              <a:ext uri="{FF2B5EF4-FFF2-40B4-BE49-F238E27FC236}">
                <a16:creationId xmlns:a16="http://schemas.microsoft.com/office/drawing/2014/main" id="{6EE67775-7415-4777-8B91-92C5265BFAD3}"/>
              </a:ext>
            </a:extLst>
          </p:cNvPr>
          <p:cNvSpPr>
            <a:spLocks xmlns:a="http://schemas.openxmlformats.org/drawingml/2006/main" noGrp="1"/>
          </p:cNvSpPr>
          <p:nvPr/>
        </p:nvSpPr>
        <p:spPr>
          <a:xfrm xmlns:a="http://schemas.openxmlformats.org/drawingml/2006/main">
            <a:off x="7600950" y="4391025"/>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E28C6C60-7AD5-4F86-BEF3-7D685984344B}"/>
              </a:ext>
            </a:extLst>
          </p:cNvPr>
          <p:cNvSpPr>
            <a:spLocks xmlns:a="http://schemas.openxmlformats.org/drawingml/2006/main" noGrp="1"/>
          </p:cNvSpPr>
          <p:nvPr/>
        </p:nvSpPr>
        <p:spPr>
          <a:xfrm xmlns:a="http://schemas.openxmlformats.org/drawingml/2006/main">
            <a:off x="7829550" y="4314825"/>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215"/>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Eye protection and heat-resistant gloves or tongs</a:t>
            </a:r>
          </a:p>
        </p:txBody>
      </p:sp>
      <p:sp>
        <p:nvSpPr>
          <p:cNvPr id="35" name="">
            <a:extLst xmlns:a="http://schemas.openxmlformats.org/drawingml/2006/main">
              <a:ext uri="{FF2B5EF4-FFF2-40B4-BE49-F238E27FC236}">
                <a16:creationId xmlns:a16="http://schemas.microsoft.com/office/drawing/2014/main" id="{7C5D0CEF-4FA9-4E85-AB2E-376294A05EF0}"/>
              </a:ext>
            </a:extLst>
          </p:cNvPr>
          <p:cNvSpPr>
            <a:spLocks xmlns:a="http://schemas.openxmlformats.org/drawingml/2006/main" noGrp="1"/>
          </p:cNvSpPr>
          <p:nvPr/>
        </p:nvSpPr>
        <p:spPr>
          <a:xfrm xmlns:a="http://schemas.openxmlformats.org/drawingml/2006/main">
            <a:off x="7600950" y="4800600"/>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D47FD40-521C-4C21-936A-BFDE9C9F9D68}"/>
              </a:ext>
            </a:extLst>
          </p:cNvPr>
          <p:cNvSpPr>
            <a:spLocks xmlns:a="http://schemas.openxmlformats.org/drawingml/2006/main" noGrp="1"/>
          </p:cNvSpPr>
          <p:nvPr/>
        </p:nvSpPr>
        <p:spPr>
          <a:xfrm xmlns:a="http://schemas.openxmlformats.org/drawingml/2006/main">
            <a:off x="7829550" y="4724400"/>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374"/>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Stable bath below waist height; electronics stay dry</a:t>
            </a:r>
          </a:p>
        </p:txBody>
      </p:sp>
      <p:sp>
        <p:nvSpPr>
          <p:cNvPr id="37" name="">
            <a:extLst xmlns:a="http://schemas.openxmlformats.org/drawingml/2006/main">
              <a:ext uri="{FF2B5EF4-FFF2-40B4-BE49-F238E27FC236}">
                <a16:creationId xmlns:a16="http://schemas.microsoft.com/office/drawing/2014/main" id="{B4834E86-C6CB-4BD7-8124-8818DF587AFC}"/>
              </a:ext>
            </a:extLst>
          </p:cNvPr>
          <p:cNvSpPr>
            <a:spLocks xmlns:a="http://schemas.openxmlformats.org/drawingml/2006/main" noGrp="1"/>
          </p:cNvSpPr>
          <p:nvPr/>
        </p:nvSpPr>
        <p:spPr>
          <a:xfrm xmlns:a="http://schemas.openxmlformats.org/drawingml/2006/main">
            <a:off x="7600950" y="5210175"/>
            <a:ext cx="76200" cy="76200"/>
          </a:xfrm>
          <a:prstGeom xmlns:a="http://schemas.openxmlformats.org/drawingml/2006/main" prst="roundRect">
            <a:avLst>
              <a:gd name="adj" fmla="val 50000"/>
            </a:avLst>
          </a:prstGeom>
          <a:solidFill xmlns:a="http://schemas.openxmlformats.org/drawingml/2006/main">
            <a:srgbClr val="F05252"/>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5D1E65C4-7360-498C-B912-DDA5353483FD}"/>
              </a:ext>
            </a:extLst>
          </p:cNvPr>
          <p:cNvSpPr>
            <a:spLocks xmlns:a="http://schemas.openxmlformats.org/drawingml/2006/main" noGrp="1"/>
          </p:cNvSpPr>
          <p:nvPr/>
        </p:nvSpPr>
        <p:spPr>
          <a:xfrm xmlns:a="http://schemas.openxmlformats.org/drawingml/2006/main">
            <a:off x="7829550" y="5133975"/>
            <a:ext cx="3409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215"/>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Stop for leakage, probe movement or wet insulation</a:t>
            </a:r>
          </a:p>
        </p:txBody>
      </p:sp>
    </p:spTree>
    <p:extLst>
      <p:ext uri="{BB962C8B-B14F-4D97-AF65-F5344CB8AC3E}">
        <p14:creationId xmlns:p14="http://schemas.microsoft.com/office/powerpoint/2010/main" val="413783700"/>
      </p:ext>
    </p:extLst>
  </p:cSld>
</p:sld>
</file>

<file path=ppt/slides/slide9.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5778CDE-D08A-4624-A34D-78A7713386B2}"/>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EA82284B-B7CE-4A5F-AC39-77EE8677DE29}"/>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Mission Control links prediction with measurement</a:t>
            </a:r>
          </a:p>
        </p:txBody>
      </p:sp>
      <p:sp>
        <p:nvSpPr>
          <p:cNvPr id="3" name="">
            <a:extLst xmlns:a="http://schemas.openxmlformats.org/drawingml/2006/main">
              <a:ext uri="{FF2B5EF4-FFF2-40B4-BE49-F238E27FC236}">
                <a16:creationId xmlns:a16="http://schemas.microsoft.com/office/drawing/2014/main" id="{6E982E9F-CB50-47C1-B7CA-355AB02BE90E}"/>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7CD9C56-7797-4E32-9487-BA55A334A876}"/>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AC9AD5D1-760C-406B-A660-21D4350699B4}"/>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09</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52bc277c9ef4a71"/>
          <a:srcRect xmlns:a="http://schemas.openxmlformats.org/drawingml/2006/main" l="0" t="0" r="0" b="0"/>
          <a:stretch xmlns:a="http://schemas.openxmlformats.org/drawingml/2006/main">
            <a:fillRect l="0" t="0" r="0" b="0"/>
          </a:stretch>
        </p:blipFill>
        <p:spPr>
          <a:xfrm xmlns:a="http://schemas.openxmlformats.org/drawingml/2006/main">
            <a:off x="495300" y="1428750"/>
            <a:ext cx="6477000" cy="4048125"/>
          </a:xfrm>
          <a:prstGeom xmlns:a="http://schemas.openxmlformats.org/drawingml/2006/main" prst="roundRect">
            <a:avLst>
              <a:gd name="adj" fmla="val 2824"/>
            </a:avLst>
          </a:prstGeom>
        </p:spPr>
      </p:pic>
      <p:sp>
        <p:nvSpPr>
          <p:cNvPr id="7" name="">
            <a:extLst xmlns:a="http://schemas.openxmlformats.org/drawingml/2006/main">
              <a:ext uri="{FF2B5EF4-FFF2-40B4-BE49-F238E27FC236}">
                <a16:creationId xmlns:a16="http://schemas.microsoft.com/office/drawing/2014/main" id="{30B0C8EB-AAA7-4C71-8BE9-6D5EE58E2528}"/>
              </a:ext>
            </a:extLst>
          </p:cNvPr>
          <p:cNvSpPr>
            <a:spLocks xmlns:a="http://schemas.openxmlformats.org/drawingml/2006/main" noGrp="1"/>
          </p:cNvSpPr>
          <p:nvPr/>
        </p:nvSpPr>
        <p:spPr>
          <a:xfrm xmlns:a="http://schemas.openxmlformats.org/drawingml/2006/main">
            <a:off x="7429500" y="149542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1</a:t>
            </a:r>
          </a:p>
        </p:txBody>
      </p:sp>
      <p:sp>
        <p:nvSpPr>
          <p:cNvPr id="8" name="">
            <a:extLst xmlns:a="http://schemas.openxmlformats.org/drawingml/2006/main">
              <a:ext uri="{FF2B5EF4-FFF2-40B4-BE49-F238E27FC236}">
                <a16:creationId xmlns:a16="http://schemas.microsoft.com/office/drawing/2014/main" id="{B5F92D6A-8B2A-4F2F-8DDD-0B7EAD4561FD}"/>
              </a:ext>
            </a:extLst>
          </p:cNvPr>
          <p:cNvSpPr>
            <a:spLocks xmlns:a="http://schemas.openxmlformats.org/drawingml/2006/main" noGrp="1"/>
          </p:cNvSpPr>
          <p:nvPr/>
        </p:nvSpPr>
        <p:spPr>
          <a:xfrm xmlns:a="http://schemas.openxmlformats.org/drawingml/2006/main">
            <a:off x="7924800" y="1495425"/>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Select a configuration</a:t>
            </a:r>
          </a:p>
        </p:txBody>
      </p:sp>
      <p:sp>
        <p:nvSpPr>
          <p:cNvPr id="9" name="">
            <a:extLst xmlns:a="http://schemas.openxmlformats.org/drawingml/2006/main">
              <a:ext uri="{FF2B5EF4-FFF2-40B4-BE49-F238E27FC236}">
                <a16:creationId xmlns:a16="http://schemas.microsoft.com/office/drawing/2014/main" id="{1FBBAC43-FBF0-4052-853F-094B5B5CB4AB}"/>
              </a:ext>
            </a:extLst>
          </p:cNvPr>
          <p:cNvSpPr>
            <a:spLocks xmlns:a="http://schemas.openxmlformats.org/drawingml/2006/main" noGrp="1"/>
          </p:cNvSpPr>
          <p:nvPr/>
        </p:nvSpPr>
        <p:spPr>
          <a:xfrm xmlns:a="http://schemas.openxmlformats.org/drawingml/2006/main">
            <a:off x="7924800" y="18192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Load its reference k value.</a:t>
            </a:r>
          </a:p>
        </p:txBody>
      </p:sp>
      <p:sp>
        <p:nvSpPr>
          <p:cNvPr id="10" name="">
            <a:extLst xmlns:a="http://schemas.openxmlformats.org/drawingml/2006/main">
              <a:ext uri="{FF2B5EF4-FFF2-40B4-BE49-F238E27FC236}">
                <a16:creationId xmlns:a16="http://schemas.microsoft.com/office/drawing/2014/main" id="{694B6133-A19A-44FF-A5F5-B19A2703F076}"/>
              </a:ext>
            </a:extLst>
          </p:cNvPr>
          <p:cNvSpPr>
            <a:spLocks xmlns:a="http://schemas.openxmlformats.org/drawingml/2006/main" noGrp="1"/>
          </p:cNvSpPr>
          <p:nvPr/>
        </p:nvSpPr>
        <p:spPr>
          <a:xfrm xmlns:a="http://schemas.openxmlformats.org/drawingml/2006/main">
            <a:off x="7429500" y="245745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34DA7E93-AE47-4161-BE55-1E32340B8AC3}"/>
              </a:ext>
            </a:extLst>
          </p:cNvPr>
          <p:cNvSpPr>
            <a:spLocks xmlns:a="http://schemas.openxmlformats.org/drawingml/2006/main" noGrp="1"/>
          </p:cNvSpPr>
          <p:nvPr/>
        </p:nvSpPr>
        <p:spPr>
          <a:xfrm xmlns:a="http://schemas.openxmlformats.org/drawingml/2006/main">
            <a:off x="7924800" y="245745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Set the boundary</a:t>
            </a:r>
          </a:p>
        </p:txBody>
      </p:sp>
      <p:sp>
        <p:nvSpPr>
          <p:cNvPr id="12" name="">
            <a:extLst xmlns:a="http://schemas.openxmlformats.org/drawingml/2006/main">
              <a:ext uri="{FF2B5EF4-FFF2-40B4-BE49-F238E27FC236}">
                <a16:creationId xmlns:a16="http://schemas.microsoft.com/office/drawing/2014/main" id="{872F84B4-9DEC-4435-8389-F82B94A36ADB}"/>
              </a:ext>
            </a:extLst>
          </p:cNvPr>
          <p:cNvSpPr>
            <a:spLocks xmlns:a="http://schemas.openxmlformats.org/drawingml/2006/main" noGrp="1"/>
          </p:cNvSpPr>
          <p:nvPr/>
        </p:nvSpPr>
        <p:spPr>
          <a:xfrm xmlns:a="http://schemas.openxmlformats.org/drawingml/2006/main">
            <a:off x="7924800" y="27813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Enter measured T₀ and Tenv.</a:t>
            </a:r>
          </a:p>
        </p:txBody>
      </p:sp>
      <p:sp>
        <p:nvSpPr>
          <p:cNvPr id="13" name="">
            <a:extLst xmlns:a="http://schemas.openxmlformats.org/drawingml/2006/main">
              <a:ext uri="{FF2B5EF4-FFF2-40B4-BE49-F238E27FC236}">
                <a16:creationId xmlns:a16="http://schemas.microsoft.com/office/drawing/2014/main" id="{FAA9E5C2-4948-4FAF-A360-58235E654C46}"/>
              </a:ext>
            </a:extLst>
          </p:cNvPr>
          <p:cNvSpPr>
            <a:spLocks xmlns:a="http://schemas.openxmlformats.org/drawingml/2006/main" noGrp="1"/>
          </p:cNvSpPr>
          <p:nvPr/>
        </p:nvSpPr>
        <p:spPr>
          <a:xfrm xmlns:a="http://schemas.openxmlformats.org/drawingml/2006/main">
            <a:off x="7429500" y="34194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3</a:t>
            </a:r>
          </a:p>
        </p:txBody>
      </p:sp>
      <p:sp>
        <p:nvSpPr>
          <p:cNvPr id="14" name="">
            <a:extLst xmlns:a="http://schemas.openxmlformats.org/drawingml/2006/main">
              <a:ext uri="{FF2B5EF4-FFF2-40B4-BE49-F238E27FC236}">
                <a16:creationId xmlns:a16="http://schemas.microsoft.com/office/drawing/2014/main" id="{243925DF-65A3-481C-A0E3-4A619FE7DD40}"/>
              </a:ext>
            </a:extLst>
          </p:cNvPr>
          <p:cNvSpPr>
            <a:spLocks xmlns:a="http://schemas.openxmlformats.org/drawingml/2006/main" noGrp="1"/>
          </p:cNvSpPr>
          <p:nvPr/>
        </p:nvSpPr>
        <p:spPr>
          <a:xfrm xmlns:a="http://schemas.openxmlformats.org/drawingml/2006/main">
            <a:off x="7924800" y="3419475"/>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Generate the prediction</a:t>
            </a:r>
          </a:p>
        </p:txBody>
      </p:sp>
      <p:sp>
        <p:nvSpPr>
          <p:cNvPr id="15" name="">
            <a:extLst xmlns:a="http://schemas.openxmlformats.org/drawingml/2006/main">
              <a:ext uri="{FF2B5EF4-FFF2-40B4-BE49-F238E27FC236}">
                <a16:creationId xmlns:a16="http://schemas.microsoft.com/office/drawing/2014/main" id="{92199B7F-5432-4D95-A9CB-386575F2A580}"/>
              </a:ext>
            </a:extLst>
          </p:cNvPr>
          <p:cNvSpPr>
            <a:spLocks xmlns:a="http://schemas.openxmlformats.org/drawingml/2006/main" noGrp="1"/>
          </p:cNvSpPr>
          <p:nvPr/>
        </p:nvSpPr>
        <p:spPr>
          <a:xfrm xmlns:a="http://schemas.openxmlformats.org/drawingml/2006/main">
            <a:off x="7924800" y="37433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Create a 0–15 minute cooling curve.</a:t>
            </a:r>
          </a:p>
        </p:txBody>
      </p:sp>
      <p:sp>
        <p:nvSpPr>
          <p:cNvPr id="16" name="">
            <a:extLst xmlns:a="http://schemas.openxmlformats.org/drawingml/2006/main">
              <a:ext uri="{FF2B5EF4-FFF2-40B4-BE49-F238E27FC236}">
                <a16:creationId xmlns:a16="http://schemas.microsoft.com/office/drawing/2014/main" id="{5472D71D-AED8-4E88-8E84-C46956EF128A}"/>
              </a:ext>
            </a:extLst>
          </p:cNvPr>
          <p:cNvSpPr>
            <a:spLocks xmlns:a="http://schemas.openxmlformats.org/drawingml/2006/main" noGrp="1"/>
          </p:cNvSpPr>
          <p:nvPr/>
        </p:nvSpPr>
        <p:spPr>
          <a:xfrm xmlns:a="http://schemas.openxmlformats.org/drawingml/2006/main">
            <a:off x="7429500" y="4381500"/>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722"/>
          </a:bodyPr>
          <a:lstStyle xmlns:a="http://schemas.openxmlformats.org/drawingml/2006/main"/>
          <a:p xmlns:a="http://schemas.openxmlformats.org/drawingml/2006/main">
            <a:pPr>
              <a:defRPr sz="1800" b="1">
                <a:solidFill>
                  <a:srgbClr val="F59E0B"/>
                </a:solidFill>
                <a:latin typeface="Avenir Next"/>
                <a:ea typeface="Avenir Next"/>
                <a:cs typeface="Avenir Next"/>
              </a:defRPr>
            </a:pPr>
            <a:r>
              <a:rPr sz="1800" b="1">
                <a:solidFill>
                  <a:srgbClr val="F59E0B"/>
                </a:solidFill>
                <a:latin typeface="Avenir Next"/>
                <a:ea typeface="Avenir Next"/>
                <a:cs typeface="Avenir Next"/>
              </a:rPr>
              <a:t>4</a:t>
            </a:r>
          </a:p>
        </p:txBody>
      </p:sp>
      <p:sp>
        <p:nvSpPr>
          <p:cNvPr id="17" name="">
            <a:extLst xmlns:a="http://schemas.openxmlformats.org/drawingml/2006/main">
              <a:ext uri="{FF2B5EF4-FFF2-40B4-BE49-F238E27FC236}">
                <a16:creationId xmlns:a16="http://schemas.microsoft.com/office/drawing/2014/main" id="{7F36E221-4C01-4391-AFA8-AA5C62F8BBF6}"/>
              </a:ext>
            </a:extLst>
          </p:cNvPr>
          <p:cNvSpPr>
            <a:spLocks xmlns:a="http://schemas.openxmlformats.org/drawingml/2006/main" noGrp="1"/>
          </p:cNvSpPr>
          <p:nvPr/>
        </p:nvSpPr>
        <p:spPr>
          <a:xfrm xmlns:a="http://schemas.openxmlformats.org/drawingml/2006/main">
            <a:off x="7924800" y="4381500"/>
            <a:ext cx="338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F8FC"/>
                </a:solidFill>
                <a:latin typeface="Avenir Next"/>
                <a:ea typeface="Avenir Next"/>
                <a:cs typeface="Avenir Next"/>
              </a:defRPr>
            </a:pPr>
            <a:r>
              <a:rPr sz="1575" b="1">
                <a:solidFill>
                  <a:srgbClr val="F5F8FC"/>
                </a:solidFill>
                <a:latin typeface="Avenir Next"/>
                <a:ea typeface="Avenir Next"/>
                <a:cs typeface="Avenir Next"/>
              </a:rPr>
              <a:t>Enter observations</a:t>
            </a:r>
          </a:p>
        </p:txBody>
      </p:sp>
      <p:sp>
        <p:nvSpPr>
          <p:cNvPr id="18" name="">
            <a:extLst xmlns:a="http://schemas.openxmlformats.org/drawingml/2006/main">
              <a:ext uri="{FF2B5EF4-FFF2-40B4-BE49-F238E27FC236}">
                <a16:creationId xmlns:a16="http://schemas.microsoft.com/office/drawing/2014/main" id="{59A97F8D-CD7E-4B87-B03E-BFACB14A1EFC}"/>
              </a:ext>
            </a:extLst>
          </p:cNvPr>
          <p:cNvSpPr>
            <a:spLocks xmlns:a="http://schemas.openxmlformats.org/drawingml/2006/main" noGrp="1"/>
          </p:cNvSpPr>
          <p:nvPr/>
        </p:nvSpPr>
        <p:spPr>
          <a:xfrm xmlns:a="http://schemas.openxmlformats.org/drawingml/2006/main">
            <a:off x="7924800" y="47053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Overlay telemetry and calculate MAE.</a:t>
            </a:r>
          </a:p>
        </p:txBody>
      </p:sp>
      <p:sp>
        <p:nvSpPr>
          <p:cNvPr id="19" name="">
            <a:extLst xmlns:a="http://schemas.openxmlformats.org/drawingml/2006/main">
              <a:ext uri="{FF2B5EF4-FFF2-40B4-BE49-F238E27FC236}">
                <a16:creationId xmlns:a16="http://schemas.microsoft.com/office/drawing/2014/main" id="{D7123B36-FA94-4FEB-BAF1-FD9EDD840CA0}"/>
              </a:ext>
            </a:extLst>
          </p:cNvPr>
          <p:cNvSpPr>
            <a:spLocks xmlns:a="http://schemas.openxmlformats.org/drawingml/2006/main" noGrp="1"/>
          </p:cNvSpPr>
          <p:nvPr/>
        </p:nvSpPr>
        <p:spPr>
          <a:xfrm xmlns:a="http://schemas.openxmlformats.org/drawingml/2006/main">
            <a:off x="7429500" y="5553075"/>
            <a:ext cx="3810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67"/>
          </a:bodyPr>
          <a:lstStyle xmlns:a="http://schemas.openxmlformats.org/drawingml/2006/main"/>
          <a:p xmlns:a="http://schemas.openxmlformats.org/drawingml/2006/main">
            <a:pPr>
              <a:defRPr sz="1500" b="1">
                <a:solidFill>
                  <a:srgbClr val="79D8F7"/>
                </a:solidFill>
                <a:latin typeface="Avenir Next"/>
                <a:ea typeface="Avenir Next"/>
                <a:cs typeface="Avenir Next"/>
              </a:defRPr>
            </a:pPr>
            <a:r>
              <a:rPr sz="1500" b="1">
                <a:solidFill>
                  <a:srgbClr val="79D8F7"/>
                </a:solidFill>
                <a:latin typeface="Avenir Next"/>
                <a:ea typeface="Avenir Next"/>
                <a:cs typeface="Avenir Next"/>
              </a:rPr>
              <a:t>Manual entry keeps the student involved in the act of measurement.</a:t>
            </a:r>
          </a:p>
        </p:txBody>
      </p:sp>
    </p:spTree>
    <p:extLst>
      <p:ext uri="{BB962C8B-B14F-4D97-AF65-F5344CB8AC3E}">
        <p14:creationId xmlns:p14="http://schemas.microsoft.com/office/powerpoint/2010/main" val="1431450390"/>
      </p:ext>
    </p:extLst>
  </p:cSld>
</p:sld>
</file>

<file path=ppt/slides/slide10.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1AAD2C7-8536-460D-8A37-E7E65664A224}"/>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28ABA058-5F1E-4B8A-A56D-8A4D50789179}"/>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Live demonstration: prediction to evaluation</a:t>
            </a:r>
          </a:p>
        </p:txBody>
      </p:sp>
      <p:sp>
        <p:nvSpPr>
          <p:cNvPr id="3" name="">
            <a:extLst xmlns:a="http://schemas.openxmlformats.org/drawingml/2006/main">
              <a:ext uri="{FF2B5EF4-FFF2-40B4-BE49-F238E27FC236}">
                <a16:creationId xmlns:a16="http://schemas.microsoft.com/office/drawing/2014/main" id="{69BD064D-EE5D-4050-953F-8FB4ADC38A21}"/>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4828768-F723-441A-A8DB-EE9426538E90}"/>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2D2F2927-401B-4CEB-9092-9507F2E65448}"/>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10</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61fb9a0732d409c"/>
          <a:srcRect xmlns:a="http://schemas.openxmlformats.org/drawingml/2006/main" l="446" t="0" r="446" b="0"/>
          <a:stretch xmlns:a="http://schemas.openxmlformats.org/drawingml/2006/main">
            <a:fillRect l="0" t="0" r="0" b="0"/>
          </a:stretch>
        </p:blipFill>
        <p:spPr>
          <a:xfrm xmlns:a="http://schemas.openxmlformats.org/drawingml/2006/main">
            <a:off x="495300" y="1428750"/>
            <a:ext cx="5286375" cy="3333750"/>
          </a:xfrm>
          <a:prstGeom xmlns:a="http://schemas.openxmlformats.org/drawingml/2006/main" prst="roundRect">
            <a:avLst>
              <a:gd name="adj" fmla="val 3429"/>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4f09d9dd1ba4066"/>
          <a:srcRect xmlns:a="http://schemas.openxmlformats.org/drawingml/2006/main" l="0" t="3020" r="0" b="3020"/>
          <a:stretch xmlns:a="http://schemas.openxmlformats.org/drawingml/2006/main">
            <a:fillRect l="0" t="0" r="0" b="0"/>
          </a:stretch>
        </p:blipFill>
        <p:spPr>
          <a:xfrm xmlns:a="http://schemas.openxmlformats.org/drawingml/2006/main">
            <a:off x="6019800" y="1428750"/>
            <a:ext cx="5676900" cy="3333750"/>
          </a:xfrm>
          <a:prstGeom xmlns:a="http://schemas.openxmlformats.org/drawingml/2006/main" prst="roundRect">
            <a:avLst>
              <a:gd name="adj" fmla="val 3429"/>
            </a:avLst>
          </a:prstGeom>
        </p:spPr>
      </p:pic>
      <p:sp>
        <p:nvSpPr>
          <p:cNvPr id="8" name="">
            <a:extLst xmlns:a="http://schemas.openxmlformats.org/drawingml/2006/main">
              <a:ext uri="{FF2B5EF4-FFF2-40B4-BE49-F238E27FC236}">
                <a16:creationId xmlns:a16="http://schemas.microsoft.com/office/drawing/2014/main" id="{AC34A67F-13A9-47D6-85A1-AFD3EA341CD9}"/>
              </a:ext>
            </a:extLst>
          </p:cNvPr>
          <p:cNvSpPr>
            <a:spLocks xmlns:a="http://schemas.openxmlformats.org/drawingml/2006/main" noGrp="1"/>
          </p:cNvSpPr>
          <p:nvPr/>
        </p:nvSpPr>
        <p:spPr>
          <a:xfrm xmlns:a="http://schemas.openxmlformats.org/drawingml/2006/main">
            <a:off x="5905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1</a:t>
            </a:r>
          </a:p>
        </p:txBody>
      </p:sp>
      <p:sp>
        <p:nvSpPr>
          <p:cNvPr id="9" name="">
            <a:extLst xmlns:a="http://schemas.openxmlformats.org/drawingml/2006/main">
              <a:ext uri="{FF2B5EF4-FFF2-40B4-BE49-F238E27FC236}">
                <a16:creationId xmlns:a16="http://schemas.microsoft.com/office/drawing/2014/main" id="{A0748672-BAF6-45ED-A284-145FAE2AEFDA}"/>
              </a:ext>
            </a:extLst>
          </p:cNvPr>
          <p:cNvSpPr>
            <a:spLocks xmlns:a="http://schemas.openxmlformats.org/drawingml/2006/main" noGrp="1"/>
          </p:cNvSpPr>
          <p:nvPr/>
        </p:nvSpPr>
        <p:spPr>
          <a:xfrm xmlns:a="http://schemas.openxmlformats.org/drawingml/2006/main">
            <a:off x="9620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Choose Full MLI and confirm k = 0.015 min⁻¹</a:t>
            </a:r>
          </a:p>
        </p:txBody>
      </p:sp>
      <p:sp>
        <p:nvSpPr>
          <p:cNvPr id="10" name="">
            <a:extLst xmlns:a="http://schemas.openxmlformats.org/drawingml/2006/main">
              <a:ext uri="{FF2B5EF4-FFF2-40B4-BE49-F238E27FC236}">
                <a16:creationId xmlns:a16="http://schemas.microsoft.com/office/drawing/2014/main" id="{335D1019-1385-4877-92EB-B11CD3734953}"/>
              </a:ext>
            </a:extLst>
          </p:cNvPr>
          <p:cNvSpPr>
            <a:spLocks xmlns:a="http://schemas.openxmlformats.org/drawingml/2006/main" noGrp="1"/>
          </p:cNvSpPr>
          <p:nvPr/>
        </p:nvSpPr>
        <p:spPr>
          <a:xfrm xmlns:a="http://schemas.openxmlformats.org/drawingml/2006/main">
            <a:off x="33718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2</a:t>
            </a:r>
          </a:p>
        </p:txBody>
      </p:sp>
      <p:sp>
        <p:nvSpPr>
          <p:cNvPr id="11" name="">
            <a:extLst xmlns:a="http://schemas.openxmlformats.org/drawingml/2006/main">
              <a:ext uri="{FF2B5EF4-FFF2-40B4-BE49-F238E27FC236}">
                <a16:creationId xmlns:a16="http://schemas.microsoft.com/office/drawing/2014/main" id="{0BDB0C9A-D51E-40C1-ADE4-C4025BBAA8A1}"/>
              </a:ext>
            </a:extLst>
          </p:cNvPr>
          <p:cNvSpPr>
            <a:spLocks xmlns:a="http://schemas.openxmlformats.org/drawingml/2006/main" noGrp="1"/>
          </p:cNvSpPr>
          <p:nvPr/>
        </p:nvSpPr>
        <p:spPr>
          <a:xfrm xmlns:a="http://schemas.openxmlformats.org/drawingml/2006/main">
            <a:off x="37433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Run the 80 °C / 0 °C / 15 min prediction</a:t>
            </a:r>
          </a:p>
        </p:txBody>
      </p:sp>
      <p:sp>
        <p:nvSpPr>
          <p:cNvPr id="12" name="">
            <a:extLst xmlns:a="http://schemas.openxmlformats.org/drawingml/2006/main">
              <a:ext uri="{FF2B5EF4-FFF2-40B4-BE49-F238E27FC236}">
                <a16:creationId xmlns:a16="http://schemas.microsoft.com/office/drawing/2014/main" id="{24A6BAC6-36F6-4EBC-8D4F-8DC03ECA03E6}"/>
              </a:ext>
            </a:extLst>
          </p:cNvPr>
          <p:cNvSpPr>
            <a:spLocks xmlns:a="http://schemas.openxmlformats.org/drawingml/2006/main" noGrp="1"/>
          </p:cNvSpPr>
          <p:nvPr/>
        </p:nvSpPr>
        <p:spPr>
          <a:xfrm xmlns:a="http://schemas.openxmlformats.org/drawingml/2006/main">
            <a:off x="61531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3</a:t>
            </a:r>
          </a:p>
        </p:txBody>
      </p:sp>
      <p:sp>
        <p:nvSpPr>
          <p:cNvPr id="13" name="">
            <a:extLst xmlns:a="http://schemas.openxmlformats.org/drawingml/2006/main">
              <a:ext uri="{FF2B5EF4-FFF2-40B4-BE49-F238E27FC236}">
                <a16:creationId xmlns:a16="http://schemas.microsoft.com/office/drawing/2014/main" id="{CD125795-6F8A-47AA-BD5D-1730B344DB36}"/>
              </a:ext>
            </a:extLst>
          </p:cNvPr>
          <p:cNvSpPr>
            <a:spLocks xmlns:a="http://schemas.openxmlformats.org/drawingml/2006/main" noGrp="1"/>
          </p:cNvSpPr>
          <p:nvPr/>
        </p:nvSpPr>
        <p:spPr>
          <a:xfrm xmlns:a="http://schemas.openxmlformats.org/drawingml/2006/main">
            <a:off x="65246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Open Measurements and show the worked telemetry overlay</a:t>
            </a:r>
          </a:p>
        </p:txBody>
      </p:sp>
      <p:sp>
        <p:nvSpPr>
          <p:cNvPr id="14" name="">
            <a:extLst xmlns:a="http://schemas.openxmlformats.org/drawingml/2006/main">
              <a:ext uri="{FF2B5EF4-FFF2-40B4-BE49-F238E27FC236}">
                <a16:creationId xmlns:a16="http://schemas.microsoft.com/office/drawing/2014/main" id="{918B8AFA-EF5C-4FF7-8835-F294AA180C5D}"/>
              </a:ext>
            </a:extLst>
          </p:cNvPr>
          <p:cNvSpPr>
            <a:spLocks xmlns:a="http://schemas.openxmlformats.org/drawingml/2006/main" noGrp="1"/>
          </p:cNvSpPr>
          <p:nvPr/>
        </p:nvSpPr>
        <p:spPr>
          <a:xfrm xmlns:a="http://schemas.openxmlformats.org/drawingml/2006/main">
            <a:off x="8934450" y="5095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defRPr sz="1725" b="1">
                <a:solidFill>
                  <a:srgbClr val="F59E0B"/>
                </a:solidFill>
                <a:latin typeface="Avenir Next"/>
                <a:ea typeface="Avenir Next"/>
                <a:cs typeface="Avenir Next"/>
              </a:defRPr>
            </a:pPr>
            <a:r>
              <a:rPr sz="1725" b="1">
                <a:solidFill>
                  <a:srgbClr val="F59E0B"/>
                </a:solidFill>
                <a:latin typeface="Avenir Next"/>
                <a:ea typeface="Avenir Next"/>
                <a:cs typeface="Avenir Next"/>
              </a:rPr>
              <a:t>4</a:t>
            </a:r>
          </a:p>
        </p:txBody>
      </p:sp>
      <p:sp>
        <p:nvSpPr>
          <p:cNvPr id="15" name="">
            <a:extLst xmlns:a="http://schemas.openxmlformats.org/drawingml/2006/main">
              <a:ext uri="{FF2B5EF4-FFF2-40B4-BE49-F238E27FC236}">
                <a16:creationId xmlns:a16="http://schemas.microsoft.com/office/drawing/2014/main" id="{4FB3C105-F118-43A5-88B3-4447B23309BC}"/>
              </a:ext>
            </a:extLst>
          </p:cNvPr>
          <p:cNvSpPr>
            <a:spLocks xmlns:a="http://schemas.openxmlformats.org/drawingml/2006/main" noGrp="1"/>
          </p:cNvSpPr>
          <p:nvPr/>
        </p:nvSpPr>
        <p:spPr>
          <a:xfrm xmlns:a="http://schemas.openxmlformats.org/drawingml/2006/main">
            <a:off x="9305925" y="504825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D8E4F2"/>
                </a:solidFill>
                <a:latin typeface="Avenir Next"/>
                <a:ea typeface="Avenir Next"/>
                <a:cs typeface="Avenir Next"/>
              </a:defRPr>
            </a:pPr>
            <a:r>
              <a:rPr sz="1275" b="0">
                <a:solidFill>
                  <a:srgbClr val="D8E4F2"/>
                </a:solidFill>
                <a:latin typeface="Avenir Next"/>
                <a:ea typeface="Avenir Next"/>
                <a:cs typeface="Avenir Next"/>
              </a:rPr>
              <a:t>Read the 0.98 °C MAE and discuss one residual</a:t>
            </a:r>
          </a:p>
        </p:txBody>
      </p:sp>
      <p:sp>
        <p:nvSpPr>
          <p:cNvPr id="16" name="">
            <a:extLst xmlns:a="http://schemas.openxmlformats.org/drawingml/2006/main">
              <a:ext uri="{FF2B5EF4-FFF2-40B4-BE49-F238E27FC236}">
                <a16:creationId xmlns:a16="http://schemas.microsoft.com/office/drawing/2014/main" id="{804738AB-A494-426E-8C8A-1C5029000E05}"/>
              </a:ext>
            </a:extLst>
          </p:cNvPr>
          <p:cNvSpPr>
            <a:spLocks xmlns:a="http://schemas.openxmlformats.org/drawingml/2006/main" noGrp="1"/>
          </p:cNvSpPr>
          <p:nvPr/>
        </p:nvSpPr>
        <p:spPr>
          <a:xfrm xmlns:a="http://schemas.openxmlformats.org/drawingml/2006/main">
            <a:off x="495300" y="60102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1">
                <a:solidFill>
                  <a:srgbClr val="79D8F7"/>
                </a:solidFill>
                <a:latin typeface="Avenir Next"/>
                <a:ea typeface="Avenir Next"/>
                <a:cs typeface="Avenir Next"/>
              </a:defRPr>
            </a:pPr>
            <a:r>
              <a:rPr sz="1350" b="1">
                <a:solidFill>
                  <a:srgbClr val="79D8F7"/>
                </a:solidFill>
                <a:latin typeface="Avenir Next"/>
                <a:ea typeface="Avenir Next"/>
                <a:cs typeface="Avenir Next"/>
              </a:rPr>
              <a:t>If the browser or CDN assets fail, present these two verified screenshots and continue.</a:t>
            </a:r>
          </a:p>
        </p:txBody>
      </p:sp>
    </p:spTree>
    <p:extLst>
      <p:ext uri="{BB962C8B-B14F-4D97-AF65-F5344CB8AC3E}">
        <p14:creationId xmlns:p14="http://schemas.microsoft.com/office/powerpoint/2010/main" val="1235492872"/>
      </p:ext>
    </p:extLst>
  </p:cSld>
</p:sld>
</file>

<file path=ppt/slides/slide11.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4AB5F16-9A4C-4DF1-871D-6739C772BF5A}"/>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79A2AEC8-89A8-4674-A2F5-A647C5022880}"/>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Reference model separates the four expected cooling rates</a:t>
            </a:r>
          </a:p>
        </p:txBody>
      </p:sp>
      <p:sp>
        <p:nvSpPr>
          <p:cNvPr id="3" name="">
            <a:extLst xmlns:a="http://schemas.openxmlformats.org/drawingml/2006/main">
              <a:ext uri="{FF2B5EF4-FFF2-40B4-BE49-F238E27FC236}">
                <a16:creationId xmlns:a16="http://schemas.microsoft.com/office/drawing/2014/main" id="{1B26F7B8-4734-4594-A402-0DF8A5BD5F8A}"/>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EAFDF8F-4A8C-45A4-80C4-AFBA579CCD51}"/>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E4AABD46-3AB9-47BC-BF03-A33FC8602906}"/>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11</a:t>
            </a:r>
          </a:p>
        </p:txBody>
      </p:sp>
      <p:graphicFrame>
        <p:nvGraphicFramePr>
          <p:cNvPr id="26" name="Chart"/>
          <p:cNvGraphicFramePr/>
          <p:nvPr/>
        </p:nvGraphicFramePr>
        <p:xfrm>
          <a:off xmlns:a="http://schemas.openxmlformats.org/drawingml/2006/main" x="495300" y="1381125"/>
          <a:ext xmlns:a="http://schemas.openxmlformats.org/drawingml/2006/main" cx="7810500" cy="4476750"/>
        </p:xfrm>
        <a:graphic xmlns:a="http://schemas.openxmlformats.org/drawingml/2006/main">
          <a:graphicData uri="http://schemas.openxmlformats.org/drawingml/2006/chart">
            <c:chart xmlns:r="http://schemas.openxmlformats.org/officeDocument/2006/relationships" xmlns:c="http://schemas.openxmlformats.org/drawingml/2006/chart" r:id="Re59be4670a2e4d34"/>
          </a:graphicData>
        </a:graphic>
      </p:graphicFrame>
      <p:sp>
        <p:nvSpPr>
          <p:cNvPr id="7" name="">
            <a:extLst xmlns:a="http://schemas.openxmlformats.org/drawingml/2006/main">
              <a:ext uri="{FF2B5EF4-FFF2-40B4-BE49-F238E27FC236}">
                <a16:creationId xmlns:a16="http://schemas.microsoft.com/office/drawing/2014/main" id="{AC2567A8-1DEA-4E1D-ACAF-6EE7C9278E75}"/>
              </a:ext>
            </a:extLst>
          </p:cNvPr>
          <p:cNvSpPr>
            <a:spLocks xmlns:a="http://schemas.openxmlformats.org/drawingml/2006/main" noGrp="1"/>
          </p:cNvSpPr>
          <p:nvPr/>
        </p:nvSpPr>
        <p:spPr>
          <a:xfrm xmlns:a="http://schemas.openxmlformats.org/drawingml/2006/main">
            <a:off x="8715375" y="1476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MODEL T₁₅</a:t>
            </a:r>
          </a:p>
        </p:txBody>
      </p:sp>
      <p:sp>
        <p:nvSpPr>
          <p:cNvPr id="8" name="">
            <a:extLst xmlns:a="http://schemas.openxmlformats.org/drawingml/2006/main">
              <a:ext uri="{FF2B5EF4-FFF2-40B4-BE49-F238E27FC236}">
                <a16:creationId xmlns:a16="http://schemas.microsoft.com/office/drawing/2014/main" id="{EA6F9E37-C02E-43B2-8ED0-4A9F4B9E9862}"/>
              </a:ext>
            </a:extLst>
          </p:cNvPr>
          <p:cNvSpPr>
            <a:spLocks xmlns:a="http://schemas.openxmlformats.org/drawingml/2006/main" noGrp="1"/>
          </p:cNvSpPr>
          <p:nvPr/>
        </p:nvSpPr>
        <p:spPr>
          <a:xfrm xmlns:a="http://schemas.openxmlformats.org/drawingml/2006/main">
            <a:off x="8715375" y="185737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F05252"/>
                </a:solidFill>
                <a:latin typeface="Avenir Next"/>
                <a:ea typeface="Avenir Next"/>
                <a:cs typeface="Avenir Next"/>
              </a:defRPr>
            </a:pPr>
            <a:r>
              <a:rPr sz="1425" b="1">
                <a:solidFill>
                  <a:srgbClr val="F05252"/>
                </a:solidFill>
                <a:latin typeface="Avenir Next"/>
                <a:ea typeface="Avenir Next"/>
                <a:cs typeface="Avenir Next"/>
              </a:rPr>
              <a:t>Bare</a:t>
            </a:r>
          </a:p>
        </p:txBody>
      </p:sp>
      <p:sp>
        <p:nvSpPr>
          <p:cNvPr id="9" name="">
            <a:extLst xmlns:a="http://schemas.openxmlformats.org/drawingml/2006/main">
              <a:ext uri="{FF2B5EF4-FFF2-40B4-BE49-F238E27FC236}">
                <a16:creationId xmlns:a16="http://schemas.microsoft.com/office/drawing/2014/main" id="{6DAEBEFB-3521-48CF-8858-0098B6828705}"/>
              </a:ext>
            </a:extLst>
          </p:cNvPr>
          <p:cNvSpPr>
            <a:spLocks xmlns:a="http://schemas.openxmlformats.org/drawingml/2006/main" noGrp="1"/>
          </p:cNvSpPr>
          <p:nvPr/>
        </p:nvSpPr>
        <p:spPr>
          <a:xfrm xmlns:a="http://schemas.openxmlformats.org/drawingml/2006/main">
            <a:off x="10287000" y="182880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8.4 °C</a:t>
            </a:r>
          </a:p>
        </p:txBody>
      </p:sp>
      <p:sp>
        <p:nvSpPr>
          <p:cNvPr id="10" name="">
            <a:extLst xmlns:a="http://schemas.openxmlformats.org/drawingml/2006/main">
              <a:ext uri="{FF2B5EF4-FFF2-40B4-BE49-F238E27FC236}">
                <a16:creationId xmlns:a16="http://schemas.microsoft.com/office/drawing/2014/main" id="{2B17E614-6D4E-4496-9F33-2786D95C942A}"/>
              </a:ext>
            </a:extLst>
          </p:cNvPr>
          <p:cNvSpPr>
            <a:spLocks xmlns:a="http://schemas.openxmlformats.org/drawingml/2006/main" noGrp="1"/>
          </p:cNvSpPr>
          <p:nvPr/>
        </p:nvSpPr>
        <p:spPr>
          <a:xfrm xmlns:a="http://schemas.openxmlformats.org/drawingml/2006/main">
            <a:off x="8715375" y="2247900"/>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6C37C36-AFD3-4203-89F7-30565C3A387D}"/>
              </a:ext>
            </a:extLst>
          </p:cNvPr>
          <p:cNvSpPr>
            <a:spLocks xmlns:a="http://schemas.openxmlformats.org/drawingml/2006/main" noGrp="1"/>
          </p:cNvSpPr>
          <p:nvPr/>
        </p:nvSpPr>
        <p:spPr>
          <a:xfrm xmlns:a="http://schemas.openxmlformats.org/drawingml/2006/main">
            <a:off x="8715375" y="26860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22B8F0"/>
                </a:solidFill>
                <a:latin typeface="Avenir Next"/>
                <a:ea typeface="Avenir Next"/>
                <a:cs typeface="Avenir Next"/>
              </a:defRPr>
            </a:pPr>
            <a:r>
              <a:rPr sz="1425" b="1">
                <a:solidFill>
                  <a:srgbClr val="22B8F0"/>
                </a:solidFill>
                <a:latin typeface="Avenir Next"/>
                <a:ea typeface="Avenir Next"/>
                <a:cs typeface="Avenir Next"/>
              </a:rPr>
              <a:t>Bubble</a:t>
            </a:r>
          </a:p>
        </p:txBody>
      </p:sp>
      <p:sp>
        <p:nvSpPr>
          <p:cNvPr id="12" name="">
            <a:extLst xmlns:a="http://schemas.openxmlformats.org/drawingml/2006/main">
              <a:ext uri="{FF2B5EF4-FFF2-40B4-BE49-F238E27FC236}">
                <a16:creationId xmlns:a16="http://schemas.microsoft.com/office/drawing/2014/main" id="{0D419F80-3AB9-4F21-9ABF-3BEE85017D54}"/>
              </a:ext>
            </a:extLst>
          </p:cNvPr>
          <p:cNvSpPr>
            <a:spLocks xmlns:a="http://schemas.openxmlformats.org/drawingml/2006/main" noGrp="1"/>
          </p:cNvSpPr>
          <p:nvPr/>
        </p:nvSpPr>
        <p:spPr>
          <a:xfrm xmlns:a="http://schemas.openxmlformats.org/drawingml/2006/main">
            <a:off x="10287000" y="2657475"/>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43.9 °C</a:t>
            </a:r>
          </a:p>
        </p:txBody>
      </p:sp>
      <p:sp>
        <p:nvSpPr>
          <p:cNvPr id="13" name="">
            <a:extLst xmlns:a="http://schemas.openxmlformats.org/drawingml/2006/main">
              <a:ext uri="{FF2B5EF4-FFF2-40B4-BE49-F238E27FC236}">
                <a16:creationId xmlns:a16="http://schemas.microsoft.com/office/drawing/2014/main" id="{ABDCA954-C926-44CB-BAC2-1AE2D0E76E9B}"/>
              </a:ext>
            </a:extLst>
          </p:cNvPr>
          <p:cNvSpPr>
            <a:spLocks xmlns:a="http://schemas.openxmlformats.org/drawingml/2006/main" noGrp="1"/>
          </p:cNvSpPr>
          <p:nvPr/>
        </p:nvSpPr>
        <p:spPr>
          <a:xfrm xmlns:a="http://schemas.openxmlformats.org/drawingml/2006/main">
            <a:off x="8715375" y="3076575"/>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29CFA07-EEFD-4AFD-9004-C33BB30EE578}"/>
              </a:ext>
            </a:extLst>
          </p:cNvPr>
          <p:cNvSpPr>
            <a:spLocks xmlns:a="http://schemas.openxmlformats.org/drawingml/2006/main" noGrp="1"/>
          </p:cNvSpPr>
          <p:nvPr/>
        </p:nvSpPr>
        <p:spPr>
          <a:xfrm xmlns:a="http://schemas.openxmlformats.org/drawingml/2006/main">
            <a:off x="8715375" y="351472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F59E0B"/>
                </a:solidFill>
                <a:latin typeface="Avenir Next"/>
                <a:ea typeface="Avenir Next"/>
                <a:cs typeface="Avenir Next"/>
              </a:defRPr>
            </a:pPr>
            <a:r>
              <a:rPr sz="1425" b="1">
                <a:solidFill>
                  <a:srgbClr val="F59E0B"/>
                </a:solidFill>
                <a:latin typeface="Avenir Next"/>
                <a:ea typeface="Avenir Next"/>
                <a:cs typeface="Avenir Next"/>
              </a:rPr>
              <a:t>Mylar</a:t>
            </a:r>
          </a:p>
        </p:txBody>
      </p:sp>
      <p:sp>
        <p:nvSpPr>
          <p:cNvPr id="15" name="">
            <a:extLst xmlns:a="http://schemas.openxmlformats.org/drawingml/2006/main">
              <a:ext uri="{FF2B5EF4-FFF2-40B4-BE49-F238E27FC236}">
                <a16:creationId xmlns:a16="http://schemas.microsoft.com/office/drawing/2014/main" id="{279C0A75-8D21-4354-9FC9-E3316733992F}"/>
              </a:ext>
            </a:extLst>
          </p:cNvPr>
          <p:cNvSpPr>
            <a:spLocks xmlns:a="http://schemas.openxmlformats.org/drawingml/2006/main" noGrp="1"/>
          </p:cNvSpPr>
          <p:nvPr/>
        </p:nvSpPr>
        <p:spPr>
          <a:xfrm xmlns:a="http://schemas.openxmlformats.org/drawingml/2006/main">
            <a:off x="10287000" y="3486150"/>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13.0 °C</a:t>
            </a:r>
          </a:p>
        </p:txBody>
      </p:sp>
      <p:sp>
        <p:nvSpPr>
          <p:cNvPr id="16" name="">
            <a:extLst xmlns:a="http://schemas.openxmlformats.org/drawingml/2006/main">
              <a:ext uri="{FF2B5EF4-FFF2-40B4-BE49-F238E27FC236}">
                <a16:creationId xmlns:a16="http://schemas.microsoft.com/office/drawing/2014/main" id="{FB5ED7CD-7EAA-4903-A1A8-918B8BBF428A}"/>
              </a:ext>
            </a:extLst>
          </p:cNvPr>
          <p:cNvSpPr>
            <a:spLocks xmlns:a="http://schemas.openxmlformats.org/drawingml/2006/main" noGrp="1"/>
          </p:cNvSpPr>
          <p:nvPr/>
        </p:nvSpPr>
        <p:spPr>
          <a:xfrm xmlns:a="http://schemas.openxmlformats.org/drawingml/2006/main">
            <a:off x="8715375" y="3905250"/>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7D6EDE0-95BB-470E-8FFE-7F472307B97E}"/>
              </a:ext>
            </a:extLst>
          </p:cNvPr>
          <p:cNvSpPr>
            <a:spLocks xmlns:a="http://schemas.openxmlformats.org/drawingml/2006/main" noGrp="1"/>
          </p:cNvSpPr>
          <p:nvPr/>
        </p:nvSpPr>
        <p:spPr>
          <a:xfrm xmlns:a="http://schemas.openxmlformats.org/drawingml/2006/main">
            <a:off x="8715375" y="43434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930"/>
          </a:bodyPr>
          <a:lstStyle xmlns:a="http://schemas.openxmlformats.org/drawingml/2006/main"/>
          <a:p xmlns:a="http://schemas.openxmlformats.org/drawingml/2006/main">
            <a:pPr>
              <a:defRPr sz="1425" b="1">
                <a:solidFill>
                  <a:srgbClr val="21C98A"/>
                </a:solidFill>
                <a:latin typeface="Avenir Next"/>
                <a:ea typeface="Avenir Next"/>
                <a:cs typeface="Avenir Next"/>
              </a:defRPr>
            </a:pPr>
            <a:r>
              <a:rPr sz="1425" b="1">
                <a:solidFill>
                  <a:srgbClr val="21C98A"/>
                </a:solidFill>
                <a:latin typeface="Avenir Next"/>
                <a:ea typeface="Avenir Next"/>
                <a:cs typeface="Avenir Next"/>
              </a:rPr>
              <a:t>Full MLI</a:t>
            </a:r>
          </a:p>
        </p:txBody>
      </p:sp>
      <p:sp>
        <p:nvSpPr>
          <p:cNvPr id="18" name="">
            <a:extLst xmlns:a="http://schemas.openxmlformats.org/drawingml/2006/main">
              <a:ext uri="{FF2B5EF4-FFF2-40B4-BE49-F238E27FC236}">
                <a16:creationId xmlns:a16="http://schemas.microsoft.com/office/drawing/2014/main" id="{A167213C-9431-4D46-8D52-3926B0D22F30}"/>
              </a:ext>
            </a:extLst>
          </p:cNvPr>
          <p:cNvSpPr>
            <a:spLocks xmlns:a="http://schemas.openxmlformats.org/drawingml/2006/main" noGrp="1"/>
          </p:cNvSpPr>
          <p:nvPr/>
        </p:nvSpPr>
        <p:spPr>
          <a:xfrm xmlns:a="http://schemas.openxmlformats.org/drawingml/2006/main">
            <a:off x="10287000" y="4314825"/>
            <a:ext cx="109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7778"/>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63.9 °C</a:t>
            </a:r>
          </a:p>
        </p:txBody>
      </p:sp>
      <p:sp>
        <p:nvSpPr>
          <p:cNvPr id="19" name="">
            <a:extLst xmlns:a="http://schemas.openxmlformats.org/drawingml/2006/main">
              <a:ext uri="{FF2B5EF4-FFF2-40B4-BE49-F238E27FC236}">
                <a16:creationId xmlns:a16="http://schemas.microsoft.com/office/drawing/2014/main" id="{253F3046-B466-47D1-B410-4FFDC7BCEE30}"/>
              </a:ext>
            </a:extLst>
          </p:cNvPr>
          <p:cNvSpPr>
            <a:spLocks xmlns:a="http://schemas.openxmlformats.org/drawingml/2006/main" noGrp="1"/>
          </p:cNvSpPr>
          <p:nvPr/>
        </p:nvSpPr>
        <p:spPr>
          <a:xfrm xmlns:a="http://schemas.openxmlformats.org/drawingml/2006/main">
            <a:off x="8715375" y="4733925"/>
            <a:ext cx="2667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AFC665F-4A2B-48C8-BF94-B375CAABCE7A}"/>
              </a:ext>
            </a:extLst>
          </p:cNvPr>
          <p:cNvSpPr>
            <a:spLocks xmlns:a="http://schemas.openxmlformats.org/drawingml/2006/main" noGrp="1"/>
          </p:cNvSpPr>
          <p:nvPr/>
        </p:nvSpPr>
        <p:spPr>
          <a:xfrm xmlns:a="http://schemas.openxmlformats.org/drawingml/2006/main">
            <a:off x="8715375" y="5286375"/>
            <a:ext cx="266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Assumptions: T₀ = 80 °C and Tenv = 0 °C</a:t>
            </a:r>
          </a:p>
        </p:txBody>
      </p:sp>
    </p:spTree>
    <p:extLst>
      <p:ext uri="{BB962C8B-B14F-4D97-AF65-F5344CB8AC3E}">
        <p14:creationId xmlns:p14="http://schemas.microsoft.com/office/powerpoint/2010/main" val="766048610"/>
      </p:ext>
    </p:extLst>
  </p:cSld>
</p:sld>
</file>

<file path=ppt/slides/slide12.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EF9B46B-2118-493B-BECC-E637ACBA353E}"/>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61E408D1-6D01-48C2-B0D6-E8C330D109F0}"/>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96"/>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The worked example shows the full MLI retaining the most heat</a:t>
            </a:r>
          </a:p>
        </p:txBody>
      </p:sp>
      <p:sp>
        <p:nvSpPr>
          <p:cNvPr id="3" name="">
            <a:extLst xmlns:a="http://schemas.openxmlformats.org/drawingml/2006/main">
              <a:ext uri="{FF2B5EF4-FFF2-40B4-BE49-F238E27FC236}">
                <a16:creationId xmlns:a16="http://schemas.microsoft.com/office/drawing/2014/main" id="{201922A3-5B13-4A1B-ADEC-72A464244FE1}"/>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9FF2599-08D6-4BC9-99B1-3A8F2FE11549}"/>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EA7FC0BE-C45F-413A-8733-19DF9216DD65}"/>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12</a:t>
            </a:r>
          </a:p>
        </p:txBody>
      </p:sp>
      <p:graphicFrame>
        <p:nvGraphicFramePr>
          <p:cNvPr id="30" name="Chart"/>
          <p:cNvGraphicFramePr/>
          <p:nvPr/>
        </p:nvGraphicFramePr>
        <p:xfrm>
          <a:off xmlns:a="http://schemas.openxmlformats.org/drawingml/2006/main" x="495300" y="1381125"/>
          <a:ext xmlns:a="http://schemas.openxmlformats.org/drawingml/2006/main" cx="7524750" cy="4524375"/>
        </p:xfrm>
        <a:graphic xmlns:a="http://schemas.openxmlformats.org/drawingml/2006/main">
          <a:graphicData uri="http://schemas.openxmlformats.org/drawingml/2006/chart">
            <c:chart xmlns:r="http://schemas.openxmlformats.org/officeDocument/2006/relationships" xmlns:c="http://schemas.openxmlformats.org/drawingml/2006/chart" r:id="Re6a734d3cfb54803"/>
          </a:graphicData>
        </a:graphic>
      </p:graphicFrame>
      <p:sp>
        <p:nvSpPr>
          <p:cNvPr id="7" name="">
            <a:extLst xmlns:a="http://schemas.openxmlformats.org/drawingml/2006/main">
              <a:ext uri="{FF2B5EF4-FFF2-40B4-BE49-F238E27FC236}">
                <a16:creationId xmlns:a16="http://schemas.microsoft.com/office/drawing/2014/main" id="{C3831DD8-F87B-43DF-AF0A-35DB48FB05B7}"/>
              </a:ext>
            </a:extLst>
          </p:cNvPr>
          <p:cNvSpPr>
            <a:spLocks xmlns:a="http://schemas.openxmlformats.org/drawingml/2006/main" noGrp="1"/>
          </p:cNvSpPr>
          <p:nvPr/>
        </p:nvSpPr>
        <p:spPr>
          <a:xfrm xmlns:a="http://schemas.openxmlformats.org/drawingml/2006/main">
            <a:off x="8429625" y="15430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21C98A"/>
                </a:solidFill>
                <a:latin typeface="Avenir Next"/>
                <a:ea typeface="Avenir Next"/>
                <a:cs typeface="Avenir Next"/>
              </a:defRPr>
            </a:pPr>
            <a:r>
              <a:rPr sz="1500" b="1">
                <a:solidFill>
                  <a:srgbClr val="21C98A"/>
                </a:solidFill>
                <a:latin typeface="Avenir Next"/>
                <a:ea typeface="Avenir Next"/>
                <a:cs typeface="Avenir Next"/>
              </a:rPr>
              <a:t>Full MLI</a:t>
            </a:r>
          </a:p>
        </p:txBody>
      </p:sp>
      <p:sp>
        <p:nvSpPr>
          <p:cNvPr id="8" name="">
            <a:extLst xmlns:a="http://schemas.openxmlformats.org/drawingml/2006/main">
              <a:ext uri="{FF2B5EF4-FFF2-40B4-BE49-F238E27FC236}">
                <a16:creationId xmlns:a16="http://schemas.microsoft.com/office/drawing/2014/main" id="{6A21CD81-C452-4294-B01B-AB9D0B5DC0B8}"/>
              </a:ext>
            </a:extLst>
          </p:cNvPr>
          <p:cNvSpPr>
            <a:spLocks xmlns:a="http://schemas.openxmlformats.org/drawingml/2006/main" noGrp="1"/>
          </p:cNvSpPr>
          <p:nvPr/>
        </p:nvSpPr>
        <p:spPr>
          <a:xfrm xmlns:a="http://schemas.openxmlformats.org/drawingml/2006/main">
            <a:off x="9715500" y="15430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14.9 °C drop</a:t>
            </a:r>
          </a:p>
        </p:txBody>
      </p:sp>
      <p:sp>
        <p:nvSpPr>
          <p:cNvPr id="9" name="">
            <a:extLst xmlns:a="http://schemas.openxmlformats.org/drawingml/2006/main">
              <a:ext uri="{FF2B5EF4-FFF2-40B4-BE49-F238E27FC236}">
                <a16:creationId xmlns:a16="http://schemas.microsoft.com/office/drawing/2014/main" id="{DEEAEDD2-AB00-4891-BB51-BBF97DE7396B}"/>
              </a:ext>
            </a:extLst>
          </p:cNvPr>
          <p:cNvSpPr>
            <a:spLocks xmlns:a="http://schemas.openxmlformats.org/drawingml/2006/main" noGrp="1"/>
          </p:cNvSpPr>
          <p:nvPr/>
        </p:nvSpPr>
        <p:spPr>
          <a:xfrm xmlns:a="http://schemas.openxmlformats.org/drawingml/2006/main">
            <a:off x="8429625" y="18764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74.1% retained</a:t>
            </a:r>
          </a:p>
        </p:txBody>
      </p:sp>
      <p:sp>
        <p:nvSpPr>
          <p:cNvPr id="10" name="">
            <a:extLst xmlns:a="http://schemas.openxmlformats.org/drawingml/2006/main">
              <a:ext uri="{FF2B5EF4-FFF2-40B4-BE49-F238E27FC236}">
                <a16:creationId xmlns:a16="http://schemas.microsoft.com/office/drawing/2014/main" id="{760CB7DD-8E7C-4C4B-97F8-8F0D861A6766}"/>
              </a:ext>
            </a:extLst>
          </p:cNvPr>
          <p:cNvSpPr>
            <a:spLocks xmlns:a="http://schemas.openxmlformats.org/drawingml/2006/main" noGrp="1"/>
          </p:cNvSpPr>
          <p:nvPr/>
        </p:nvSpPr>
        <p:spPr>
          <a:xfrm xmlns:a="http://schemas.openxmlformats.org/drawingml/2006/main">
            <a:off x="8429625" y="22098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087CB75-55CD-4641-977B-4786FD3E6B1C}"/>
              </a:ext>
            </a:extLst>
          </p:cNvPr>
          <p:cNvSpPr>
            <a:spLocks xmlns:a="http://schemas.openxmlformats.org/drawingml/2006/main" noGrp="1"/>
          </p:cNvSpPr>
          <p:nvPr/>
        </p:nvSpPr>
        <p:spPr>
          <a:xfrm xmlns:a="http://schemas.openxmlformats.org/drawingml/2006/main">
            <a:off x="8429625" y="24193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22B8F0"/>
                </a:solidFill>
                <a:latin typeface="Avenir Next"/>
                <a:ea typeface="Avenir Next"/>
                <a:cs typeface="Avenir Next"/>
              </a:defRPr>
            </a:pPr>
            <a:r>
              <a:rPr sz="1500" b="1">
                <a:solidFill>
                  <a:srgbClr val="22B8F0"/>
                </a:solidFill>
                <a:latin typeface="Avenir Next"/>
                <a:ea typeface="Avenir Next"/>
                <a:cs typeface="Avenir Next"/>
              </a:rPr>
              <a:t>Bubble</a:t>
            </a:r>
          </a:p>
        </p:txBody>
      </p:sp>
      <p:sp>
        <p:nvSpPr>
          <p:cNvPr id="12" name="">
            <a:extLst xmlns:a="http://schemas.openxmlformats.org/drawingml/2006/main">
              <a:ext uri="{FF2B5EF4-FFF2-40B4-BE49-F238E27FC236}">
                <a16:creationId xmlns:a16="http://schemas.microsoft.com/office/drawing/2014/main" id="{8F8A1A8E-1782-44FF-8A9A-D49645981119}"/>
              </a:ext>
            </a:extLst>
          </p:cNvPr>
          <p:cNvSpPr>
            <a:spLocks xmlns:a="http://schemas.openxmlformats.org/drawingml/2006/main" noGrp="1"/>
          </p:cNvSpPr>
          <p:nvPr/>
        </p:nvSpPr>
        <p:spPr>
          <a:xfrm xmlns:a="http://schemas.openxmlformats.org/drawingml/2006/main">
            <a:off x="9715500" y="24193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30.0 °C drop</a:t>
            </a:r>
          </a:p>
        </p:txBody>
      </p:sp>
      <p:sp>
        <p:nvSpPr>
          <p:cNvPr id="13" name="">
            <a:extLst xmlns:a="http://schemas.openxmlformats.org/drawingml/2006/main">
              <a:ext uri="{FF2B5EF4-FFF2-40B4-BE49-F238E27FC236}">
                <a16:creationId xmlns:a16="http://schemas.microsoft.com/office/drawing/2014/main" id="{AFB8120F-90B4-42B5-9FCA-06117F9B43B3}"/>
              </a:ext>
            </a:extLst>
          </p:cNvPr>
          <p:cNvSpPr>
            <a:spLocks xmlns:a="http://schemas.openxmlformats.org/drawingml/2006/main" noGrp="1"/>
          </p:cNvSpPr>
          <p:nvPr/>
        </p:nvSpPr>
        <p:spPr>
          <a:xfrm xmlns:a="http://schemas.openxmlformats.org/drawingml/2006/main">
            <a:off x="8429625" y="27527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52.1% retained</a:t>
            </a:r>
          </a:p>
        </p:txBody>
      </p:sp>
      <p:sp>
        <p:nvSpPr>
          <p:cNvPr id="14" name="">
            <a:extLst xmlns:a="http://schemas.openxmlformats.org/drawingml/2006/main">
              <a:ext uri="{FF2B5EF4-FFF2-40B4-BE49-F238E27FC236}">
                <a16:creationId xmlns:a16="http://schemas.microsoft.com/office/drawing/2014/main" id="{5F70EA16-4939-403F-9C82-7DD3AF8E442E}"/>
              </a:ext>
            </a:extLst>
          </p:cNvPr>
          <p:cNvSpPr>
            <a:spLocks xmlns:a="http://schemas.openxmlformats.org/drawingml/2006/main" noGrp="1"/>
          </p:cNvSpPr>
          <p:nvPr/>
        </p:nvSpPr>
        <p:spPr>
          <a:xfrm xmlns:a="http://schemas.openxmlformats.org/drawingml/2006/main">
            <a:off x="8429625" y="30861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8C7A5E7-E37B-416F-877D-7E4647201ECC}"/>
              </a:ext>
            </a:extLst>
          </p:cNvPr>
          <p:cNvSpPr>
            <a:spLocks xmlns:a="http://schemas.openxmlformats.org/drawingml/2006/main" noGrp="1"/>
          </p:cNvSpPr>
          <p:nvPr/>
        </p:nvSpPr>
        <p:spPr>
          <a:xfrm xmlns:a="http://schemas.openxmlformats.org/drawingml/2006/main">
            <a:off x="8429625" y="32956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F5F8FC"/>
                </a:solidFill>
                <a:latin typeface="Avenir Next"/>
                <a:ea typeface="Avenir Next"/>
                <a:cs typeface="Avenir Next"/>
              </a:defRPr>
            </a:pPr>
            <a:r>
              <a:rPr sz="1500" b="1">
                <a:solidFill>
                  <a:srgbClr val="F5F8FC"/>
                </a:solidFill>
                <a:latin typeface="Avenir Next"/>
                <a:ea typeface="Avenir Next"/>
                <a:cs typeface="Avenir Next"/>
              </a:rPr>
              <a:t>Bare</a:t>
            </a:r>
          </a:p>
        </p:txBody>
      </p:sp>
      <p:sp>
        <p:nvSpPr>
          <p:cNvPr id="16" name="">
            <a:extLst xmlns:a="http://schemas.openxmlformats.org/drawingml/2006/main">
              <a:ext uri="{FF2B5EF4-FFF2-40B4-BE49-F238E27FC236}">
                <a16:creationId xmlns:a16="http://schemas.microsoft.com/office/drawing/2014/main" id="{BE8340A4-5C75-4683-9058-792B0776F40E}"/>
              </a:ext>
            </a:extLst>
          </p:cNvPr>
          <p:cNvSpPr>
            <a:spLocks xmlns:a="http://schemas.openxmlformats.org/drawingml/2006/main" noGrp="1"/>
          </p:cNvSpPr>
          <p:nvPr/>
        </p:nvSpPr>
        <p:spPr>
          <a:xfrm xmlns:a="http://schemas.openxmlformats.org/drawingml/2006/main">
            <a:off x="9715500" y="32956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44.9 °C drop</a:t>
            </a:r>
          </a:p>
        </p:txBody>
      </p:sp>
      <p:sp>
        <p:nvSpPr>
          <p:cNvPr id="17" name="">
            <a:extLst xmlns:a="http://schemas.openxmlformats.org/drawingml/2006/main">
              <a:ext uri="{FF2B5EF4-FFF2-40B4-BE49-F238E27FC236}">
                <a16:creationId xmlns:a16="http://schemas.microsoft.com/office/drawing/2014/main" id="{1C93A359-BA08-4F6D-BA54-E7854DBC8C09}"/>
              </a:ext>
            </a:extLst>
          </p:cNvPr>
          <p:cNvSpPr>
            <a:spLocks xmlns:a="http://schemas.openxmlformats.org/drawingml/2006/main" noGrp="1"/>
          </p:cNvSpPr>
          <p:nvPr/>
        </p:nvSpPr>
        <p:spPr>
          <a:xfrm xmlns:a="http://schemas.openxmlformats.org/drawingml/2006/main">
            <a:off x="8429625" y="36290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25.3% retained</a:t>
            </a:r>
          </a:p>
        </p:txBody>
      </p:sp>
      <p:sp>
        <p:nvSpPr>
          <p:cNvPr id="18" name="">
            <a:extLst xmlns:a="http://schemas.openxmlformats.org/drawingml/2006/main">
              <a:ext uri="{FF2B5EF4-FFF2-40B4-BE49-F238E27FC236}">
                <a16:creationId xmlns:a16="http://schemas.microsoft.com/office/drawing/2014/main" id="{E17B06F0-3B71-488A-B651-D3A579FCD580}"/>
              </a:ext>
            </a:extLst>
          </p:cNvPr>
          <p:cNvSpPr>
            <a:spLocks xmlns:a="http://schemas.openxmlformats.org/drawingml/2006/main" noGrp="1"/>
          </p:cNvSpPr>
          <p:nvPr/>
        </p:nvSpPr>
        <p:spPr>
          <a:xfrm xmlns:a="http://schemas.openxmlformats.org/drawingml/2006/main">
            <a:off x="8429625" y="39624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6D511C1-CE88-44CD-ADE1-B212F0DF5B00}"/>
              </a:ext>
            </a:extLst>
          </p:cNvPr>
          <p:cNvSpPr>
            <a:spLocks xmlns:a="http://schemas.openxmlformats.org/drawingml/2006/main" noGrp="1"/>
          </p:cNvSpPr>
          <p:nvPr/>
        </p:nvSpPr>
        <p:spPr>
          <a:xfrm xmlns:a="http://schemas.openxmlformats.org/drawingml/2006/main">
            <a:off x="8429625" y="4171950"/>
            <a:ext cx="1285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333"/>
          </a:bodyPr>
          <a:lstStyle xmlns:a="http://schemas.openxmlformats.org/drawingml/2006/main"/>
          <a:p xmlns:a="http://schemas.openxmlformats.org/drawingml/2006/main">
            <a:pPr>
              <a:defRPr sz="1500" b="1">
                <a:solidFill>
                  <a:srgbClr val="F59E0B"/>
                </a:solidFill>
                <a:latin typeface="Avenir Next"/>
                <a:ea typeface="Avenir Next"/>
                <a:cs typeface="Avenir Next"/>
              </a:defRPr>
            </a:pPr>
            <a:r>
              <a:rPr sz="1500" b="1">
                <a:solidFill>
                  <a:srgbClr val="F59E0B"/>
                </a:solidFill>
                <a:latin typeface="Avenir Next"/>
                <a:ea typeface="Avenir Next"/>
                <a:cs typeface="Avenir Next"/>
              </a:rPr>
              <a:t>Mylar</a:t>
            </a:r>
          </a:p>
        </p:txBody>
      </p:sp>
      <p:sp>
        <p:nvSpPr>
          <p:cNvPr id="20" name="">
            <a:extLst xmlns:a="http://schemas.openxmlformats.org/drawingml/2006/main">
              <a:ext uri="{FF2B5EF4-FFF2-40B4-BE49-F238E27FC236}">
                <a16:creationId xmlns:a16="http://schemas.microsoft.com/office/drawing/2014/main" id="{07E38852-292E-47FF-887A-BF3E0CE5DAD8}"/>
              </a:ext>
            </a:extLst>
          </p:cNvPr>
          <p:cNvSpPr>
            <a:spLocks xmlns:a="http://schemas.openxmlformats.org/drawingml/2006/main" noGrp="1"/>
          </p:cNvSpPr>
          <p:nvPr/>
        </p:nvSpPr>
        <p:spPr>
          <a:xfrm xmlns:a="http://schemas.openxmlformats.org/drawingml/2006/main">
            <a:off x="9715500" y="41719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926"/>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47.2 °C drop</a:t>
            </a:r>
          </a:p>
        </p:txBody>
      </p:sp>
      <p:sp>
        <p:nvSpPr>
          <p:cNvPr id="21" name="">
            <a:extLst xmlns:a="http://schemas.openxmlformats.org/drawingml/2006/main">
              <a:ext uri="{FF2B5EF4-FFF2-40B4-BE49-F238E27FC236}">
                <a16:creationId xmlns:a16="http://schemas.microsoft.com/office/drawing/2014/main" id="{49A807BA-CB17-411C-92E3-7305A1A7F91E}"/>
              </a:ext>
            </a:extLst>
          </p:cNvPr>
          <p:cNvSpPr>
            <a:spLocks xmlns:a="http://schemas.openxmlformats.org/drawingml/2006/main" noGrp="1"/>
          </p:cNvSpPr>
          <p:nvPr/>
        </p:nvSpPr>
        <p:spPr>
          <a:xfrm xmlns:a="http://schemas.openxmlformats.org/drawingml/2006/main">
            <a:off x="8429625" y="4505325"/>
            <a:ext cx="3095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22.0% retained</a:t>
            </a:r>
          </a:p>
        </p:txBody>
      </p:sp>
      <p:sp>
        <p:nvSpPr>
          <p:cNvPr id="22" name="">
            <a:extLst xmlns:a="http://schemas.openxmlformats.org/drawingml/2006/main">
              <a:ext uri="{FF2B5EF4-FFF2-40B4-BE49-F238E27FC236}">
                <a16:creationId xmlns:a16="http://schemas.microsoft.com/office/drawing/2014/main" id="{A7FBC6F5-0BF1-4316-9944-B404AA56E628}"/>
              </a:ext>
            </a:extLst>
          </p:cNvPr>
          <p:cNvSpPr>
            <a:spLocks xmlns:a="http://schemas.openxmlformats.org/drawingml/2006/main" noGrp="1"/>
          </p:cNvSpPr>
          <p:nvPr/>
        </p:nvSpPr>
        <p:spPr>
          <a:xfrm xmlns:a="http://schemas.openxmlformats.org/drawingml/2006/main">
            <a:off x="8429625" y="4838700"/>
            <a:ext cx="3095625"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3CA6D9C-0697-480F-83AB-638CD7166D88}"/>
              </a:ext>
            </a:extLst>
          </p:cNvPr>
          <p:cNvSpPr>
            <a:spLocks xmlns:a="http://schemas.openxmlformats.org/drawingml/2006/main" noGrp="1"/>
          </p:cNvSpPr>
          <p:nvPr/>
        </p:nvSpPr>
        <p:spPr>
          <a:xfrm xmlns:a="http://schemas.openxmlformats.org/drawingml/2006/main">
            <a:off x="8429625" y="5191125"/>
            <a:ext cx="3095625" cy="685800"/>
          </a:xfrm>
          <a:prstGeom xmlns:a="http://schemas.openxmlformats.org/drawingml/2006/main" prst="roundRect">
            <a:avLst>
              <a:gd name="adj" fmla="val 11111"/>
            </a:avLst>
          </a:prstGeom>
          <a:solidFill xmlns:a="http://schemas.openxmlformats.org/drawingml/2006/main">
            <a:srgbClr val="11274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7F825DA-AAB4-4D3B-BF53-E0115904111E}"/>
              </a:ext>
            </a:extLst>
          </p:cNvPr>
          <p:cNvSpPr>
            <a:spLocks xmlns:a="http://schemas.openxmlformats.org/drawingml/2006/main" noGrp="1"/>
          </p:cNvSpPr>
          <p:nvPr/>
        </p:nvSpPr>
        <p:spPr>
          <a:xfrm xmlns:a="http://schemas.openxmlformats.org/drawingml/2006/main">
            <a:off x="8620125" y="5334000"/>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478"/>
          </a:bodyPr>
          <a:lstStyle xmlns:a="http://schemas.openxmlformats.org/drawingml/2006/main"/>
          <a:p xmlns:a="http://schemas.openxmlformats.org/drawingml/2006/main">
            <a:pPr>
              <a:defRPr sz="1200" b="1">
                <a:solidFill>
                  <a:srgbClr val="F59E0B"/>
                </a:solidFill>
                <a:latin typeface="Avenir Next"/>
                <a:ea typeface="Avenir Next"/>
                <a:cs typeface="Avenir Next"/>
              </a:defRPr>
            </a:pPr>
            <a:r>
              <a:rPr sz="1200" b="1">
                <a:solidFill>
                  <a:srgbClr val="F59E0B"/>
                </a:solidFill>
                <a:latin typeface="Avenir Next"/>
                <a:ea typeface="Avenir Next"/>
                <a:cs typeface="Avenir Next"/>
              </a:rPr>
              <a:t>Worked example only. Repeated measurements are required for validation.</a:t>
            </a:r>
          </a:p>
        </p:txBody>
      </p:sp>
    </p:spTree>
    <p:extLst>
      <p:ext uri="{BB962C8B-B14F-4D97-AF65-F5344CB8AC3E}">
        <p14:creationId xmlns:p14="http://schemas.microsoft.com/office/powerpoint/2010/main" val="435833595"/>
      </p:ext>
    </p:extLst>
  </p:cSld>
</p:sld>
</file>

<file path=ppt/slides/slide13.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6182F69-B688-4720-BF0D-DA5557FE46C5}"/>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B74FBFEB-573C-4236-91C8-B9EB426D9796}"/>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Boundary conditions explain the weak Mylar-only result</a:t>
            </a:r>
          </a:p>
        </p:txBody>
      </p:sp>
      <p:sp>
        <p:nvSpPr>
          <p:cNvPr id="3" name="">
            <a:extLst xmlns:a="http://schemas.openxmlformats.org/drawingml/2006/main">
              <a:ext uri="{FF2B5EF4-FFF2-40B4-BE49-F238E27FC236}">
                <a16:creationId xmlns:a16="http://schemas.microsoft.com/office/drawing/2014/main" id="{29EE9E4F-C771-4FA8-9AA5-20363065C0B4}"/>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9A76969-3165-4C20-96B2-3314EA62F9C4}"/>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3430F343-1AF2-4478-ABF5-FD072EE22591}"/>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13</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37661228dff74030"/>
          <a:stretch xmlns:a="http://schemas.openxmlformats.org/drawingml/2006/main"/>
        </p:blipFill>
        <p:spPr>
          <a:xfrm xmlns:a="http://schemas.openxmlformats.org/drawingml/2006/main">
            <a:off x="876300" y="1428750"/>
            <a:ext cx="2857500" cy="3810000"/>
          </a:xfrm>
          <a:prstGeom xmlns:a="http://schemas.openxmlformats.org/drawingml/2006/main" prst="roundRect">
            <a:avLst>
              <a:gd name="adj" fmla="val 3158"/>
            </a:avLst>
          </a:prstGeom>
        </p:spPr>
      </p:pic>
      <p:sp>
        <p:nvSpPr>
          <p:cNvPr id="7" name="">
            <a:extLst xmlns:a="http://schemas.openxmlformats.org/drawingml/2006/main">
              <a:ext uri="{FF2B5EF4-FFF2-40B4-BE49-F238E27FC236}">
                <a16:creationId xmlns:a16="http://schemas.microsoft.com/office/drawing/2014/main" id="{53CC3A7A-EC7E-45EE-8F63-D840E4647096}"/>
              </a:ext>
            </a:extLst>
          </p:cNvPr>
          <p:cNvSpPr>
            <a:spLocks xmlns:a="http://schemas.openxmlformats.org/drawingml/2006/main" noGrp="1"/>
          </p:cNvSpPr>
          <p:nvPr/>
        </p:nvSpPr>
        <p:spPr>
          <a:xfrm xmlns:a="http://schemas.openxmlformats.org/drawingml/2006/main">
            <a:off x="4619625" y="14668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21C98A"/>
                </a:solidFill>
                <a:latin typeface="Avenir Next"/>
                <a:ea typeface="Avenir Next"/>
                <a:cs typeface="Avenir Next"/>
              </a:defRPr>
            </a:pPr>
            <a:r>
              <a:rPr sz="1050" b="1">
                <a:solidFill>
                  <a:srgbClr val="21C98A"/>
                </a:solidFill>
                <a:latin typeface="Avenir Next"/>
                <a:ea typeface="Avenir Next"/>
                <a:cs typeface="Avenir Next"/>
              </a:rPr>
              <a:t>WHAT THE DATA SUPPORT</a:t>
            </a:r>
          </a:p>
        </p:txBody>
      </p:sp>
      <p:sp>
        <p:nvSpPr>
          <p:cNvPr id="8" name="">
            <a:extLst xmlns:a="http://schemas.openxmlformats.org/drawingml/2006/main">
              <a:ext uri="{FF2B5EF4-FFF2-40B4-BE49-F238E27FC236}">
                <a16:creationId xmlns:a16="http://schemas.microsoft.com/office/drawing/2014/main" id="{02ECCE18-FEBF-4AD4-A095-55B39ABC1DBA}"/>
              </a:ext>
            </a:extLst>
          </p:cNvPr>
          <p:cNvSpPr>
            <a:spLocks xmlns:a="http://schemas.openxmlformats.org/drawingml/2006/main" noGrp="1"/>
          </p:cNvSpPr>
          <p:nvPr/>
        </p:nvSpPr>
        <p:spPr>
          <a:xfrm xmlns:a="http://schemas.openxmlformats.org/drawingml/2006/main">
            <a:off x="4619625" y="1885950"/>
            <a:ext cx="76200" cy="76200"/>
          </a:xfrm>
          <a:prstGeom xmlns:a="http://schemas.openxmlformats.org/drawingml/2006/main" prst="roundRect">
            <a:avLst>
              <a:gd name="adj" fmla="val 50000"/>
            </a:avLst>
          </a:prstGeom>
          <a:solidFill xmlns:a="http://schemas.openxmlformats.org/drawingml/2006/main">
            <a:srgbClr val="21C98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1F601E2-D138-464F-9060-DE713D423615}"/>
              </a:ext>
            </a:extLst>
          </p:cNvPr>
          <p:cNvSpPr>
            <a:spLocks xmlns:a="http://schemas.openxmlformats.org/drawingml/2006/main" noGrp="1"/>
          </p:cNvSpPr>
          <p:nvPr/>
        </p:nvSpPr>
        <p:spPr>
          <a:xfrm xmlns:a="http://schemas.openxmlformats.org/drawingml/2006/main">
            <a:off x="4848225" y="18097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The layered package produced the smallest measured temperature drop.</a:t>
            </a:r>
          </a:p>
        </p:txBody>
      </p:sp>
      <p:sp>
        <p:nvSpPr>
          <p:cNvPr id="10" name="">
            <a:extLst xmlns:a="http://schemas.openxmlformats.org/drawingml/2006/main">
              <a:ext uri="{FF2B5EF4-FFF2-40B4-BE49-F238E27FC236}">
                <a16:creationId xmlns:a16="http://schemas.microsoft.com/office/drawing/2014/main" id="{D0DDAFB5-6BAF-4152-8B07-6CACFF0BE2D8}"/>
              </a:ext>
            </a:extLst>
          </p:cNvPr>
          <p:cNvSpPr>
            <a:spLocks xmlns:a="http://schemas.openxmlformats.org/drawingml/2006/main" noGrp="1"/>
          </p:cNvSpPr>
          <p:nvPr/>
        </p:nvSpPr>
        <p:spPr>
          <a:xfrm xmlns:a="http://schemas.openxmlformats.org/drawingml/2006/main">
            <a:off x="4619625" y="2495550"/>
            <a:ext cx="76200" cy="76200"/>
          </a:xfrm>
          <a:prstGeom xmlns:a="http://schemas.openxmlformats.org/drawingml/2006/main" prst="roundRect">
            <a:avLst>
              <a:gd name="adj" fmla="val 50000"/>
            </a:avLst>
          </a:prstGeom>
          <a:solidFill xmlns:a="http://schemas.openxmlformats.org/drawingml/2006/main">
            <a:srgbClr val="21C98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12F73E8-C5F8-4D9A-870C-6FCB7DE80C8C}"/>
              </a:ext>
            </a:extLst>
          </p:cNvPr>
          <p:cNvSpPr>
            <a:spLocks xmlns:a="http://schemas.openxmlformats.org/drawingml/2006/main" noGrp="1"/>
          </p:cNvSpPr>
          <p:nvPr/>
        </p:nvSpPr>
        <p:spPr>
          <a:xfrm xmlns:a="http://schemas.openxmlformats.org/drawingml/2006/main">
            <a:off x="4848225" y="24193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Bubble wrap provided useful resistance through intact air cells.</a:t>
            </a:r>
          </a:p>
        </p:txBody>
      </p:sp>
      <p:sp>
        <p:nvSpPr>
          <p:cNvPr id="12" name="">
            <a:extLst xmlns:a="http://schemas.openxmlformats.org/drawingml/2006/main">
              <a:ext uri="{FF2B5EF4-FFF2-40B4-BE49-F238E27FC236}">
                <a16:creationId xmlns:a16="http://schemas.microsoft.com/office/drawing/2014/main" id="{65C433A4-F80F-4607-AAD6-46B4FE1FB59A}"/>
              </a:ext>
            </a:extLst>
          </p:cNvPr>
          <p:cNvSpPr>
            <a:spLocks xmlns:a="http://schemas.openxmlformats.org/drawingml/2006/main" noGrp="1"/>
          </p:cNvSpPr>
          <p:nvPr/>
        </p:nvSpPr>
        <p:spPr>
          <a:xfrm xmlns:a="http://schemas.openxmlformats.org/drawingml/2006/main">
            <a:off x="4619625" y="3105150"/>
            <a:ext cx="76200" cy="76200"/>
          </a:xfrm>
          <a:prstGeom xmlns:a="http://schemas.openxmlformats.org/drawingml/2006/main" prst="roundRect">
            <a:avLst>
              <a:gd name="adj" fmla="val 50000"/>
            </a:avLst>
          </a:prstGeom>
          <a:solidFill xmlns:a="http://schemas.openxmlformats.org/drawingml/2006/main">
            <a:srgbClr val="21C98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F7704DD-A8B7-4A63-8D36-18DC1E75C652}"/>
              </a:ext>
            </a:extLst>
          </p:cNvPr>
          <p:cNvSpPr>
            <a:spLocks xmlns:a="http://schemas.openxmlformats.org/drawingml/2006/main" noGrp="1"/>
          </p:cNvSpPr>
          <p:nvPr/>
        </p:nvSpPr>
        <p:spPr>
          <a:xfrm xmlns:a="http://schemas.openxmlformats.org/drawingml/2006/main">
            <a:off x="4848225" y="30289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The observed Mylar curve strongly disagreed with its reference model.</a:t>
            </a:r>
          </a:p>
        </p:txBody>
      </p:sp>
      <p:sp>
        <p:nvSpPr>
          <p:cNvPr id="14" name="">
            <a:extLst xmlns:a="http://schemas.openxmlformats.org/drawingml/2006/main">
              <a:ext uri="{FF2B5EF4-FFF2-40B4-BE49-F238E27FC236}">
                <a16:creationId xmlns:a16="http://schemas.microsoft.com/office/drawing/2014/main" id="{6DCC8DB9-B769-409E-BC9C-764F9DB7AC95}"/>
              </a:ext>
            </a:extLst>
          </p:cNvPr>
          <p:cNvSpPr>
            <a:spLocks xmlns:a="http://schemas.openxmlformats.org/drawingml/2006/main" noGrp="1"/>
          </p:cNvSpPr>
          <p:nvPr/>
        </p:nvSpPr>
        <p:spPr>
          <a:xfrm xmlns:a="http://schemas.openxmlformats.org/drawingml/2006/main">
            <a:off x="4619625" y="38290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WHY MYLAR CAN FAIL HERE</a:t>
            </a:r>
          </a:p>
        </p:txBody>
      </p:sp>
      <p:sp>
        <p:nvSpPr>
          <p:cNvPr id="15" name="">
            <a:extLst xmlns:a="http://schemas.openxmlformats.org/drawingml/2006/main">
              <a:ext uri="{FF2B5EF4-FFF2-40B4-BE49-F238E27FC236}">
                <a16:creationId xmlns:a16="http://schemas.microsoft.com/office/drawing/2014/main" id="{A8CB7C61-4686-4784-93F2-2DC42143F7FE}"/>
              </a:ext>
            </a:extLst>
          </p:cNvPr>
          <p:cNvSpPr>
            <a:spLocks xmlns:a="http://schemas.openxmlformats.org/drawingml/2006/main" noGrp="1"/>
          </p:cNvSpPr>
          <p:nvPr/>
        </p:nvSpPr>
        <p:spPr>
          <a:xfrm xmlns:a="http://schemas.openxmlformats.org/drawingml/2006/main">
            <a:off x="4619625" y="4248150"/>
            <a:ext cx="76200" cy="76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44E3F94-FC14-4CA2-B6B3-13936CDF4058}"/>
              </a:ext>
            </a:extLst>
          </p:cNvPr>
          <p:cNvSpPr>
            <a:spLocks xmlns:a="http://schemas.openxmlformats.org/drawingml/2006/main" noGrp="1"/>
          </p:cNvSpPr>
          <p:nvPr/>
        </p:nvSpPr>
        <p:spPr>
          <a:xfrm xmlns:a="http://schemas.openxmlformats.org/drawingml/2006/main">
            <a:off x="4848225" y="41719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Reflective foil targets infrared exchange, which matters strongly in vacuum.</a:t>
            </a:r>
          </a:p>
        </p:txBody>
      </p:sp>
      <p:sp>
        <p:nvSpPr>
          <p:cNvPr id="17" name="">
            <a:extLst xmlns:a="http://schemas.openxmlformats.org/drawingml/2006/main">
              <a:ext uri="{FF2B5EF4-FFF2-40B4-BE49-F238E27FC236}">
                <a16:creationId xmlns:a16="http://schemas.microsoft.com/office/drawing/2014/main" id="{768C5906-E55B-441E-A28B-88D004157765}"/>
              </a:ext>
            </a:extLst>
          </p:cNvPr>
          <p:cNvSpPr>
            <a:spLocks xmlns:a="http://schemas.openxmlformats.org/drawingml/2006/main" noGrp="1"/>
          </p:cNvSpPr>
          <p:nvPr/>
        </p:nvSpPr>
        <p:spPr>
          <a:xfrm xmlns:a="http://schemas.openxmlformats.org/drawingml/2006/main">
            <a:off x="4619625" y="4857750"/>
            <a:ext cx="76200" cy="76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A7351EC-CEF4-4DCE-ACB6-91E678B3A198}"/>
              </a:ext>
            </a:extLst>
          </p:cNvPr>
          <p:cNvSpPr>
            <a:spLocks xmlns:a="http://schemas.openxmlformats.org/drawingml/2006/main" noGrp="1"/>
          </p:cNvSpPr>
          <p:nvPr/>
        </p:nvSpPr>
        <p:spPr>
          <a:xfrm xmlns:a="http://schemas.openxmlformats.org/drawingml/2006/main">
            <a:off x="4848225" y="47815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Direct liquid contact and leakage can dominate the classroom water bath.</a:t>
            </a:r>
          </a:p>
        </p:txBody>
      </p:sp>
      <p:sp>
        <p:nvSpPr>
          <p:cNvPr id="19" name="">
            <a:extLst xmlns:a="http://schemas.openxmlformats.org/drawingml/2006/main">
              <a:ext uri="{FF2B5EF4-FFF2-40B4-BE49-F238E27FC236}">
                <a16:creationId xmlns:a16="http://schemas.microsoft.com/office/drawing/2014/main" id="{B3CBE256-5338-44E9-9ED8-221751362EAA}"/>
              </a:ext>
            </a:extLst>
          </p:cNvPr>
          <p:cNvSpPr>
            <a:spLocks xmlns:a="http://schemas.openxmlformats.org/drawingml/2006/main" noGrp="1"/>
          </p:cNvSpPr>
          <p:nvPr/>
        </p:nvSpPr>
        <p:spPr>
          <a:xfrm xmlns:a="http://schemas.openxmlformats.org/drawingml/2006/main">
            <a:off x="4619625" y="5467350"/>
            <a:ext cx="76200" cy="762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D77735B-FFBD-4EF8-86B5-DC90FF3FD461}"/>
              </a:ext>
            </a:extLst>
          </p:cNvPr>
          <p:cNvSpPr>
            <a:spLocks xmlns:a="http://schemas.openxmlformats.org/drawingml/2006/main" noGrp="1"/>
          </p:cNvSpPr>
          <p:nvPr/>
        </p:nvSpPr>
        <p:spPr>
          <a:xfrm xmlns:a="http://schemas.openxmlformats.org/drawingml/2006/main">
            <a:off x="4848225" y="5391150"/>
            <a:ext cx="624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8E4F2"/>
                </a:solidFill>
                <a:latin typeface="Avenir Next"/>
                <a:ea typeface="Avenir Next"/>
                <a:cs typeface="Avenir Next"/>
              </a:defRPr>
            </a:pPr>
            <a:r>
              <a:rPr sz="1575" b="0">
                <a:solidFill>
                  <a:srgbClr val="D8E4F2"/>
                </a:solidFill>
                <a:latin typeface="Avenir Next"/>
                <a:ea typeface="Avenir Next"/>
                <a:cs typeface="Avenir Next"/>
              </a:rPr>
              <a:t>One weak run does not prove reflective insulation is ineffective in space.</a:t>
            </a:r>
          </a:p>
        </p:txBody>
      </p:sp>
      <p:sp>
        <p:nvSpPr>
          <p:cNvPr id="21" name="">
            <a:extLst xmlns:a="http://schemas.openxmlformats.org/drawingml/2006/main">
              <a:ext uri="{FF2B5EF4-FFF2-40B4-BE49-F238E27FC236}">
                <a16:creationId xmlns:a16="http://schemas.microsoft.com/office/drawing/2014/main" id="{54BCB231-A7DB-47D2-9368-EA505C0281B2}"/>
              </a:ext>
            </a:extLst>
          </p:cNvPr>
          <p:cNvSpPr>
            <a:spLocks xmlns:a="http://schemas.openxmlformats.org/drawingml/2006/main" noGrp="1"/>
          </p:cNvSpPr>
          <p:nvPr/>
        </p:nvSpPr>
        <p:spPr>
          <a:xfrm xmlns:a="http://schemas.openxmlformats.org/drawingml/2006/main">
            <a:off x="495300" y="5715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i="1">
                <a:solidFill>
                  <a:srgbClr val="79D8F7"/>
                </a:solidFill>
                <a:latin typeface="Avenir Next"/>
                <a:ea typeface="Avenir Next"/>
                <a:cs typeface="Avenir Next"/>
              </a:defRPr>
            </a:pPr>
            <a:r>
              <a:rPr sz="1350" b="0" i="1">
                <a:solidFill>
                  <a:srgbClr val="79D8F7"/>
                </a:solidFill>
                <a:latin typeface="Avenir Next"/>
                <a:ea typeface="Avenir Next"/>
                <a:cs typeface="Avenir Next"/>
              </a:rPr>
              <a:t>Main uncertainties: probe position, neck seal, thermal stratification, bath warming, immersion depth and layer compression</a:t>
            </a:r>
          </a:p>
        </p:txBody>
      </p:sp>
    </p:spTree>
    <p:extLst>
      <p:ext uri="{BB962C8B-B14F-4D97-AF65-F5344CB8AC3E}">
        <p14:creationId xmlns:p14="http://schemas.microsoft.com/office/powerpoint/2010/main" val="1262463230"/>
      </p:ext>
    </p:extLst>
  </p:cSld>
</p:sld>
</file>

<file path=ppt/slides/slide14.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5D98381-3161-4C4F-B4F7-C56F9BD1CC4A}"/>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FINAL PRESENTATION</a:t>
            </a:r>
          </a:p>
        </p:txBody>
      </p:sp>
      <p:sp>
        <p:nvSpPr>
          <p:cNvPr id="2" name="">
            <a:extLst xmlns:a="http://schemas.openxmlformats.org/drawingml/2006/main">
              <a:ext uri="{FF2B5EF4-FFF2-40B4-BE49-F238E27FC236}">
                <a16:creationId xmlns:a16="http://schemas.microsoft.com/office/drawing/2014/main" id="{FF2DAF61-62B7-4B55-9E6B-67EFE05B6A93}"/>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43"/>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SPHERE delivers a complete theory-to-evidence learning loop</a:t>
            </a:r>
          </a:p>
        </p:txBody>
      </p:sp>
      <p:sp>
        <p:nvSpPr>
          <p:cNvPr id="3" name="">
            <a:extLst xmlns:a="http://schemas.openxmlformats.org/drawingml/2006/main">
              <a:ext uri="{FF2B5EF4-FFF2-40B4-BE49-F238E27FC236}">
                <a16:creationId xmlns:a16="http://schemas.microsoft.com/office/drawing/2014/main" id="{48EBA11C-9B10-4610-A510-D677A1C5554B}"/>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C02D96-446D-43C7-98FF-B28853376DAC}"/>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39616219-DA5A-486A-B4BA-21F9AC8DF8CD}"/>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14</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53be233c8074db2"/>
          <a:srcRect xmlns:a="http://schemas.openxmlformats.org/drawingml/2006/main" l="0" t="366" r="0" b="366"/>
          <a:stretch xmlns:a="http://schemas.openxmlformats.org/drawingml/2006/main">
            <a:fillRect l="0" t="0" r="0" b="0"/>
          </a:stretch>
        </p:blipFill>
        <p:spPr>
          <a:xfrm xmlns:a="http://schemas.openxmlformats.org/drawingml/2006/main">
            <a:off x="495300" y="1409700"/>
            <a:ext cx="5762625" cy="3219450"/>
          </a:xfrm>
          <a:prstGeom xmlns:a="http://schemas.openxmlformats.org/drawingml/2006/main" prst="roundRect">
            <a:avLst>
              <a:gd name="adj" fmla="val 3550"/>
            </a:avLst>
          </a:prstGeom>
        </p:spPr>
      </p:pic>
      <p:sp>
        <p:nvSpPr>
          <p:cNvPr id="7" name="">
            <a:extLst xmlns:a="http://schemas.openxmlformats.org/drawingml/2006/main">
              <a:ext uri="{FF2B5EF4-FFF2-40B4-BE49-F238E27FC236}">
                <a16:creationId xmlns:a16="http://schemas.microsoft.com/office/drawing/2014/main" id="{C98AE1A3-CBCF-407C-B0AB-6DFD45E903C2}"/>
              </a:ext>
            </a:extLst>
          </p:cNvPr>
          <p:cNvSpPr>
            <a:spLocks xmlns:a="http://schemas.openxmlformats.org/drawingml/2006/main" noGrp="1"/>
          </p:cNvSpPr>
          <p:nvPr/>
        </p:nvSpPr>
        <p:spPr>
          <a:xfrm xmlns:a="http://schemas.openxmlformats.org/drawingml/2006/main">
            <a:off x="6667500" y="14668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PROJECT OUTCOME</a:t>
            </a:r>
          </a:p>
        </p:txBody>
      </p:sp>
      <p:sp>
        <p:nvSpPr>
          <p:cNvPr id="8" name="">
            <a:extLst xmlns:a="http://schemas.openxmlformats.org/drawingml/2006/main">
              <a:ext uri="{FF2B5EF4-FFF2-40B4-BE49-F238E27FC236}">
                <a16:creationId xmlns:a16="http://schemas.microsoft.com/office/drawing/2014/main" id="{168ED345-F61D-4700-90E9-F7D8D53C13A9}"/>
              </a:ext>
            </a:extLst>
          </p:cNvPr>
          <p:cNvSpPr>
            <a:spLocks xmlns:a="http://schemas.openxmlformats.org/drawingml/2006/main" noGrp="1"/>
          </p:cNvSpPr>
          <p:nvPr/>
        </p:nvSpPr>
        <p:spPr>
          <a:xfrm xmlns:a="http://schemas.openxmlformats.org/drawingml/2006/main">
            <a:off x="6667500" y="1809750"/>
            <a:ext cx="457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915"/>
          </a:bodyPr>
          <a:lstStyle xmlns:a="http://schemas.openxmlformats.org/drawingml/2006/main"/>
          <a:p xmlns:a="http://schemas.openxmlformats.org/drawingml/2006/main">
            <a:pPr>
              <a:defRPr sz="2175" b="1">
                <a:solidFill>
                  <a:srgbClr val="F5F8FC"/>
                </a:solidFill>
                <a:latin typeface="Avenir Next"/>
                <a:ea typeface="Avenir Next"/>
                <a:cs typeface="Avenir Next"/>
              </a:defRPr>
            </a:pPr>
            <a:r>
              <a:rPr sz="2175" b="1">
                <a:solidFill>
                  <a:srgbClr val="F5F8FC"/>
                </a:solidFill>
                <a:latin typeface="Avenir Next"/>
                <a:ea typeface="Avenir Next"/>
                <a:cs typeface="Avenir Next"/>
              </a:rPr>
              <a:t>Students predict, build, measure and critique the same thermal system.</a:t>
            </a:r>
          </a:p>
        </p:txBody>
      </p:sp>
      <p:sp>
        <p:nvSpPr>
          <p:cNvPr id="9" name="">
            <a:extLst xmlns:a="http://schemas.openxmlformats.org/drawingml/2006/main">
              <a:ext uri="{FF2B5EF4-FFF2-40B4-BE49-F238E27FC236}">
                <a16:creationId xmlns:a16="http://schemas.microsoft.com/office/drawing/2014/main" id="{6A7E238F-A3C5-4CA4-85BB-A75465C04256}"/>
              </a:ext>
            </a:extLst>
          </p:cNvPr>
          <p:cNvSpPr>
            <a:spLocks xmlns:a="http://schemas.openxmlformats.org/drawingml/2006/main" noGrp="1"/>
          </p:cNvSpPr>
          <p:nvPr/>
        </p:nvSpPr>
        <p:spPr>
          <a:xfrm xmlns:a="http://schemas.openxmlformats.org/drawingml/2006/main">
            <a:off x="6667500" y="29337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E6DF9A2-DFA6-437F-B2B4-D0CE6279C294}"/>
              </a:ext>
            </a:extLst>
          </p:cNvPr>
          <p:cNvSpPr>
            <a:spLocks xmlns:a="http://schemas.openxmlformats.org/drawingml/2006/main" noGrp="1"/>
          </p:cNvSpPr>
          <p:nvPr/>
        </p:nvSpPr>
        <p:spPr>
          <a:xfrm xmlns:a="http://schemas.openxmlformats.org/drawingml/2006/main">
            <a:off x="6896100" y="28575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Aligned website, manuals, SOP, worksheet and assessment</a:t>
            </a:r>
          </a:p>
        </p:txBody>
      </p:sp>
      <p:sp>
        <p:nvSpPr>
          <p:cNvPr id="11" name="">
            <a:extLst xmlns:a="http://schemas.openxmlformats.org/drawingml/2006/main">
              <a:ext uri="{FF2B5EF4-FFF2-40B4-BE49-F238E27FC236}">
                <a16:creationId xmlns:a16="http://schemas.microsoft.com/office/drawing/2014/main" id="{F1FC48EE-834B-4323-85ED-DDDA4C818C02}"/>
              </a:ext>
            </a:extLst>
          </p:cNvPr>
          <p:cNvSpPr>
            <a:spLocks xmlns:a="http://schemas.openxmlformats.org/drawingml/2006/main" noGrp="1"/>
          </p:cNvSpPr>
          <p:nvPr/>
        </p:nvSpPr>
        <p:spPr>
          <a:xfrm xmlns:a="http://schemas.openxmlformats.org/drawingml/2006/main">
            <a:off x="6667500" y="35052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F82EC7B-378B-472D-B078-D306AFA9481F}"/>
              </a:ext>
            </a:extLst>
          </p:cNvPr>
          <p:cNvSpPr>
            <a:spLocks xmlns:a="http://schemas.openxmlformats.org/drawingml/2006/main" noGrp="1"/>
          </p:cNvSpPr>
          <p:nvPr/>
        </p:nvSpPr>
        <p:spPr>
          <a:xfrm xmlns:a="http://schemas.openxmlformats.org/drawingml/2006/main">
            <a:off x="6896100" y="34290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Reusable apparatus with no native software installation</a:t>
            </a:r>
          </a:p>
        </p:txBody>
      </p:sp>
      <p:sp>
        <p:nvSpPr>
          <p:cNvPr id="13" name="">
            <a:extLst xmlns:a="http://schemas.openxmlformats.org/drawingml/2006/main">
              <a:ext uri="{FF2B5EF4-FFF2-40B4-BE49-F238E27FC236}">
                <a16:creationId xmlns:a16="http://schemas.microsoft.com/office/drawing/2014/main" id="{86AC8922-7CB7-4457-8CFA-8BA6B7048D66}"/>
              </a:ext>
            </a:extLst>
          </p:cNvPr>
          <p:cNvSpPr>
            <a:spLocks xmlns:a="http://schemas.openxmlformats.org/drawingml/2006/main" noGrp="1"/>
          </p:cNvSpPr>
          <p:nvPr/>
        </p:nvSpPr>
        <p:spPr>
          <a:xfrm xmlns:a="http://schemas.openxmlformats.org/drawingml/2006/main">
            <a:off x="6667500" y="40767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A185D33-BC65-4B4A-A2D9-3FDDE14D598D}"/>
              </a:ext>
            </a:extLst>
          </p:cNvPr>
          <p:cNvSpPr>
            <a:spLocks xmlns:a="http://schemas.openxmlformats.org/drawingml/2006/main" noGrp="1"/>
          </p:cNvSpPr>
          <p:nvPr/>
        </p:nvSpPr>
        <p:spPr>
          <a:xfrm xmlns:a="http://schemas.openxmlformats.org/drawingml/2006/main">
            <a:off x="6896100" y="4000500"/>
            <a:ext cx="434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8E4F2"/>
                </a:solidFill>
                <a:latin typeface="Avenir Next"/>
                <a:ea typeface="Avenir Next"/>
                <a:cs typeface="Avenir Next"/>
              </a:defRPr>
            </a:pPr>
            <a:r>
              <a:rPr sz="1425" b="0">
                <a:solidFill>
                  <a:srgbClr val="D8E4F2"/>
                </a:solidFill>
                <a:latin typeface="Avenir Next"/>
                <a:ea typeface="Avenir Next"/>
                <a:cs typeface="Avenir Next"/>
              </a:rPr>
              <a:t>Clear separation between teaching models and measured evidence</a:t>
            </a:r>
          </a:p>
        </p:txBody>
      </p:sp>
      <p:sp>
        <p:nvSpPr>
          <p:cNvPr id="15" name="">
            <a:extLst xmlns:a="http://schemas.openxmlformats.org/drawingml/2006/main">
              <a:ext uri="{FF2B5EF4-FFF2-40B4-BE49-F238E27FC236}">
                <a16:creationId xmlns:a16="http://schemas.microsoft.com/office/drawing/2014/main" id="{705407BB-6307-4956-832A-FB86A8FC63F2}"/>
              </a:ext>
            </a:extLst>
          </p:cNvPr>
          <p:cNvSpPr>
            <a:spLocks xmlns:a="http://schemas.openxmlformats.org/drawingml/2006/main" noGrp="1"/>
          </p:cNvSpPr>
          <p:nvPr/>
        </p:nvSpPr>
        <p:spPr>
          <a:xfrm xmlns:a="http://schemas.openxmlformats.org/drawingml/2006/main">
            <a:off x="495300" y="4953000"/>
            <a:ext cx="11049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643216E-5A9F-402B-B10A-D3A3DFC2130F}"/>
              </a:ext>
            </a:extLst>
          </p:cNvPr>
          <p:cNvSpPr>
            <a:spLocks xmlns:a="http://schemas.openxmlformats.org/drawingml/2006/main" noGrp="1"/>
          </p:cNvSpPr>
          <p:nvPr/>
        </p:nvSpPr>
        <p:spPr>
          <a:xfrm xmlns:a="http://schemas.openxmlformats.org/drawingml/2006/main">
            <a:off x="495300" y="518160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22B8F0"/>
                </a:solidFill>
                <a:latin typeface="Avenir Next"/>
                <a:ea typeface="Avenir Next"/>
                <a:cs typeface="Avenir Next"/>
              </a:defRPr>
            </a:pPr>
            <a:r>
              <a:rPr sz="1050" b="1">
                <a:solidFill>
                  <a:srgbClr val="22B8F0"/>
                </a:solidFill>
                <a:latin typeface="Avenir Next"/>
                <a:ea typeface="Avenir Next"/>
                <a:cs typeface="Avenir Next"/>
              </a:rPr>
              <a:t>CONTRIBUTIONS</a:t>
            </a:r>
          </a:p>
        </p:txBody>
      </p:sp>
      <p:sp>
        <p:nvSpPr>
          <p:cNvPr id="17" name="">
            <a:extLst xmlns:a="http://schemas.openxmlformats.org/drawingml/2006/main">
              <a:ext uri="{FF2B5EF4-FFF2-40B4-BE49-F238E27FC236}">
                <a16:creationId xmlns:a16="http://schemas.microsoft.com/office/drawing/2014/main" id="{10E1F6B9-BC71-4112-BF0A-E2CAE3E77403}"/>
              </a:ext>
            </a:extLst>
          </p:cNvPr>
          <p:cNvSpPr>
            <a:spLocks xmlns:a="http://schemas.openxmlformats.org/drawingml/2006/main" noGrp="1"/>
          </p:cNvSpPr>
          <p:nvPr/>
        </p:nvSpPr>
        <p:spPr>
          <a:xfrm xmlns:a="http://schemas.openxmlformats.org/drawingml/2006/main">
            <a:off x="495300" y="55054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Piyath Vithanage</a:t>
            </a:r>
          </a:p>
        </p:txBody>
      </p:sp>
      <p:sp>
        <p:nvSpPr>
          <p:cNvPr id="18" name="">
            <a:extLst xmlns:a="http://schemas.openxmlformats.org/drawingml/2006/main">
              <a:ext uri="{FF2B5EF4-FFF2-40B4-BE49-F238E27FC236}">
                <a16:creationId xmlns:a16="http://schemas.microsoft.com/office/drawing/2014/main" id="{6057DB7E-D8EF-4501-8175-1EB9F5EFBE9B}"/>
              </a:ext>
            </a:extLst>
          </p:cNvPr>
          <p:cNvSpPr>
            <a:spLocks xmlns:a="http://schemas.openxmlformats.org/drawingml/2006/main" noGrp="1"/>
          </p:cNvSpPr>
          <p:nvPr/>
        </p:nvSpPr>
        <p:spPr>
          <a:xfrm xmlns:a="http://schemas.openxmlformats.org/drawingml/2006/main">
            <a:off x="495300" y="579120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947"/>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Website, integration, model and telemetry graphs, data visualisation</a:t>
            </a:r>
          </a:p>
        </p:txBody>
      </p:sp>
      <p:sp>
        <p:nvSpPr>
          <p:cNvPr id="19" name="">
            <a:extLst xmlns:a="http://schemas.openxmlformats.org/drawingml/2006/main">
              <a:ext uri="{FF2B5EF4-FFF2-40B4-BE49-F238E27FC236}">
                <a16:creationId xmlns:a16="http://schemas.microsoft.com/office/drawing/2014/main" id="{706AA295-1441-49D2-85E1-7E430AC313C9}"/>
              </a:ext>
            </a:extLst>
          </p:cNvPr>
          <p:cNvSpPr>
            <a:spLocks xmlns:a="http://schemas.openxmlformats.org/drawingml/2006/main" noGrp="1"/>
          </p:cNvSpPr>
          <p:nvPr/>
        </p:nvSpPr>
        <p:spPr>
          <a:xfrm xmlns:a="http://schemas.openxmlformats.org/drawingml/2006/main">
            <a:off x="5810250" y="55054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1350" b="1">
                <a:solidFill>
                  <a:srgbClr val="F5F8FC"/>
                </a:solidFill>
                <a:latin typeface="Avenir Next"/>
                <a:ea typeface="Avenir Next"/>
                <a:cs typeface="Avenir Next"/>
              </a:defRPr>
            </a:pPr>
            <a:r>
              <a:rPr sz="1350" b="1">
                <a:solidFill>
                  <a:srgbClr val="F5F8FC"/>
                </a:solidFill>
                <a:latin typeface="Avenir Next"/>
                <a:ea typeface="Avenir Next"/>
                <a:cs typeface="Avenir Next"/>
              </a:rPr>
              <a:t>Dilan Fernando</a:t>
            </a:r>
          </a:p>
        </p:txBody>
      </p:sp>
      <p:sp>
        <p:nvSpPr>
          <p:cNvPr id="20" name="">
            <a:extLst xmlns:a="http://schemas.openxmlformats.org/drawingml/2006/main">
              <a:ext uri="{FF2B5EF4-FFF2-40B4-BE49-F238E27FC236}">
                <a16:creationId xmlns:a16="http://schemas.microsoft.com/office/drawing/2014/main" id="{A8EE2E29-2DEB-4D0A-A976-9E54E6BBF035}"/>
              </a:ext>
            </a:extLst>
          </p:cNvPr>
          <p:cNvSpPr>
            <a:spLocks xmlns:a="http://schemas.openxmlformats.org/drawingml/2006/main" noGrp="1"/>
          </p:cNvSpPr>
          <p:nvPr/>
        </p:nvSpPr>
        <p:spPr>
          <a:xfrm xmlns:a="http://schemas.openxmlformats.org/drawingml/2006/main">
            <a:off x="5810250" y="579120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547"/>
          </a:bodyPr>
          <a:lstStyle xmlns:a="http://schemas.openxmlformats.org/drawingml/2006/main"/>
          <a:p xmlns:a="http://schemas.openxmlformats.org/drawingml/2006/main">
            <a:pPr>
              <a:defRPr sz="1200" b="0">
                <a:solidFill>
                  <a:srgbClr val="90A5BC"/>
                </a:solidFill>
                <a:latin typeface="Avenir Next"/>
                <a:ea typeface="Avenir Next"/>
                <a:cs typeface="Avenir Next"/>
              </a:defRPr>
            </a:pPr>
            <a:r>
              <a:rPr sz="1200" b="0">
                <a:solidFill>
                  <a:srgbClr val="90A5BC"/>
                </a:solidFill>
                <a:latin typeface="Avenir Next"/>
                <a:ea typeface="Avenir Next"/>
                <a:cs typeface="Avenir Next"/>
              </a:rPr>
              <a:t>Thermodynamics, experiment, analysis, documentation and project integration</a:t>
            </a:r>
          </a:p>
        </p:txBody>
      </p:sp>
      <p:sp>
        <p:nvSpPr>
          <p:cNvPr id="21" name="">
            <a:extLst xmlns:a="http://schemas.openxmlformats.org/drawingml/2006/main">
              <a:ext uri="{FF2B5EF4-FFF2-40B4-BE49-F238E27FC236}">
                <a16:creationId xmlns:a16="http://schemas.microsoft.com/office/drawing/2014/main" id="{B7C3B88E-FC1F-4E04-A086-5913B812ABC9}"/>
              </a:ext>
            </a:extLst>
          </p:cNvPr>
          <p:cNvSpPr>
            <a:spLocks xmlns:a="http://schemas.openxmlformats.org/drawingml/2006/main" noGrp="1"/>
          </p:cNvSpPr>
          <p:nvPr/>
        </p:nvSpPr>
        <p:spPr>
          <a:xfrm xmlns:a="http://schemas.openxmlformats.org/drawingml/2006/main">
            <a:off x="495300" y="62388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0">
                <a:solidFill>
                  <a:srgbClr val="90A5BC"/>
                </a:solidFill>
                <a:latin typeface="Avenir Next"/>
                <a:ea typeface="Avenir Next"/>
                <a:cs typeface="Avenir Next"/>
              </a:defRPr>
            </a:pPr>
            <a:r>
              <a:rPr sz="1050" b="0">
                <a:solidFill>
                  <a:srgbClr val="90A5BC"/>
                </a:solidFill>
                <a:latin typeface="Avenir Next"/>
                <a:ea typeface="Avenir Next"/>
                <a:cs typeface="Avenir Next"/>
              </a:rPr>
              <a:t>Elio Krollpfeiffer and Nuhansee Migelhewage remain listed as project team members in the current repository and learning materials.</a:t>
            </a:r>
          </a:p>
        </p:txBody>
      </p:sp>
    </p:spTree>
    <p:extLst>
      <p:ext uri="{BB962C8B-B14F-4D97-AF65-F5344CB8AC3E}">
        <p14:creationId xmlns:p14="http://schemas.microsoft.com/office/powerpoint/2010/main" val="774685689"/>
      </p:ext>
    </p:extLst>
  </p:cSld>
</p:sld>
</file>

<file path=ppt/slides/slide15.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15BE11-F8BD-469B-8E30-9450E15B9D21}"/>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C0C4F9A6-FF5E-42CD-881C-78BADBF7B0EA}"/>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complete apparatus list</a:t>
            </a:r>
          </a:p>
        </p:txBody>
      </p:sp>
      <p:sp>
        <p:nvSpPr>
          <p:cNvPr id="3" name="">
            <a:extLst xmlns:a="http://schemas.openxmlformats.org/drawingml/2006/main">
              <a:ext uri="{FF2B5EF4-FFF2-40B4-BE49-F238E27FC236}">
                <a16:creationId xmlns:a16="http://schemas.microsoft.com/office/drawing/2014/main" id="{274C1215-2055-49AD-BB28-9D2CAC800854}"/>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FCC719-CA53-4C79-ADF5-5282922E781D}"/>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A0C98507-B60B-417B-A292-501D4E54FA71}"/>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15</a:t>
            </a:r>
          </a:p>
        </p:txBody>
      </p:sp>
      <p:graphicFrame>
        <p:nvGraphicFramePr>
          <p:cNvPr id="13" name=""/>
          <p:cNvGraphicFramePr/>
          <p:nvPr/>
        </p:nvGraphicFramePr>
        <p:xfrm>
          <a:off xmlns:a="http://schemas.openxmlformats.org/drawingml/2006/main" x="495300" y="1381125"/>
          <a:ext xmlns:a="http://schemas.openxmlformats.org/drawingml/2006/main" cx="11201400" cy="4524375"/>
        </p:xfrm>
        <a:graphic xmlns:a="http://schemas.openxmlformats.org/drawingml/2006/main">
          <a:graphicData uri="http://schemas.openxmlformats.org/drawingml/2006/table">
            <a:tbl>
              <a:tblPr/>
              <a:tblGrid>
                <a:gridCol w="1428750"/>
                <a:gridCol w="3714750"/>
                <a:gridCol w="6057900"/>
              </a:tblGrid>
              <a:tr h="502708">
                <a:tc>
                  <a:txBody>
                    <a:bodyPr/>
                    <a:lstStyle/>
                    <a:p>
                      <a:r>
                        <a:rPr sz="1350" b="1">
                          <a:solidFill>
                            <a:srgbClr val="F5F8FC"/>
                          </a:solidFill>
                          <a:latin typeface="Avenir Next"/>
                          <a:ea typeface="Avenir Next"/>
                          <a:cs typeface="Avenir Next"/>
                        </a:rPr>
                        <a:t>Quantity</a:t>
                      </a:r>
                    </a:p>
                  </a:txBody>
                  <a:tcPr marL="76200" marR="76200" marT="47625" marB="47625" anchor="ctr">
                    <a:solidFill>
                      <a:srgbClr val="153353"/>
                    </a:solidFill>
                  </a:tcPr>
                </a:tc>
                <a:tc>
                  <a:txBody>
                    <a:bodyPr/>
                    <a:lstStyle/>
                    <a:p>
                      <a:r>
                        <a:rPr sz="1350" b="1">
                          <a:solidFill>
                            <a:srgbClr val="F5F8FC"/>
                          </a:solidFill>
                          <a:latin typeface="Avenir Next"/>
                          <a:ea typeface="Avenir Next"/>
                          <a:cs typeface="Avenir Next"/>
                        </a:rPr>
                        <a:t>Item</a:t>
                      </a:r>
                    </a:p>
                  </a:txBody>
                  <a:tcPr marL="76200" marR="76200" marT="47625" marB="47625" anchor="ctr">
                    <a:solidFill>
                      <a:srgbClr val="153353"/>
                    </a:solidFill>
                  </a:tcPr>
                </a:tc>
                <a:tc>
                  <a:txBody>
                    <a:bodyPr/>
                    <a:lstStyle/>
                    <a:p>
                      <a:r>
                        <a:rPr sz="1350" b="1">
                          <a:solidFill>
                            <a:srgbClr val="F5F8FC"/>
                          </a:solidFill>
                          <a:latin typeface="Avenir Next"/>
                          <a:ea typeface="Avenir Next"/>
                          <a:cs typeface="Avenir Next"/>
                        </a:rPr>
                        <a:t>Function</a:t>
                      </a:r>
                    </a:p>
                  </a:txBody>
                  <a:tcPr marL="76200" marR="76200" marT="47625" marB="47625" anchor="ctr">
                    <a:solidFill>
                      <a:srgbClr val="153353"/>
                    </a:solidFill>
                  </a:tcPr>
                </a:tc>
              </a:tr>
              <a:tr h="502708">
                <a:tc>
                  <a:txBody>
                    <a:bodyPr/>
                    <a:lstStyle/>
                    <a:p>
                      <a:r>
                        <a:rPr sz="1350">
                          <a:solidFill>
                            <a:srgbClr val="D8E4F2"/>
                          </a:solidFill>
                          <a:latin typeface="Avenir Next"/>
                          <a:ea typeface="Avenir Next"/>
                          <a:cs typeface="Avenir Next"/>
                        </a:rPr>
                        <a:t>4</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100 mL glass thermal cores</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Comparable test vessels</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4 + 1</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Digital probe thermometers</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Core and bath measurements</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Bucket or deep container</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Cold bath and secondary containment</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 set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Cotton, bubble wrap and Mylar</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Four insulation configurations</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As needed</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Tape or elastic bands</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Repeatable assembly without compression</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 set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Gloves or tongs, towels and timer</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Safe handling, cleanup and timing</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1</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Adult-controlled hot-water source</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Prepare water near 80 °C</a:t>
                      </a:r>
                    </a:p>
                  </a:txBody>
                  <a:tcPr marL="76200" marR="76200" marT="47625" marB="47625" anchor="ctr">
                    <a:solidFill>
                      <a:srgbClr val="0C1B33"/>
                    </a:solidFill>
                  </a:tcPr>
                </a:tc>
              </a:tr>
              <a:tr h="502708">
                <a:tc>
                  <a:txBody>
                    <a:bodyPr/>
                    <a:lstStyle/>
                    <a:p>
                      <a:r>
                        <a:rPr sz="1350">
                          <a:solidFill>
                            <a:srgbClr val="D8E4F2"/>
                          </a:solidFill>
                          <a:latin typeface="Avenir Next"/>
                          <a:ea typeface="Avenir Next"/>
                          <a:cs typeface="Avenir Next"/>
                        </a:rPr>
                        <a:t>Per student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Task sheet or laboratory report</a:t>
                      </a:r>
                    </a:p>
                  </a:txBody>
                  <a:tcPr marL="76200" marR="76200" marT="47625" marB="47625" anchor="ctr">
                    <a:solidFill>
                      <a:srgbClr val="0C1B33"/>
                    </a:solidFill>
                  </a:tcPr>
                </a:tc>
                <a:tc>
                  <a:txBody>
                    <a:bodyPr/>
                    <a:lstStyle/>
                    <a:p>
                      <a:r>
                        <a:rPr sz="1350">
                          <a:solidFill>
                            <a:srgbClr val="D8E4F2"/>
                          </a:solidFill>
                          <a:latin typeface="Avenir Next"/>
                          <a:ea typeface="Avenir Next"/>
                          <a:cs typeface="Avenir Next"/>
                        </a:rPr>
                        <a:t>Hypothesis, raw data and evaluation</a:t>
                      </a:r>
                    </a:p>
                  </a:txBody>
                  <a:tcPr marL="76200" marR="76200" marT="47625" marB="47625" anchor="ctr">
                    <a:solidFill>
                      <a:srgbClr val="0C1B33"/>
                    </a:solidFill>
                  </a:tcPr>
                </a:tc>
              </a:tr>
            </a:tbl>
          </a:graphicData>
        </a:graphic>
      </p:graphicFrame>
      <p:sp>
        <p:nvSpPr>
          <p:cNvPr id="7" name="">
            <a:extLst xmlns:a="http://schemas.openxmlformats.org/drawingml/2006/main">
              <a:ext uri="{FF2B5EF4-FFF2-40B4-BE49-F238E27FC236}">
                <a16:creationId xmlns:a16="http://schemas.microsoft.com/office/drawing/2014/main" id="{4944D51B-1F25-4614-BBBC-93AEF16E4030}"/>
              </a:ext>
            </a:extLst>
          </p:cNvPr>
          <p:cNvSpPr>
            <a:spLocks xmlns:a="http://schemas.openxmlformats.org/drawingml/2006/main" noGrp="1"/>
          </p:cNvSpPr>
          <p:nvPr/>
        </p:nvSpPr>
        <p:spPr>
          <a:xfrm xmlns:a="http://schemas.openxmlformats.org/drawingml/2006/main">
            <a:off x="495300" y="6096000"/>
            <a:ext cx="11201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1">
                <a:solidFill>
                  <a:srgbClr val="F59E0B"/>
                </a:solidFill>
                <a:latin typeface="Avenir Next"/>
                <a:ea typeface="Avenir Next"/>
                <a:cs typeface="Avenir Next"/>
              </a:defRPr>
            </a:pPr>
            <a:r>
              <a:rPr sz="1200" b="0" i="1">
                <a:solidFill>
                  <a:srgbClr val="F59E0B"/>
                </a:solidFill>
                <a:latin typeface="Avenir Next"/>
                <a:ea typeface="Avenir Next"/>
                <a:cs typeface="Avenir Next"/>
              </a:rPr>
              <a:t>Exact cost depends on local sourcing. The older €35.20 estimate remains an unverified draft procurement figure.</a:t>
            </a:r>
          </a:p>
        </p:txBody>
      </p:sp>
    </p:spTree>
    <p:extLst>
      <p:ext uri="{BB962C8B-B14F-4D97-AF65-F5344CB8AC3E}">
        <p14:creationId xmlns:p14="http://schemas.microsoft.com/office/powerpoint/2010/main" val="1607616884"/>
      </p:ext>
    </p:extLst>
  </p:cSld>
</p:sld>
</file>

<file path=ppt/slides/slide16.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52027B31-A94A-43D2-8D9C-7A41B4D6EC5B}"/>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798D71C4-20FB-4509-BF53-B21002141D5F}"/>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12-step operating procedure</a:t>
            </a:r>
          </a:p>
        </p:txBody>
      </p:sp>
      <p:sp>
        <p:nvSpPr>
          <p:cNvPr id="3" name="">
            <a:extLst xmlns:a="http://schemas.openxmlformats.org/drawingml/2006/main">
              <a:ext uri="{FF2B5EF4-FFF2-40B4-BE49-F238E27FC236}">
                <a16:creationId xmlns:a16="http://schemas.microsoft.com/office/drawing/2014/main" id="{8CC0C3A0-C5E5-4460-9931-4CCD965BB14C}"/>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FEBC2D4-B7F5-4C94-BE7D-3E7AFCD280CD}"/>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04399255-D076-4F65-9274-5277E2C44A2A}"/>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16</a:t>
            </a:r>
          </a:p>
        </p:txBody>
      </p:sp>
      <p:sp>
        <p:nvSpPr>
          <p:cNvPr id="6" name="">
            <a:extLst xmlns:a="http://schemas.openxmlformats.org/drawingml/2006/main">
              <a:ext uri="{FF2B5EF4-FFF2-40B4-BE49-F238E27FC236}">
                <a16:creationId xmlns:a16="http://schemas.microsoft.com/office/drawing/2014/main" id="{0092A74D-7CE7-4AFB-A7B6-F31E3A8E5C80}"/>
              </a:ext>
            </a:extLst>
          </p:cNvPr>
          <p:cNvSpPr>
            <a:spLocks xmlns:a="http://schemas.openxmlformats.org/drawingml/2006/main" noGrp="1"/>
          </p:cNvSpPr>
          <p:nvPr/>
        </p:nvSpPr>
        <p:spPr>
          <a:xfrm xmlns:a="http://schemas.openxmlformats.org/drawingml/2006/main">
            <a:off x="495300" y="1381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558409DE-676A-48F5-9234-D03488353BE5}"/>
              </a:ext>
            </a:extLst>
          </p:cNvPr>
          <p:cNvSpPr>
            <a:spLocks xmlns:a="http://schemas.openxmlformats.org/drawingml/2006/main" noGrp="1"/>
          </p:cNvSpPr>
          <p:nvPr/>
        </p:nvSpPr>
        <p:spPr>
          <a:xfrm xmlns:a="http://schemas.openxmlformats.org/drawingml/2006/main">
            <a:off x="1047750" y="13811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Prepare a stable, dry work area.</a:t>
            </a:r>
          </a:p>
        </p:txBody>
      </p:sp>
      <p:sp>
        <p:nvSpPr>
          <p:cNvPr id="8" name="">
            <a:extLst xmlns:a="http://schemas.openxmlformats.org/drawingml/2006/main">
              <a:ext uri="{FF2B5EF4-FFF2-40B4-BE49-F238E27FC236}">
                <a16:creationId xmlns:a16="http://schemas.microsoft.com/office/drawing/2014/main" id="{2E47F9E6-C031-4D44-96BB-29100E466F2F}"/>
              </a:ext>
            </a:extLst>
          </p:cNvPr>
          <p:cNvSpPr>
            <a:spLocks xmlns:a="http://schemas.openxmlformats.org/drawingml/2006/main" noGrp="1"/>
          </p:cNvSpPr>
          <p:nvPr/>
        </p:nvSpPr>
        <p:spPr>
          <a:xfrm xmlns:a="http://schemas.openxmlformats.org/drawingml/2006/main">
            <a:off x="495300" y="19716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B64423C-5875-4849-B8A1-F9A2FCC63AB6}"/>
              </a:ext>
            </a:extLst>
          </p:cNvPr>
          <p:cNvSpPr>
            <a:spLocks xmlns:a="http://schemas.openxmlformats.org/drawingml/2006/main" noGrp="1"/>
          </p:cNvSpPr>
          <p:nvPr/>
        </p:nvSpPr>
        <p:spPr>
          <a:xfrm xmlns:a="http://schemas.openxmlformats.org/drawingml/2006/main">
            <a:off x="495300" y="216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02</a:t>
            </a:r>
          </a:p>
        </p:txBody>
      </p:sp>
      <p:sp>
        <p:nvSpPr>
          <p:cNvPr id="10" name="">
            <a:extLst xmlns:a="http://schemas.openxmlformats.org/drawingml/2006/main">
              <a:ext uri="{FF2B5EF4-FFF2-40B4-BE49-F238E27FC236}">
                <a16:creationId xmlns:a16="http://schemas.microsoft.com/office/drawing/2014/main" id="{A68A5D1C-62C1-4F34-93FD-32187853492F}"/>
              </a:ext>
            </a:extLst>
          </p:cNvPr>
          <p:cNvSpPr>
            <a:spLocks xmlns:a="http://schemas.openxmlformats.org/drawingml/2006/main" noGrp="1"/>
          </p:cNvSpPr>
          <p:nvPr/>
        </p:nvSpPr>
        <p:spPr>
          <a:xfrm xmlns:a="http://schemas.openxmlformats.org/drawingml/2006/main">
            <a:off x="1047750" y="21621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Measure and record the bath temperature.</a:t>
            </a:r>
          </a:p>
        </p:txBody>
      </p:sp>
      <p:sp>
        <p:nvSpPr>
          <p:cNvPr id="11" name="">
            <a:extLst xmlns:a="http://schemas.openxmlformats.org/drawingml/2006/main">
              <a:ext uri="{FF2B5EF4-FFF2-40B4-BE49-F238E27FC236}">
                <a16:creationId xmlns:a16="http://schemas.microsoft.com/office/drawing/2014/main" id="{EE990469-5A26-4AB3-B7C2-3410B988524E}"/>
              </a:ext>
            </a:extLst>
          </p:cNvPr>
          <p:cNvSpPr>
            <a:spLocks xmlns:a="http://schemas.openxmlformats.org/drawingml/2006/main" noGrp="1"/>
          </p:cNvSpPr>
          <p:nvPr/>
        </p:nvSpPr>
        <p:spPr>
          <a:xfrm xmlns:a="http://schemas.openxmlformats.org/drawingml/2006/main">
            <a:off x="495300" y="27527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0D7DDF7-EB2C-4852-88D7-29E283942C45}"/>
              </a:ext>
            </a:extLst>
          </p:cNvPr>
          <p:cNvSpPr>
            <a:spLocks xmlns:a="http://schemas.openxmlformats.org/drawingml/2006/main" noGrp="1"/>
          </p:cNvSpPr>
          <p:nvPr/>
        </p:nvSpPr>
        <p:spPr>
          <a:xfrm xmlns:a="http://schemas.openxmlformats.org/drawingml/2006/main">
            <a:off x="495300" y="29432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03</a:t>
            </a:r>
          </a:p>
        </p:txBody>
      </p:sp>
      <p:sp>
        <p:nvSpPr>
          <p:cNvPr id="13" name="">
            <a:extLst xmlns:a="http://schemas.openxmlformats.org/drawingml/2006/main">
              <a:ext uri="{FF2B5EF4-FFF2-40B4-BE49-F238E27FC236}">
                <a16:creationId xmlns:a16="http://schemas.microsoft.com/office/drawing/2014/main" id="{F028BF1A-80F6-4121-961C-D19B84B8F872}"/>
              </a:ext>
            </a:extLst>
          </p:cNvPr>
          <p:cNvSpPr>
            <a:spLocks xmlns:a="http://schemas.openxmlformats.org/drawingml/2006/main" noGrp="1"/>
          </p:cNvSpPr>
          <p:nvPr/>
        </p:nvSpPr>
        <p:spPr>
          <a:xfrm xmlns:a="http://schemas.openxmlformats.org/drawingml/2006/main">
            <a:off x="1047750" y="29432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Label the four test conditions.</a:t>
            </a:r>
          </a:p>
        </p:txBody>
      </p:sp>
      <p:sp>
        <p:nvSpPr>
          <p:cNvPr id="14" name="">
            <a:extLst xmlns:a="http://schemas.openxmlformats.org/drawingml/2006/main">
              <a:ext uri="{FF2B5EF4-FFF2-40B4-BE49-F238E27FC236}">
                <a16:creationId xmlns:a16="http://schemas.microsoft.com/office/drawing/2014/main" id="{3A0521AD-C10E-4394-9243-3EA08CD975C2}"/>
              </a:ext>
            </a:extLst>
          </p:cNvPr>
          <p:cNvSpPr>
            <a:spLocks xmlns:a="http://schemas.openxmlformats.org/drawingml/2006/main" noGrp="1"/>
          </p:cNvSpPr>
          <p:nvPr/>
        </p:nvSpPr>
        <p:spPr>
          <a:xfrm xmlns:a="http://schemas.openxmlformats.org/drawingml/2006/main">
            <a:off x="495300" y="35337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F6E2F70-DDA1-46E3-A016-A379A1BB6D79}"/>
              </a:ext>
            </a:extLst>
          </p:cNvPr>
          <p:cNvSpPr>
            <a:spLocks xmlns:a="http://schemas.openxmlformats.org/drawingml/2006/main" noGrp="1"/>
          </p:cNvSpPr>
          <p:nvPr/>
        </p:nvSpPr>
        <p:spPr>
          <a:xfrm xmlns:a="http://schemas.openxmlformats.org/drawingml/2006/main">
            <a:off x="495300" y="37242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04</a:t>
            </a:r>
          </a:p>
        </p:txBody>
      </p:sp>
      <p:sp>
        <p:nvSpPr>
          <p:cNvPr id="16" name="">
            <a:extLst xmlns:a="http://schemas.openxmlformats.org/drawingml/2006/main">
              <a:ext uri="{FF2B5EF4-FFF2-40B4-BE49-F238E27FC236}">
                <a16:creationId xmlns:a16="http://schemas.microsoft.com/office/drawing/2014/main" id="{3643B206-6983-49C9-A3C8-CFBBA1E99E56}"/>
              </a:ext>
            </a:extLst>
          </p:cNvPr>
          <p:cNvSpPr>
            <a:spLocks xmlns:a="http://schemas.openxmlformats.org/drawingml/2006/main" noGrp="1"/>
          </p:cNvSpPr>
          <p:nvPr/>
        </p:nvSpPr>
        <p:spPr>
          <a:xfrm xmlns:a="http://schemas.openxmlformats.org/drawingml/2006/main">
            <a:off x="1047750" y="3724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Build each package without compressing its layers.</a:t>
            </a:r>
          </a:p>
        </p:txBody>
      </p:sp>
      <p:sp>
        <p:nvSpPr>
          <p:cNvPr id="17" name="">
            <a:extLst xmlns:a="http://schemas.openxmlformats.org/drawingml/2006/main">
              <a:ext uri="{FF2B5EF4-FFF2-40B4-BE49-F238E27FC236}">
                <a16:creationId xmlns:a16="http://schemas.microsoft.com/office/drawing/2014/main" id="{90DD8B0D-5C56-4B67-85C5-DE9CCA4D311E}"/>
              </a:ext>
            </a:extLst>
          </p:cNvPr>
          <p:cNvSpPr>
            <a:spLocks xmlns:a="http://schemas.openxmlformats.org/drawingml/2006/main" noGrp="1"/>
          </p:cNvSpPr>
          <p:nvPr/>
        </p:nvSpPr>
        <p:spPr>
          <a:xfrm xmlns:a="http://schemas.openxmlformats.org/drawingml/2006/main">
            <a:off x="495300" y="43148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A5B3E9E-928A-471F-808F-09C7C1F43EB8}"/>
              </a:ext>
            </a:extLst>
          </p:cNvPr>
          <p:cNvSpPr>
            <a:spLocks xmlns:a="http://schemas.openxmlformats.org/drawingml/2006/main" noGrp="1"/>
          </p:cNvSpPr>
          <p:nvPr/>
        </p:nvSpPr>
        <p:spPr>
          <a:xfrm xmlns:a="http://schemas.openxmlformats.org/drawingml/2006/main">
            <a:off x="495300" y="4505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9E0B"/>
                </a:solidFill>
                <a:latin typeface="Avenir Next"/>
                <a:ea typeface="Avenir Next"/>
                <a:cs typeface="Avenir Next"/>
              </a:defRPr>
            </a:pPr>
            <a:r>
              <a:rPr sz="1575" b="1">
                <a:solidFill>
                  <a:srgbClr val="F59E0B"/>
                </a:solidFill>
                <a:latin typeface="Avenir Next"/>
                <a:ea typeface="Avenir Next"/>
                <a:cs typeface="Avenir Next"/>
              </a:rPr>
              <a:t>05</a:t>
            </a:r>
          </a:p>
        </p:txBody>
      </p:sp>
      <p:sp>
        <p:nvSpPr>
          <p:cNvPr id="19" name="">
            <a:extLst xmlns:a="http://schemas.openxmlformats.org/drawingml/2006/main">
              <a:ext uri="{FF2B5EF4-FFF2-40B4-BE49-F238E27FC236}">
                <a16:creationId xmlns:a16="http://schemas.microsoft.com/office/drawing/2014/main" id="{811E8FD7-1498-42B7-A667-4F267CFA0E7C}"/>
              </a:ext>
            </a:extLst>
          </p:cNvPr>
          <p:cNvSpPr>
            <a:spLocks xmlns:a="http://schemas.openxmlformats.org/drawingml/2006/main" noGrp="1"/>
          </p:cNvSpPr>
          <p:nvPr/>
        </p:nvSpPr>
        <p:spPr>
          <a:xfrm xmlns:a="http://schemas.openxmlformats.org/drawingml/2006/main">
            <a:off x="1047750" y="45053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Prepare water near 80 °C under adult supervision.</a:t>
            </a:r>
          </a:p>
        </p:txBody>
      </p:sp>
      <p:sp>
        <p:nvSpPr>
          <p:cNvPr id="20" name="">
            <a:extLst xmlns:a="http://schemas.openxmlformats.org/drawingml/2006/main">
              <a:ext uri="{FF2B5EF4-FFF2-40B4-BE49-F238E27FC236}">
                <a16:creationId xmlns:a16="http://schemas.microsoft.com/office/drawing/2014/main" id="{679E6F8C-FD04-4726-86FE-92C32A5B5240}"/>
              </a:ext>
            </a:extLst>
          </p:cNvPr>
          <p:cNvSpPr>
            <a:spLocks xmlns:a="http://schemas.openxmlformats.org/drawingml/2006/main" noGrp="1"/>
          </p:cNvSpPr>
          <p:nvPr/>
        </p:nvSpPr>
        <p:spPr>
          <a:xfrm xmlns:a="http://schemas.openxmlformats.org/drawingml/2006/main">
            <a:off x="495300" y="50958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4A3F00E-28E0-4273-9443-02F78BE62BDB}"/>
              </a:ext>
            </a:extLst>
          </p:cNvPr>
          <p:cNvSpPr>
            <a:spLocks xmlns:a="http://schemas.openxmlformats.org/drawingml/2006/main" noGrp="1"/>
          </p:cNvSpPr>
          <p:nvPr/>
        </p:nvSpPr>
        <p:spPr>
          <a:xfrm xmlns:a="http://schemas.openxmlformats.org/drawingml/2006/main">
            <a:off x="495300" y="52863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9E0B"/>
                </a:solidFill>
                <a:latin typeface="Avenir Next"/>
                <a:ea typeface="Avenir Next"/>
                <a:cs typeface="Avenir Next"/>
              </a:defRPr>
            </a:pPr>
            <a:r>
              <a:rPr sz="1575" b="1">
                <a:solidFill>
                  <a:srgbClr val="F59E0B"/>
                </a:solidFill>
                <a:latin typeface="Avenir Next"/>
                <a:ea typeface="Avenir Next"/>
                <a:cs typeface="Avenir Next"/>
              </a:rPr>
              <a:t>06</a:t>
            </a:r>
          </a:p>
        </p:txBody>
      </p:sp>
      <p:sp>
        <p:nvSpPr>
          <p:cNvPr id="22" name="">
            <a:extLst xmlns:a="http://schemas.openxmlformats.org/drawingml/2006/main">
              <a:ext uri="{FF2B5EF4-FFF2-40B4-BE49-F238E27FC236}">
                <a16:creationId xmlns:a16="http://schemas.microsoft.com/office/drawing/2014/main" id="{4A8D1FA8-CCB8-4E8B-A14A-A88A70BDE8A0}"/>
              </a:ext>
            </a:extLst>
          </p:cNvPr>
          <p:cNvSpPr>
            <a:spLocks xmlns:a="http://schemas.openxmlformats.org/drawingml/2006/main" noGrp="1"/>
          </p:cNvSpPr>
          <p:nvPr/>
        </p:nvSpPr>
        <p:spPr>
          <a:xfrm xmlns:a="http://schemas.openxmlformats.org/drawingml/2006/main">
            <a:off x="1047750" y="52863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Condition the thermal core to 80 ± 2 °C.</a:t>
            </a:r>
          </a:p>
        </p:txBody>
      </p:sp>
      <p:sp>
        <p:nvSpPr>
          <p:cNvPr id="23" name="">
            <a:extLst xmlns:a="http://schemas.openxmlformats.org/drawingml/2006/main">
              <a:ext uri="{FF2B5EF4-FFF2-40B4-BE49-F238E27FC236}">
                <a16:creationId xmlns:a16="http://schemas.microsoft.com/office/drawing/2014/main" id="{62767724-9CD2-4488-814E-34774E8545C9}"/>
              </a:ext>
            </a:extLst>
          </p:cNvPr>
          <p:cNvSpPr>
            <a:spLocks xmlns:a="http://schemas.openxmlformats.org/drawingml/2006/main" noGrp="1"/>
          </p:cNvSpPr>
          <p:nvPr/>
        </p:nvSpPr>
        <p:spPr>
          <a:xfrm xmlns:a="http://schemas.openxmlformats.org/drawingml/2006/main">
            <a:off x="495300" y="58769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799126A-FBBE-4FB0-BEE5-6DF2549859FA}"/>
              </a:ext>
            </a:extLst>
          </p:cNvPr>
          <p:cNvSpPr>
            <a:spLocks xmlns:a="http://schemas.openxmlformats.org/drawingml/2006/main" noGrp="1"/>
          </p:cNvSpPr>
          <p:nvPr/>
        </p:nvSpPr>
        <p:spPr>
          <a:xfrm xmlns:a="http://schemas.openxmlformats.org/drawingml/2006/main">
            <a:off x="6210300" y="1381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F59E0B"/>
                </a:solidFill>
                <a:latin typeface="Avenir Next"/>
                <a:ea typeface="Avenir Next"/>
                <a:cs typeface="Avenir Next"/>
              </a:defRPr>
            </a:pPr>
            <a:r>
              <a:rPr sz="1575" b="1">
                <a:solidFill>
                  <a:srgbClr val="F59E0B"/>
                </a:solidFill>
                <a:latin typeface="Avenir Next"/>
                <a:ea typeface="Avenir Next"/>
                <a:cs typeface="Avenir Next"/>
              </a:rPr>
              <a:t>07</a:t>
            </a:r>
          </a:p>
        </p:txBody>
      </p:sp>
      <p:sp>
        <p:nvSpPr>
          <p:cNvPr id="25" name="">
            <a:extLst xmlns:a="http://schemas.openxmlformats.org/drawingml/2006/main">
              <a:ext uri="{FF2B5EF4-FFF2-40B4-BE49-F238E27FC236}">
                <a16:creationId xmlns:a16="http://schemas.microsoft.com/office/drawing/2014/main" id="{586A8EBC-4F82-4976-B225-F441A18BC978}"/>
              </a:ext>
            </a:extLst>
          </p:cNvPr>
          <p:cNvSpPr>
            <a:spLocks xmlns:a="http://schemas.openxmlformats.org/drawingml/2006/main" noGrp="1"/>
          </p:cNvSpPr>
          <p:nvPr/>
        </p:nvSpPr>
        <p:spPr>
          <a:xfrm xmlns:a="http://schemas.openxmlformats.org/drawingml/2006/main">
            <a:off x="6762750" y="13811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Transfer with gloves or tongs; keep probe depth fixed.</a:t>
            </a:r>
          </a:p>
        </p:txBody>
      </p:sp>
      <p:sp>
        <p:nvSpPr>
          <p:cNvPr id="26" name="">
            <a:extLst xmlns:a="http://schemas.openxmlformats.org/drawingml/2006/main">
              <a:ext uri="{FF2B5EF4-FFF2-40B4-BE49-F238E27FC236}">
                <a16:creationId xmlns:a16="http://schemas.microsoft.com/office/drawing/2014/main" id="{1814C3BE-852A-425F-A8B1-CC67BBE8BB78}"/>
              </a:ext>
            </a:extLst>
          </p:cNvPr>
          <p:cNvSpPr>
            <a:spLocks xmlns:a="http://schemas.openxmlformats.org/drawingml/2006/main" noGrp="1"/>
          </p:cNvSpPr>
          <p:nvPr/>
        </p:nvSpPr>
        <p:spPr>
          <a:xfrm xmlns:a="http://schemas.openxmlformats.org/drawingml/2006/main">
            <a:off x="6210300" y="19716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DB3263F-3653-49CA-A004-84DA89F00CE4}"/>
              </a:ext>
            </a:extLst>
          </p:cNvPr>
          <p:cNvSpPr>
            <a:spLocks xmlns:a="http://schemas.openxmlformats.org/drawingml/2006/main" noGrp="1"/>
          </p:cNvSpPr>
          <p:nvPr/>
        </p:nvSpPr>
        <p:spPr>
          <a:xfrm xmlns:a="http://schemas.openxmlformats.org/drawingml/2006/main">
            <a:off x="6210300" y="2162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08</a:t>
            </a:r>
          </a:p>
        </p:txBody>
      </p:sp>
      <p:sp>
        <p:nvSpPr>
          <p:cNvPr id="28" name="">
            <a:extLst xmlns:a="http://schemas.openxmlformats.org/drawingml/2006/main">
              <a:ext uri="{FF2B5EF4-FFF2-40B4-BE49-F238E27FC236}">
                <a16:creationId xmlns:a16="http://schemas.microsoft.com/office/drawing/2014/main" id="{7F8FDCA3-4D35-48AF-98D3-F831EF2FA149}"/>
              </a:ext>
            </a:extLst>
          </p:cNvPr>
          <p:cNvSpPr>
            <a:spLocks xmlns:a="http://schemas.openxmlformats.org/drawingml/2006/main" noGrp="1"/>
          </p:cNvSpPr>
          <p:nvPr/>
        </p:nvSpPr>
        <p:spPr>
          <a:xfrm xmlns:a="http://schemas.openxmlformats.org/drawingml/2006/main">
            <a:off x="6762750" y="21621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Start timing immediately and record T₀.</a:t>
            </a:r>
          </a:p>
        </p:txBody>
      </p:sp>
      <p:sp>
        <p:nvSpPr>
          <p:cNvPr id="29" name="">
            <a:extLst xmlns:a="http://schemas.openxmlformats.org/drawingml/2006/main">
              <a:ext uri="{FF2B5EF4-FFF2-40B4-BE49-F238E27FC236}">
                <a16:creationId xmlns:a16="http://schemas.microsoft.com/office/drawing/2014/main" id="{45FF057F-AF9B-4CE9-9C1A-DF3C6178D016}"/>
              </a:ext>
            </a:extLst>
          </p:cNvPr>
          <p:cNvSpPr>
            <a:spLocks xmlns:a="http://schemas.openxmlformats.org/drawingml/2006/main" noGrp="1"/>
          </p:cNvSpPr>
          <p:nvPr/>
        </p:nvSpPr>
        <p:spPr>
          <a:xfrm xmlns:a="http://schemas.openxmlformats.org/drawingml/2006/main">
            <a:off x="6210300" y="27527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237D4829-B12A-43D4-9783-991153273FB2}"/>
              </a:ext>
            </a:extLst>
          </p:cNvPr>
          <p:cNvSpPr>
            <a:spLocks xmlns:a="http://schemas.openxmlformats.org/drawingml/2006/main" noGrp="1"/>
          </p:cNvSpPr>
          <p:nvPr/>
        </p:nvSpPr>
        <p:spPr>
          <a:xfrm xmlns:a="http://schemas.openxmlformats.org/drawingml/2006/main">
            <a:off x="6210300" y="29432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09</a:t>
            </a:r>
          </a:p>
        </p:txBody>
      </p:sp>
      <p:sp>
        <p:nvSpPr>
          <p:cNvPr id="31" name="">
            <a:extLst xmlns:a="http://schemas.openxmlformats.org/drawingml/2006/main">
              <a:ext uri="{FF2B5EF4-FFF2-40B4-BE49-F238E27FC236}">
                <a16:creationId xmlns:a16="http://schemas.microsoft.com/office/drawing/2014/main" id="{61D18BC1-AE07-48B2-9EBA-88163677D3A9}"/>
              </a:ext>
            </a:extLst>
          </p:cNvPr>
          <p:cNvSpPr>
            <a:spLocks xmlns:a="http://schemas.openxmlformats.org/drawingml/2006/main" noGrp="1"/>
          </p:cNvSpPr>
          <p:nvPr/>
        </p:nvSpPr>
        <p:spPr>
          <a:xfrm xmlns:a="http://schemas.openxmlformats.org/drawingml/2006/main">
            <a:off x="6762750" y="29432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Record one temperature every minute through t = 15.</a:t>
            </a:r>
          </a:p>
        </p:txBody>
      </p:sp>
      <p:sp>
        <p:nvSpPr>
          <p:cNvPr id="32" name="">
            <a:extLst xmlns:a="http://schemas.openxmlformats.org/drawingml/2006/main">
              <a:ext uri="{FF2B5EF4-FFF2-40B4-BE49-F238E27FC236}">
                <a16:creationId xmlns:a16="http://schemas.microsoft.com/office/drawing/2014/main" id="{AE9301DA-BA4B-42E9-A3B1-262F421172EB}"/>
              </a:ext>
            </a:extLst>
          </p:cNvPr>
          <p:cNvSpPr>
            <a:spLocks xmlns:a="http://schemas.openxmlformats.org/drawingml/2006/main" noGrp="1"/>
          </p:cNvSpPr>
          <p:nvPr/>
        </p:nvSpPr>
        <p:spPr>
          <a:xfrm xmlns:a="http://schemas.openxmlformats.org/drawingml/2006/main">
            <a:off x="6210300" y="35337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81FE09C-EA53-4EAE-B893-ACA6BB63587D}"/>
              </a:ext>
            </a:extLst>
          </p:cNvPr>
          <p:cNvSpPr>
            <a:spLocks xmlns:a="http://schemas.openxmlformats.org/drawingml/2006/main" noGrp="1"/>
          </p:cNvSpPr>
          <p:nvPr/>
        </p:nvSpPr>
        <p:spPr>
          <a:xfrm xmlns:a="http://schemas.openxmlformats.org/drawingml/2006/main">
            <a:off x="6210300" y="37242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10</a:t>
            </a:r>
          </a:p>
        </p:txBody>
      </p:sp>
      <p:sp>
        <p:nvSpPr>
          <p:cNvPr id="34" name="">
            <a:extLst xmlns:a="http://schemas.openxmlformats.org/drawingml/2006/main">
              <a:ext uri="{FF2B5EF4-FFF2-40B4-BE49-F238E27FC236}">
                <a16:creationId xmlns:a16="http://schemas.microsoft.com/office/drawing/2014/main" id="{FB3B991A-E9F4-48B5-ACE8-0AA5C8CAE9A8}"/>
              </a:ext>
            </a:extLst>
          </p:cNvPr>
          <p:cNvSpPr>
            <a:spLocks xmlns:a="http://schemas.openxmlformats.org/drawingml/2006/main" noGrp="1"/>
          </p:cNvSpPr>
          <p:nvPr/>
        </p:nvSpPr>
        <p:spPr>
          <a:xfrm xmlns:a="http://schemas.openxmlformats.org/drawingml/2006/main">
            <a:off x="6762750" y="37242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Repeat with the same geometry, mass and method.</a:t>
            </a:r>
          </a:p>
        </p:txBody>
      </p:sp>
      <p:sp>
        <p:nvSpPr>
          <p:cNvPr id="35" name="">
            <a:extLst xmlns:a="http://schemas.openxmlformats.org/drawingml/2006/main">
              <a:ext uri="{FF2B5EF4-FFF2-40B4-BE49-F238E27FC236}">
                <a16:creationId xmlns:a16="http://schemas.microsoft.com/office/drawing/2014/main" id="{179724CB-5FD1-4EFF-A9EA-D954F3B903C4}"/>
              </a:ext>
            </a:extLst>
          </p:cNvPr>
          <p:cNvSpPr>
            <a:spLocks xmlns:a="http://schemas.openxmlformats.org/drawingml/2006/main" noGrp="1"/>
          </p:cNvSpPr>
          <p:nvPr/>
        </p:nvSpPr>
        <p:spPr>
          <a:xfrm xmlns:a="http://schemas.openxmlformats.org/drawingml/2006/main">
            <a:off x="6210300" y="43148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64C995B2-414C-4106-ABF2-644F99FAE8EA}"/>
              </a:ext>
            </a:extLst>
          </p:cNvPr>
          <p:cNvSpPr>
            <a:spLocks xmlns:a="http://schemas.openxmlformats.org/drawingml/2006/main" noGrp="1"/>
          </p:cNvSpPr>
          <p:nvPr/>
        </p:nvSpPr>
        <p:spPr>
          <a:xfrm xmlns:a="http://schemas.openxmlformats.org/drawingml/2006/main">
            <a:off x="6210300" y="45053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11</a:t>
            </a:r>
          </a:p>
        </p:txBody>
      </p:sp>
      <p:sp>
        <p:nvSpPr>
          <p:cNvPr id="37" name="">
            <a:extLst xmlns:a="http://schemas.openxmlformats.org/drawingml/2006/main">
              <a:ext uri="{FF2B5EF4-FFF2-40B4-BE49-F238E27FC236}">
                <a16:creationId xmlns:a16="http://schemas.microsoft.com/office/drawing/2014/main" id="{8C121A79-3795-48F8-9D42-6BAD6A469917}"/>
              </a:ext>
            </a:extLst>
          </p:cNvPr>
          <p:cNvSpPr>
            <a:spLocks xmlns:a="http://schemas.openxmlformats.org/drawingml/2006/main" noGrp="1"/>
          </p:cNvSpPr>
          <p:nvPr/>
        </p:nvSpPr>
        <p:spPr>
          <a:xfrm xmlns:a="http://schemas.openxmlformats.org/drawingml/2006/main">
            <a:off x="6762750" y="450532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Calculate drop, residuals, MAE and fitted k as required.</a:t>
            </a:r>
          </a:p>
        </p:txBody>
      </p:sp>
      <p:sp>
        <p:nvSpPr>
          <p:cNvPr id="38" name="">
            <a:extLst xmlns:a="http://schemas.openxmlformats.org/drawingml/2006/main">
              <a:ext uri="{FF2B5EF4-FFF2-40B4-BE49-F238E27FC236}">
                <a16:creationId xmlns:a16="http://schemas.microsoft.com/office/drawing/2014/main" id="{206461C1-7311-4B43-A2C2-E9CCC7D7C5BF}"/>
              </a:ext>
            </a:extLst>
          </p:cNvPr>
          <p:cNvSpPr>
            <a:spLocks xmlns:a="http://schemas.openxmlformats.org/drawingml/2006/main" noGrp="1"/>
          </p:cNvSpPr>
          <p:nvPr/>
        </p:nvSpPr>
        <p:spPr>
          <a:xfrm xmlns:a="http://schemas.openxmlformats.org/drawingml/2006/main">
            <a:off x="6210300" y="509587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AEE5AD9D-B18C-45B2-A6E7-514587999201}"/>
              </a:ext>
            </a:extLst>
          </p:cNvPr>
          <p:cNvSpPr>
            <a:spLocks xmlns:a="http://schemas.openxmlformats.org/drawingml/2006/main" noGrp="1"/>
          </p:cNvSpPr>
          <p:nvPr/>
        </p:nvSpPr>
        <p:spPr>
          <a:xfrm xmlns:a="http://schemas.openxmlformats.org/drawingml/2006/main">
            <a:off x="6210300" y="52863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22B8F0"/>
                </a:solidFill>
                <a:latin typeface="Avenir Next"/>
                <a:ea typeface="Avenir Next"/>
                <a:cs typeface="Avenir Next"/>
              </a:defRPr>
            </a:pPr>
            <a:r>
              <a:rPr sz="1575" b="1">
                <a:solidFill>
                  <a:srgbClr val="22B8F0"/>
                </a:solidFill>
                <a:latin typeface="Avenir Next"/>
                <a:ea typeface="Avenir Next"/>
                <a:cs typeface="Avenir Next"/>
              </a:rPr>
              <a:t>12</a:t>
            </a:r>
          </a:p>
        </p:txBody>
      </p:sp>
      <p:sp>
        <p:nvSpPr>
          <p:cNvPr id="40" name="">
            <a:extLst xmlns:a="http://schemas.openxmlformats.org/drawingml/2006/main">
              <a:ext uri="{FF2B5EF4-FFF2-40B4-BE49-F238E27FC236}">
                <a16:creationId xmlns:a16="http://schemas.microsoft.com/office/drawing/2014/main" id="{DFC3753D-DB15-44FA-B2C0-837EDBA434F6}"/>
              </a:ext>
            </a:extLst>
          </p:cNvPr>
          <p:cNvSpPr>
            <a:spLocks xmlns:a="http://schemas.openxmlformats.org/drawingml/2006/main" noGrp="1"/>
          </p:cNvSpPr>
          <p:nvPr/>
        </p:nvSpPr>
        <p:spPr>
          <a:xfrm xmlns:a="http://schemas.openxmlformats.org/drawingml/2006/main">
            <a:off x="6762750" y="5286375"/>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8E4F2"/>
                </a:solidFill>
                <a:latin typeface="Avenir Next"/>
                <a:ea typeface="Avenir Next"/>
                <a:cs typeface="Avenir Next"/>
              </a:defRPr>
            </a:pPr>
            <a:r>
              <a:rPr sz="1350" b="0">
                <a:solidFill>
                  <a:srgbClr val="D8E4F2"/>
                </a:solidFill>
                <a:latin typeface="Avenir Next"/>
                <a:ea typeface="Avenir Next"/>
                <a:cs typeface="Avenir Next"/>
              </a:rPr>
              <a:t>Cool, dry and store all equipment safely.</a:t>
            </a:r>
          </a:p>
        </p:txBody>
      </p:sp>
      <p:sp>
        <p:nvSpPr>
          <p:cNvPr id="41" name="">
            <a:extLst xmlns:a="http://schemas.openxmlformats.org/drawingml/2006/main">
              <a:ext uri="{FF2B5EF4-FFF2-40B4-BE49-F238E27FC236}">
                <a16:creationId xmlns:a16="http://schemas.microsoft.com/office/drawing/2014/main" id="{4C31AF0F-3DE2-4744-801C-B563639D978F}"/>
              </a:ext>
            </a:extLst>
          </p:cNvPr>
          <p:cNvSpPr>
            <a:spLocks xmlns:a="http://schemas.openxmlformats.org/drawingml/2006/main" noGrp="1"/>
          </p:cNvSpPr>
          <p:nvPr/>
        </p:nvSpPr>
        <p:spPr>
          <a:xfrm xmlns:a="http://schemas.openxmlformats.org/drawingml/2006/main">
            <a:off x="6210300" y="5876925"/>
            <a:ext cx="53340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Tree>
    <p:extLst>
      <p:ext uri="{BB962C8B-B14F-4D97-AF65-F5344CB8AC3E}">
        <p14:creationId xmlns:p14="http://schemas.microsoft.com/office/powerpoint/2010/main" val="558987720"/>
      </p:ext>
    </p:extLst>
  </p:cSld>
</p:sld>
</file>

<file path=ppt/slides/slide17.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F9ED05-93D2-463A-8FAF-01E310D79166}"/>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71CED2EF-3984-48CB-B1BA-A7CE22A5CB67}"/>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complete observed temperature series</a:t>
            </a:r>
          </a:p>
        </p:txBody>
      </p:sp>
      <p:sp>
        <p:nvSpPr>
          <p:cNvPr id="3" name="">
            <a:extLst xmlns:a="http://schemas.openxmlformats.org/drawingml/2006/main">
              <a:ext uri="{FF2B5EF4-FFF2-40B4-BE49-F238E27FC236}">
                <a16:creationId xmlns:a16="http://schemas.microsoft.com/office/drawing/2014/main" id="{2EA0A270-E469-4DFE-8E78-F3E727413CF3}"/>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BF76F0D-03D9-49E8-93A0-5FB1E13742C8}"/>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02C61381-C3C1-48C6-A6B6-65A8243FAC5A}"/>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17</a:t>
            </a:r>
          </a:p>
        </p:txBody>
      </p:sp>
      <p:graphicFrame>
        <p:nvGraphicFramePr>
          <p:cNvPr id="12" name=""/>
          <p:cNvGraphicFramePr/>
          <p:nvPr/>
        </p:nvGraphicFramePr>
        <p:xfrm>
          <a:off xmlns:a="http://schemas.openxmlformats.org/drawingml/2006/main" x="857250" y="1333500"/>
          <a:ext xmlns:a="http://schemas.openxmlformats.org/drawingml/2006/main" cx="10477500" cy="4876800"/>
        </p:xfrm>
        <a:graphic xmlns:a="http://schemas.openxmlformats.org/drawingml/2006/main">
          <a:graphicData uri="http://schemas.openxmlformats.org/drawingml/2006/table">
            <a:tbl>
              <a:tblPr/>
              <a:tblGrid>
                <a:gridCol w="1714500"/>
                <a:gridCol w="2190750"/>
                <a:gridCol w="2190750"/>
                <a:gridCol w="2190750"/>
                <a:gridCol w="2190750"/>
              </a:tblGrid>
              <a:tr h="286871">
                <a:tc>
                  <a:txBody>
                    <a:bodyPr/>
                    <a:lstStyle/>
                    <a:p>
                      <a:r>
                        <a:rPr sz="1050" b="1">
                          <a:solidFill>
                            <a:srgbClr val="F5F8FC"/>
                          </a:solidFill>
                          <a:latin typeface="Avenir Next"/>
                          <a:ea typeface="Avenir Next"/>
                          <a:cs typeface="Avenir Next"/>
                        </a:rPr>
                        <a:t>Time (min)</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Full MLI (°C)</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Bubble (°C)</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Mylar (°C)</a:t>
                      </a:r>
                    </a:p>
                  </a:txBody>
                  <a:tcPr marL="76200" marR="76200" marT="47625" marB="47625" anchor="ctr">
                    <a:solidFill>
                      <a:srgbClr val="153353"/>
                    </a:solidFill>
                  </a:tcPr>
                </a:tc>
                <a:tc>
                  <a:txBody>
                    <a:bodyPr/>
                    <a:lstStyle/>
                    <a:p>
                      <a:r>
                        <a:rPr sz="1050" b="1">
                          <a:solidFill>
                            <a:srgbClr val="F5F8FC"/>
                          </a:solidFill>
                          <a:latin typeface="Avenir Next"/>
                          <a:ea typeface="Avenir Next"/>
                          <a:cs typeface="Avenir Next"/>
                        </a:rPr>
                        <a:t>Bare (°C)</a:t>
                      </a:r>
                    </a:p>
                  </a:txBody>
                  <a:tcPr marL="76200" marR="76200" marT="47625" marB="47625" anchor="ctr">
                    <a:solidFill>
                      <a:srgbClr val="153353"/>
                    </a:solidFill>
                  </a:tcPr>
                </a:tc>
              </a:tr>
              <a:tr h="286871">
                <a:tc>
                  <a:txBody>
                    <a:bodyPr/>
                    <a:lstStyle/>
                    <a:p>
                      <a:r>
                        <a:rPr sz="975">
                          <a:solidFill>
                            <a:srgbClr val="D8E4F2"/>
                          </a:solidFill>
                          <a:latin typeface="Avenir Next"/>
                          <a:ea typeface="Avenir Next"/>
                          <a:cs typeface="Avenir Next"/>
                        </a:rPr>
                        <a:t>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77.6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82.6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80.5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80.1</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76.6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79.0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68.6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73.9</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2</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76.1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75.2</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61.8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66.0</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75.6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72.5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55.8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59.9</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4</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75.1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70.0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51.3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54.5</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74.5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67.9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47.8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50.1</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73.9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65.6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44.9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47.1</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73.5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64.0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42.5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44.6</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72.1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62.3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40.6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42.5</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70.6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60.6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38.9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40.9</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10</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69.7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58.9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38.1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39.5</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11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68.5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57.5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36.3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38.2</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12</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67.4</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56.1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35.5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37.3</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13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65.8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54.8</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34.6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36.5</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14</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64.1</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53.7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33.9</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35.8</a:t>
                      </a:r>
                    </a:p>
                  </a:txBody>
                  <a:tcPr marL="76200" marR="76200" marT="47625" marB="47625" anchor="ctr">
                    <a:solidFill>
                      <a:srgbClr val="0C1B33"/>
                    </a:solidFill>
                  </a:tcPr>
                </a:tc>
              </a:tr>
              <a:tr h="286871">
                <a:tc>
                  <a:txBody>
                    <a:bodyPr/>
                    <a:lstStyle/>
                    <a:p>
                      <a:r>
                        <a:rPr sz="975">
                          <a:solidFill>
                            <a:srgbClr val="D8E4F2"/>
                          </a:solidFill>
                          <a:latin typeface="Avenir Next"/>
                          <a:ea typeface="Avenir Next"/>
                          <a:cs typeface="Avenir Next"/>
                        </a:rPr>
                        <a:t>15</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62.7</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52.6</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33.3</a:t>
                      </a:r>
                    </a:p>
                  </a:txBody>
                  <a:tcPr marL="76200" marR="76200" marT="47625" marB="47625" anchor="ctr">
                    <a:solidFill>
                      <a:srgbClr val="0C1B33"/>
                    </a:solidFill>
                  </a:tcPr>
                </a:tc>
                <a:tc>
                  <a:txBody>
                    <a:bodyPr/>
                    <a:lstStyle/>
                    <a:p>
                      <a:r>
                        <a:rPr sz="975">
                          <a:solidFill>
                            <a:srgbClr val="D8E4F2"/>
                          </a:solidFill>
                          <a:latin typeface="Avenir Next"/>
                          <a:ea typeface="Avenir Next"/>
                          <a:cs typeface="Avenir Next"/>
                        </a:rPr>
                        <a:t>35.2</a:t>
                      </a:r>
                    </a:p>
                  </a:txBody>
                  <a:tcPr marL="76200" marR="76200" marT="47625" marB="47625" anchor="ctr">
                    <a:solidFill>
                      <a:srgbClr val="0C1B33"/>
                    </a:solidFill>
                  </a:tcPr>
                </a:tc>
              </a:tr>
            </a:tbl>
          </a:graphicData>
        </a:graphic>
      </p:graphicFrame>
    </p:spTree>
    <p:extLst>
      <p:ext uri="{BB962C8B-B14F-4D97-AF65-F5344CB8AC3E}">
        <p14:creationId xmlns:p14="http://schemas.microsoft.com/office/powerpoint/2010/main" val="1564304683"/>
      </p:ext>
    </p:extLst>
  </p:cSld>
</p:sld>
</file>

<file path=ppt/slides/slide18.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474F53D-A436-4213-8648-75A6C1472222}"/>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2CCEE141-BAEC-4278-9202-22B174EB5C1B}"/>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model agreement and fitted cooling constant</a:t>
            </a:r>
          </a:p>
        </p:txBody>
      </p:sp>
      <p:sp>
        <p:nvSpPr>
          <p:cNvPr id="3" name="">
            <a:extLst xmlns:a="http://schemas.openxmlformats.org/drawingml/2006/main">
              <a:ext uri="{FF2B5EF4-FFF2-40B4-BE49-F238E27FC236}">
                <a16:creationId xmlns:a16="http://schemas.microsoft.com/office/drawing/2014/main" id="{08A30F90-2ED8-4FE9-8432-5C41C6E0FEEF}"/>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D2AB3CA-C992-41CA-AA22-F4619EE0D996}"/>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54BC562B-2D0E-494A-BEF8-D05870044BF1}"/>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18</a:t>
            </a:r>
          </a:p>
        </p:txBody>
      </p:sp>
      <p:sp>
        <p:nvSpPr>
          <p:cNvPr id="6" name="">
            <a:extLst xmlns:a="http://schemas.openxmlformats.org/drawingml/2006/main">
              <a:ext uri="{FF2B5EF4-FFF2-40B4-BE49-F238E27FC236}">
                <a16:creationId xmlns:a16="http://schemas.microsoft.com/office/drawing/2014/main" id="{30F7FA36-4D8C-4A58-AC53-1157028C35FD}"/>
              </a:ext>
            </a:extLst>
          </p:cNvPr>
          <p:cNvSpPr>
            <a:spLocks xmlns:a="http://schemas.openxmlformats.org/drawingml/2006/main" noGrp="1"/>
          </p:cNvSpPr>
          <p:nvPr/>
        </p:nvSpPr>
        <p:spPr>
          <a:xfrm xmlns:a="http://schemas.openxmlformats.org/drawingml/2006/main">
            <a:off x="495300" y="14287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22B8F0"/>
                </a:solidFill>
                <a:latin typeface="Avenir Next"/>
                <a:ea typeface="Avenir Next"/>
                <a:cs typeface="Avenir Next"/>
              </a:defRPr>
            </a:pPr>
            <a:r>
              <a:rPr sz="1425" b="1">
                <a:solidFill>
                  <a:srgbClr val="22B8F0"/>
                </a:solidFill>
                <a:latin typeface="Avenir Next"/>
                <a:ea typeface="Avenir Next"/>
                <a:cs typeface="Avenir Next"/>
              </a:rPr>
              <a:t>Residual at point i</a:t>
            </a:r>
          </a:p>
        </p:txBody>
      </p:sp>
      <p:sp>
        <p:nvSpPr>
          <p:cNvPr id="7" name="">
            <a:extLst xmlns:a="http://schemas.openxmlformats.org/drawingml/2006/main">
              <a:ext uri="{FF2B5EF4-FFF2-40B4-BE49-F238E27FC236}">
                <a16:creationId xmlns:a16="http://schemas.microsoft.com/office/drawing/2014/main" id="{775AE3E1-599B-4A77-BAF9-9D0DB557E7D2}"/>
              </a:ext>
            </a:extLst>
          </p:cNvPr>
          <p:cNvSpPr>
            <a:spLocks xmlns:a="http://schemas.openxmlformats.org/drawingml/2006/main" noGrp="1"/>
          </p:cNvSpPr>
          <p:nvPr/>
        </p:nvSpPr>
        <p:spPr>
          <a:xfrm xmlns:a="http://schemas.openxmlformats.org/drawingml/2006/main">
            <a:off x="3143250" y="14097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Residualᵢ = Tmeasured,ᵢ − Tmodel,ᵢ</a:t>
            </a:r>
          </a:p>
        </p:txBody>
      </p:sp>
      <p:sp>
        <p:nvSpPr>
          <p:cNvPr id="8" name="">
            <a:extLst xmlns:a="http://schemas.openxmlformats.org/drawingml/2006/main">
              <a:ext uri="{FF2B5EF4-FFF2-40B4-BE49-F238E27FC236}">
                <a16:creationId xmlns:a16="http://schemas.microsoft.com/office/drawing/2014/main" id="{A7404F51-8492-4296-AAEF-2021E5517351}"/>
              </a:ext>
            </a:extLst>
          </p:cNvPr>
          <p:cNvSpPr>
            <a:spLocks xmlns:a="http://schemas.openxmlformats.org/drawingml/2006/main" noGrp="1"/>
          </p:cNvSpPr>
          <p:nvPr/>
        </p:nvSpPr>
        <p:spPr>
          <a:xfrm xmlns:a="http://schemas.openxmlformats.org/drawingml/2006/main">
            <a:off x="8143875" y="14287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Shows the signed difference at one timestamp</a:t>
            </a:r>
          </a:p>
        </p:txBody>
      </p:sp>
      <p:sp>
        <p:nvSpPr>
          <p:cNvPr id="9" name="">
            <a:extLst xmlns:a="http://schemas.openxmlformats.org/drawingml/2006/main">
              <a:ext uri="{FF2B5EF4-FFF2-40B4-BE49-F238E27FC236}">
                <a16:creationId xmlns:a16="http://schemas.microsoft.com/office/drawing/2014/main" id="{39E34B4D-0621-4D0C-A8E1-9D066F6870E3}"/>
              </a:ext>
            </a:extLst>
          </p:cNvPr>
          <p:cNvSpPr>
            <a:spLocks xmlns:a="http://schemas.openxmlformats.org/drawingml/2006/main" noGrp="1"/>
          </p:cNvSpPr>
          <p:nvPr/>
        </p:nvSpPr>
        <p:spPr>
          <a:xfrm xmlns:a="http://schemas.openxmlformats.org/drawingml/2006/main">
            <a:off x="495300" y="21526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47B8046-90CE-4609-B5A4-2ECBC0CB338E}"/>
              </a:ext>
            </a:extLst>
          </p:cNvPr>
          <p:cNvSpPr>
            <a:spLocks xmlns:a="http://schemas.openxmlformats.org/drawingml/2006/main" noGrp="1"/>
          </p:cNvSpPr>
          <p:nvPr/>
        </p:nvSpPr>
        <p:spPr>
          <a:xfrm xmlns:a="http://schemas.openxmlformats.org/drawingml/2006/main">
            <a:off x="495300" y="24955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F59E0B"/>
                </a:solidFill>
                <a:latin typeface="Avenir Next"/>
                <a:ea typeface="Avenir Next"/>
                <a:cs typeface="Avenir Next"/>
              </a:defRPr>
            </a:pPr>
            <a:r>
              <a:rPr sz="1425" b="1">
                <a:solidFill>
                  <a:srgbClr val="F59E0B"/>
                </a:solidFill>
                <a:latin typeface="Avenir Next"/>
                <a:ea typeface="Avenir Next"/>
                <a:cs typeface="Avenir Next"/>
              </a:rPr>
              <a:t>Mean absolute error</a:t>
            </a:r>
          </a:p>
        </p:txBody>
      </p:sp>
      <p:sp>
        <p:nvSpPr>
          <p:cNvPr id="11" name="">
            <a:extLst xmlns:a="http://schemas.openxmlformats.org/drawingml/2006/main">
              <a:ext uri="{FF2B5EF4-FFF2-40B4-BE49-F238E27FC236}">
                <a16:creationId xmlns:a16="http://schemas.microsoft.com/office/drawing/2014/main" id="{A1DD3E09-F6B9-43C4-B4D1-74AB089DA474}"/>
              </a:ext>
            </a:extLst>
          </p:cNvPr>
          <p:cNvSpPr>
            <a:spLocks xmlns:a="http://schemas.openxmlformats.org/drawingml/2006/main" noGrp="1"/>
          </p:cNvSpPr>
          <p:nvPr/>
        </p:nvSpPr>
        <p:spPr>
          <a:xfrm xmlns:a="http://schemas.openxmlformats.org/drawingml/2006/main">
            <a:off x="3143250" y="24765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MAE = (1/n) Σ |Residualᵢ|</a:t>
            </a:r>
          </a:p>
        </p:txBody>
      </p:sp>
      <p:sp>
        <p:nvSpPr>
          <p:cNvPr id="12" name="">
            <a:extLst xmlns:a="http://schemas.openxmlformats.org/drawingml/2006/main">
              <a:ext uri="{FF2B5EF4-FFF2-40B4-BE49-F238E27FC236}">
                <a16:creationId xmlns:a16="http://schemas.microsoft.com/office/drawing/2014/main" id="{A19AA9A5-A6A0-4617-B44C-65FF368D1364}"/>
              </a:ext>
            </a:extLst>
          </p:cNvPr>
          <p:cNvSpPr>
            <a:spLocks xmlns:a="http://schemas.openxmlformats.org/drawingml/2006/main" noGrp="1"/>
          </p:cNvSpPr>
          <p:nvPr/>
        </p:nvSpPr>
        <p:spPr>
          <a:xfrm xmlns:a="http://schemas.openxmlformats.org/drawingml/2006/main">
            <a:off x="8143875" y="24955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Summarizes the typical absolute temperature error</a:t>
            </a:r>
          </a:p>
        </p:txBody>
      </p:sp>
      <p:sp>
        <p:nvSpPr>
          <p:cNvPr id="13" name="">
            <a:extLst xmlns:a="http://schemas.openxmlformats.org/drawingml/2006/main">
              <a:ext uri="{FF2B5EF4-FFF2-40B4-BE49-F238E27FC236}">
                <a16:creationId xmlns:a16="http://schemas.microsoft.com/office/drawing/2014/main" id="{9113C0C6-94BA-4DE6-B71E-F66212ED1FCD}"/>
              </a:ext>
            </a:extLst>
          </p:cNvPr>
          <p:cNvSpPr>
            <a:spLocks xmlns:a="http://schemas.openxmlformats.org/drawingml/2006/main" noGrp="1"/>
          </p:cNvSpPr>
          <p:nvPr/>
        </p:nvSpPr>
        <p:spPr>
          <a:xfrm xmlns:a="http://schemas.openxmlformats.org/drawingml/2006/main">
            <a:off x="495300" y="32194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01C0DC9-3B7A-4043-BFD1-6F371FC55DD0}"/>
              </a:ext>
            </a:extLst>
          </p:cNvPr>
          <p:cNvSpPr>
            <a:spLocks xmlns:a="http://schemas.openxmlformats.org/drawingml/2006/main" noGrp="1"/>
          </p:cNvSpPr>
          <p:nvPr/>
        </p:nvSpPr>
        <p:spPr>
          <a:xfrm xmlns:a="http://schemas.openxmlformats.org/drawingml/2006/main">
            <a:off x="495300" y="35623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21C98A"/>
                </a:solidFill>
                <a:latin typeface="Avenir Next"/>
                <a:ea typeface="Avenir Next"/>
                <a:cs typeface="Avenir Next"/>
              </a:defRPr>
            </a:pPr>
            <a:r>
              <a:rPr sz="1425" b="1">
                <a:solidFill>
                  <a:srgbClr val="21C98A"/>
                </a:solidFill>
                <a:latin typeface="Avenir Next"/>
                <a:ea typeface="Avenir Next"/>
                <a:cs typeface="Avenir Next"/>
              </a:rPr>
              <a:t>Fitted cooling constant</a:t>
            </a:r>
          </a:p>
        </p:txBody>
      </p:sp>
      <p:sp>
        <p:nvSpPr>
          <p:cNvPr id="15" name="">
            <a:extLst xmlns:a="http://schemas.openxmlformats.org/drawingml/2006/main">
              <a:ext uri="{FF2B5EF4-FFF2-40B4-BE49-F238E27FC236}">
                <a16:creationId xmlns:a16="http://schemas.microsoft.com/office/drawing/2014/main" id="{31B34CB5-5ABB-4579-A3FC-E00E3A6A16C5}"/>
              </a:ext>
            </a:extLst>
          </p:cNvPr>
          <p:cNvSpPr>
            <a:spLocks xmlns:a="http://schemas.openxmlformats.org/drawingml/2006/main" noGrp="1"/>
          </p:cNvSpPr>
          <p:nvPr/>
        </p:nvSpPr>
        <p:spPr>
          <a:xfrm xmlns:a="http://schemas.openxmlformats.org/drawingml/2006/main">
            <a:off x="3143250" y="3543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k = −ln[(T(t) − Tenv)/(T₀ − Tenv)] / t</a:t>
            </a:r>
          </a:p>
        </p:txBody>
      </p:sp>
      <p:sp>
        <p:nvSpPr>
          <p:cNvPr id="16" name="">
            <a:extLst xmlns:a="http://schemas.openxmlformats.org/drawingml/2006/main">
              <a:ext uri="{FF2B5EF4-FFF2-40B4-BE49-F238E27FC236}">
                <a16:creationId xmlns:a16="http://schemas.microsoft.com/office/drawing/2014/main" id="{52755EF5-B5F4-46B1-A766-7DD83107C11D}"/>
              </a:ext>
            </a:extLst>
          </p:cNvPr>
          <p:cNvSpPr>
            <a:spLocks xmlns:a="http://schemas.openxmlformats.org/drawingml/2006/main" noGrp="1"/>
          </p:cNvSpPr>
          <p:nvPr/>
        </p:nvSpPr>
        <p:spPr>
          <a:xfrm xmlns:a="http://schemas.openxmlformats.org/drawingml/2006/main">
            <a:off x="8143875" y="35623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Valid only when the ratio is positive and the boundary is stable</a:t>
            </a:r>
          </a:p>
        </p:txBody>
      </p:sp>
      <p:sp>
        <p:nvSpPr>
          <p:cNvPr id="17" name="">
            <a:extLst xmlns:a="http://schemas.openxmlformats.org/drawingml/2006/main">
              <a:ext uri="{FF2B5EF4-FFF2-40B4-BE49-F238E27FC236}">
                <a16:creationId xmlns:a16="http://schemas.microsoft.com/office/drawing/2014/main" id="{5C5BC8A7-8AFE-4546-A21B-10A1BA3F880E}"/>
              </a:ext>
            </a:extLst>
          </p:cNvPr>
          <p:cNvSpPr>
            <a:spLocks xmlns:a="http://schemas.openxmlformats.org/drawingml/2006/main" noGrp="1"/>
          </p:cNvSpPr>
          <p:nvPr/>
        </p:nvSpPr>
        <p:spPr>
          <a:xfrm xmlns:a="http://schemas.openxmlformats.org/drawingml/2006/main">
            <a:off x="495300" y="42862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97E3466-5AA0-4BC9-A1F3-686C23AB553C}"/>
              </a:ext>
            </a:extLst>
          </p:cNvPr>
          <p:cNvSpPr>
            <a:spLocks xmlns:a="http://schemas.openxmlformats.org/drawingml/2006/main" noGrp="1"/>
          </p:cNvSpPr>
          <p:nvPr/>
        </p:nvSpPr>
        <p:spPr>
          <a:xfrm xmlns:a="http://schemas.openxmlformats.org/drawingml/2006/main">
            <a:off x="495300" y="46291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79D8F7"/>
                </a:solidFill>
                <a:latin typeface="Avenir Next"/>
                <a:ea typeface="Avenir Next"/>
                <a:cs typeface="Avenir Next"/>
              </a:defRPr>
            </a:pPr>
            <a:r>
              <a:rPr sz="1425" b="1">
                <a:solidFill>
                  <a:srgbClr val="79D8F7"/>
                </a:solidFill>
                <a:latin typeface="Avenir Next"/>
                <a:ea typeface="Avenir Next"/>
                <a:cs typeface="Avenir Next"/>
              </a:rPr>
              <a:t>Normalized heat retained</a:t>
            </a:r>
          </a:p>
        </p:txBody>
      </p:sp>
      <p:sp>
        <p:nvSpPr>
          <p:cNvPr id="19" name="">
            <a:extLst xmlns:a="http://schemas.openxmlformats.org/drawingml/2006/main">
              <a:ext uri="{FF2B5EF4-FFF2-40B4-BE49-F238E27FC236}">
                <a16:creationId xmlns:a16="http://schemas.microsoft.com/office/drawing/2014/main" id="{90CC804F-B4FC-40EB-98D5-BCB37CE1C545}"/>
              </a:ext>
            </a:extLst>
          </p:cNvPr>
          <p:cNvSpPr>
            <a:spLocks xmlns:a="http://schemas.openxmlformats.org/drawingml/2006/main" noGrp="1"/>
          </p:cNvSpPr>
          <p:nvPr/>
        </p:nvSpPr>
        <p:spPr>
          <a:xfrm xmlns:a="http://schemas.openxmlformats.org/drawingml/2006/main">
            <a:off x="3143250" y="46101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F5F8FC"/>
                </a:solidFill>
                <a:latin typeface="Avenir Next"/>
                <a:ea typeface="Avenir Next"/>
                <a:cs typeface="Avenir Next"/>
              </a:defRPr>
            </a:pPr>
            <a:r>
              <a:rPr sz="1800" b="1">
                <a:solidFill>
                  <a:srgbClr val="F5F8FC"/>
                </a:solidFill>
                <a:latin typeface="Avenir Next"/>
                <a:ea typeface="Avenir Next"/>
                <a:cs typeface="Avenir Next"/>
              </a:rPr>
              <a:t>(T₁₅ − Tref)/(T₀ − Tref) × 100%</a:t>
            </a:r>
          </a:p>
        </p:txBody>
      </p:sp>
      <p:sp>
        <p:nvSpPr>
          <p:cNvPr id="20" name="">
            <a:extLst xmlns:a="http://schemas.openxmlformats.org/drawingml/2006/main">
              <a:ext uri="{FF2B5EF4-FFF2-40B4-BE49-F238E27FC236}">
                <a16:creationId xmlns:a16="http://schemas.microsoft.com/office/drawing/2014/main" id="{BC41876A-3E33-44DF-AF56-BDCF15122940}"/>
              </a:ext>
            </a:extLst>
          </p:cNvPr>
          <p:cNvSpPr>
            <a:spLocks xmlns:a="http://schemas.openxmlformats.org/drawingml/2006/main" noGrp="1"/>
          </p:cNvSpPr>
          <p:nvPr/>
        </p:nvSpPr>
        <p:spPr>
          <a:xfrm xmlns:a="http://schemas.openxmlformats.org/drawingml/2006/main">
            <a:off x="8143875" y="46291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90A5BC"/>
                </a:solidFill>
                <a:latin typeface="Avenir Next"/>
                <a:ea typeface="Avenir Next"/>
                <a:cs typeface="Avenir Next"/>
              </a:defRPr>
            </a:pPr>
            <a:r>
              <a:rPr sz="1275" b="0">
                <a:solidFill>
                  <a:srgbClr val="90A5BC"/>
                </a:solidFill>
                <a:latin typeface="Avenir Next"/>
                <a:ea typeface="Avenir Next"/>
                <a:cs typeface="Avenir Next"/>
              </a:rPr>
              <a:t>Supports comparison when starting temperatures differ</a:t>
            </a:r>
          </a:p>
        </p:txBody>
      </p:sp>
      <p:sp>
        <p:nvSpPr>
          <p:cNvPr id="21" name="">
            <a:extLst xmlns:a="http://schemas.openxmlformats.org/drawingml/2006/main">
              <a:ext uri="{FF2B5EF4-FFF2-40B4-BE49-F238E27FC236}">
                <a16:creationId xmlns:a16="http://schemas.microsoft.com/office/drawing/2014/main" id="{3A96A1B2-8636-4AC3-8AEA-5065A1E66B48}"/>
              </a:ext>
            </a:extLst>
          </p:cNvPr>
          <p:cNvSpPr>
            <a:spLocks xmlns:a="http://schemas.openxmlformats.org/drawingml/2006/main" noGrp="1"/>
          </p:cNvSpPr>
          <p:nvPr/>
        </p:nvSpPr>
        <p:spPr>
          <a:xfrm xmlns:a="http://schemas.openxmlformats.org/drawingml/2006/main">
            <a:off x="495300" y="5353050"/>
            <a:ext cx="1102995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AAD171E-B2FE-4491-9D92-7B2504ED72C3}"/>
              </a:ext>
            </a:extLst>
          </p:cNvPr>
          <p:cNvSpPr>
            <a:spLocks xmlns:a="http://schemas.openxmlformats.org/drawingml/2006/main" noGrp="1"/>
          </p:cNvSpPr>
          <p:nvPr/>
        </p:nvSpPr>
        <p:spPr>
          <a:xfrm xmlns:a="http://schemas.openxmlformats.org/drawingml/2006/main">
            <a:off x="495300" y="5857875"/>
            <a:ext cx="11029950" cy="457200"/>
          </a:xfrm>
          <a:prstGeom xmlns:a="http://schemas.openxmlformats.org/drawingml/2006/main" prst="roundRect">
            <a:avLst>
              <a:gd name="adj" fmla="val 16667"/>
            </a:avLst>
          </a:prstGeom>
          <a:solidFill xmlns:a="http://schemas.openxmlformats.org/drawingml/2006/main">
            <a:srgbClr val="11274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196E6E0-13B4-4655-8CFD-84F2053715CD}"/>
              </a:ext>
            </a:extLst>
          </p:cNvPr>
          <p:cNvSpPr>
            <a:spLocks xmlns:a="http://schemas.openxmlformats.org/drawingml/2006/main" noGrp="1"/>
          </p:cNvSpPr>
          <p:nvPr/>
        </p:nvSpPr>
        <p:spPr>
          <a:xfrm xmlns:a="http://schemas.openxmlformats.org/drawingml/2006/main">
            <a:off x="685800" y="5962650"/>
            <a:ext cx="10620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417"/>
          </a:bodyPr>
          <a:lstStyle xmlns:a="http://schemas.openxmlformats.org/drawingml/2006/main"/>
          <a:p xmlns:a="http://schemas.openxmlformats.org/drawingml/2006/main">
            <a:pPr>
              <a:defRPr sz="1200" b="0">
                <a:solidFill>
                  <a:srgbClr val="79D8F7"/>
                </a:solidFill>
                <a:latin typeface="Avenir Next"/>
                <a:ea typeface="Avenir Next"/>
                <a:cs typeface="Avenir Next"/>
              </a:defRPr>
            </a:pPr>
            <a:r>
              <a:rPr sz="1200" b="0">
                <a:solidFill>
                  <a:srgbClr val="79D8F7"/>
                </a:solidFill>
                <a:latin typeface="Avenir Next"/>
                <a:ea typeface="Avenir Next"/>
                <a:cs typeface="Avenir Next"/>
              </a:rPr>
              <a:t>The Mission Control full-MLI screenshot uses the supplied 16-point series and reports MAE = 0.98 °C against the 80/0 °C reference curve.</a:t>
            </a:r>
          </a:p>
        </p:txBody>
      </p:sp>
    </p:spTree>
    <p:extLst>
      <p:ext uri="{BB962C8B-B14F-4D97-AF65-F5344CB8AC3E}">
        <p14:creationId xmlns:p14="http://schemas.microsoft.com/office/powerpoint/2010/main" val="1974924306"/>
      </p:ext>
    </p:extLst>
  </p:cSld>
</p:sld>
</file>

<file path=ppt/slides/slide19.xml><?xml version="1.0" encoding="utf-8"?>
<p:sld xmlns:p="http://schemas.openxmlformats.org/presentationml/2006/main">
  <p:cSld>
    <p:bg>
      <p:bgPr>
        <a:solidFill xmlns:a="http://schemas.openxmlformats.org/drawingml/2006/main">
          <a:srgbClr val="07122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948A6AB-7A00-48AA-A6AB-AD373399C2BF}"/>
              </a:ext>
            </a:extLst>
          </p:cNvPr>
          <p:cNvSpPr>
            <a:spLocks xmlns:a="http://schemas.openxmlformats.org/drawingml/2006/main" noGrp="1"/>
          </p:cNvSpPr>
          <p:nvPr/>
        </p:nvSpPr>
        <p:spPr>
          <a:xfrm xmlns:a="http://schemas.openxmlformats.org/drawingml/2006/main">
            <a:off x="495300" y="238125"/>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22B8F0"/>
                </a:solidFill>
                <a:latin typeface="Avenir Next"/>
                <a:ea typeface="Avenir Next"/>
                <a:cs typeface="Avenir Next"/>
              </a:defRPr>
            </a:pPr>
            <a:r>
              <a:rPr sz="975" b="1">
                <a:solidFill>
                  <a:srgbClr val="22B8F0"/>
                </a:solidFill>
                <a:latin typeface="Avenir Next"/>
                <a:ea typeface="Avenir Next"/>
                <a:cs typeface="Avenir Next"/>
              </a:rPr>
              <a:t>APPENDIX</a:t>
            </a:r>
          </a:p>
        </p:txBody>
      </p:sp>
      <p:sp>
        <p:nvSpPr>
          <p:cNvPr id="2" name="">
            <a:extLst xmlns:a="http://schemas.openxmlformats.org/drawingml/2006/main">
              <a:ext uri="{FF2B5EF4-FFF2-40B4-BE49-F238E27FC236}">
                <a16:creationId xmlns:a16="http://schemas.microsoft.com/office/drawing/2014/main" id="{C25CBD77-8068-4B4B-9AA3-F64D2D41BA18}"/>
              </a:ext>
            </a:extLst>
          </p:cNvPr>
          <p:cNvSpPr>
            <a:spLocks xmlns:a="http://schemas.openxmlformats.org/drawingml/2006/main" noGrp="1"/>
          </p:cNvSpPr>
          <p:nvPr/>
        </p:nvSpPr>
        <p:spPr>
          <a:xfrm xmlns:a="http://schemas.openxmlformats.org/drawingml/2006/main">
            <a:off x="4953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5F8FC"/>
                </a:solidFill>
                <a:latin typeface="Avenir Next"/>
                <a:ea typeface="Avenir Next"/>
                <a:cs typeface="Avenir Next"/>
              </a:defRPr>
            </a:pPr>
            <a:r>
              <a:rPr sz="2850" b="1">
                <a:solidFill>
                  <a:srgbClr val="F5F8FC"/>
                </a:solidFill>
                <a:latin typeface="Avenir Next"/>
                <a:ea typeface="Avenir Next"/>
                <a:cs typeface="Avenir Next"/>
              </a:rPr>
              <a:t>Appendix: unified assessment and classroom guidance</a:t>
            </a:r>
          </a:p>
        </p:txBody>
      </p:sp>
      <p:sp>
        <p:nvSpPr>
          <p:cNvPr id="3" name="">
            <a:extLst xmlns:a="http://schemas.openxmlformats.org/drawingml/2006/main">
              <a:ext uri="{FF2B5EF4-FFF2-40B4-BE49-F238E27FC236}">
                <a16:creationId xmlns:a16="http://schemas.microsoft.com/office/drawing/2014/main" id="{02AF2FDF-A34B-4D3C-AA48-A8AADFBCB77B}"/>
              </a:ext>
            </a:extLst>
          </p:cNvPr>
          <p:cNvSpPr>
            <a:spLocks xmlns:a="http://schemas.openxmlformats.org/drawingml/2006/main" noGrp="1"/>
          </p:cNvSpPr>
          <p:nvPr/>
        </p:nvSpPr>
        <p:spPr>
          <a:xfrm xmlns:a="http://schemas.openxmlformats.org/drawingml/2006/main">
            <a:off x="495300" y="1066800"/>
            <a:ext cx="11201400" cy="9525"/>
          </a:xfrm>
          <a:prstGeom xmlns:a="http://schemas.openxmlformats.org/drawingml/2006/main" prst="rect">
            <a:avLst/>
          </a:prstGeom>
          <a:solidFill xmlns:a="http://schemas.openxmlformats.org/drawingml/2006/main">
            <a:srgbClr val="2945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34D47F5-1C48-48DA-A510-98103EC5D947}"/>
              </a:ext>
            </a:extLst>
          </p:cNvPr>
          <p:cNvSpPr>
            <a:spLocks xmlns:a="http://schemas.openxmlformats.org/drawingml/2006/main" noGrp="1"/>
          </p:cNvSpPr>
          <p:nvPr/>
        </p:nvSpPr>
        <p:spPr>
          <a:xfrm xmlns:a="http://schemas.openxmlformats.org/drawingml/2006/main">
            <a:off x="495300" y="6572250"/>
            <a:ext cx="4572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8485"/>
          </a:bodyPr>
          <a:lstStyle xmlns:a="http://schemas.openxmlformats.org/drawingml/2006/main"/>
          <a:p xmlns:a="http://schemas.openxmlformats.org/drawingml/2006/main">
            <a:pPr>
              <a:defRPr sz="825" b="0">
                <a:solidFill>
                  <a:srgbClr val="90A5BC"/>
                </a:solidFill>
                <a:latin typeface="Avenir Next"/>
                <a:ea typeface="Avenir Next"/>
                <a:cs typeface="Avenir Next"/>
              </a:defRPr>
            </a:pPr>
            <a:r>
              <a:rPr sz="825" b="0">
                <a:solidFill>
                  <a:srgbClr val="90A5BC"/>
                </a:solidFill>
                <a:latin typeface="Avenir Next"/>
                <a:ea typeface="Avenir Next"/>
                <a:cs typeface="Avenir Next"/>
              </a:rPr>
              <a:t>SPHERE THERMAL INSULATION LABORATORY</a:t>
            </a:r>
          </a:p>
        </p:txBody>
      </p:sp>
      <p:sp>
        <p:nvSpPr>
          <p:cNvPr id="5" name="">
            <a:extLst xmlns:a="http://schemas.openxmlformats.org/drawingml/2006/main">
              <a:ext uri="{FF2B5EF4-FFF2-40B4-BE49-F238E27FC236}">
                <a16:creationId xmlns:a16="http://schemas.microsoft.com/office/drawing/2014/main" id="{390B030C-3439-45F0-839D-C322AD569935}"/>
              </a:ext>
            </a:extLst>
          </p:cNvPr>
          <p:cNvSpPr>
            <a:spLocks xmlns:a="http://schemas.openxmlformats.org/drawingml/2006/main" noGrp="1"/>
          </p:cNvSpPr>
          <p:nvPr/>
        </p:nvSpPr>
        <p:spPr>
          <a:xfrm xmlns:a="http://schemas.openxmlformats.org/drawingml/2006/main">
            <a:off x="11239500" y="65532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8333"/>
          </a:bodyPr>
          <a:lstStyle xmlns:a="http://schemas.openxmlformats.org/drawingml/2006/main"/>
          <a:p xmlns:a="http://schemas.openxmlformats.org/drawingml/2006/main">
            <a:pPr>
              <a:defRPr sz="900" b="1">
                <a:solidFill>
                  <a:srgbClr val="22B8F0"/>
                </a:solidFill>
                <a:latin typeface="Avenir Next"/>
                <a:ea typeface="Avenir Next"/>
                <a:cs typeface="Avenir Next"/>
              </a:defRPr>
            </a:pPr>
            <a:r>
              <a:rPr sz="900" b="1">
                <a:solidFill>
                  <a:srgbClr val="22B8F0"/>
                </a:solidFill>
                <a:latin typeface="Avenir Next"/>
                <a:ea typeface="Avenir Next"/>
                <a:cs typeface="Avenir Next"/>
              </a:rPr>
              <a:t>19</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29a5503ba35493f"/>
          <a:srcRect xmlns:a="http://schemas.openxmlformats.org/drawingml/2006/main" l="0" t="303" r="0" b="303"/>
          <a:stretch xmlns:a="http://schemas.openxmlformats.org/drawingml/2006/main">
            <a:fillRect l="0" t="0" r="0" b="0"/>
          </a:stretch>
        </p:blipFill>
        <p:spPr>
          <a:xfrm xmlns:a="http://schemas.openxmlformats.org/drawingml/2006/main">
            <a:off x="495300" y="1381125"/>
            <a:ext cx="6286500" cy="3905250"/>
          </a:xfrm>
          <a:prstGeom xmlns:a="http://schemas.openxmlformats.org/drawingml/2006/main" prst="roundRect">
            <a:avLst>
              <a:gd name="adj" fmla="val 2927"/>
            </a:avLst>
          </a:prstGeom>
        </p:spPr>
      </p:pic>
      <p:sp>
        <p:nvSpPr>
          <p:cNvPr id="7" name="">
            <a:extLst xmlns:a="http://schemas.openxmlformats.org/drawingml/2006/main">
              <a:ext uri="{FF2B5EF4-FFF2-40B4-BE49-F238E27FC236}">
                <a16:creationId xmlns:a16="http://schemas.microsoft.com/office/drawing/2014/main" id="{EE88724E-1948-44A5-8F14-C2C465EF7D09}"/>
              </a:ext>
            </a:extLst>
          </p:cNvPr>
          <p:cNvSpPr>
            <a:spLocks xmlns:a="http://schemas.openxmlformats.org/drawingml/2006/main" noGrp="1"/>
          </p:cNvSpPr>
          <p:nvPr/>
        </p:nvSpPr>
        <p:spPr>
          <a:xfrm xmlns:a="http://schemas.openxmlformats.org/drawingml/2006/main">
            <a:off x="7239000" y="1428750"/>
            <a:ext cx="333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1">
                <a:solidFill>
                  <a:srgbClr val="F59E0B"/>
                </a:solidFill>
                <a:latin typeface="Avenir Next"/>
                <a:ea typeface="Avenir Next"/>
                <a:cs typeface="Avenir Next"/>
              </a:defRPr>
            </a:pPr>
            <a:r>
              <a:rPr sz="1050" b="1">
                <a:solidFill>
                  <a:srgbClr val="F59E0B"/>
                </a:solidFill>
                <a:latin typeface="Avenir Next"/>
                <a:ea typeface="Avenir Next"/>
                <a:cs typeface="Avenir Next"/>
              </a:rPr>
              <a:t>TEN ALIGNED QUESTIONS</a:t>
            </a:r>
          </a:p>
        </p:txBody>
      </p:sp>
      <p:sp>
        <p:nvSpPr>
          <p:cNvPr id="8" name="">
            <a:extLst xmlns:a="http://schemas.openxmlformats.org/drawingml/2006/main">
              <a:ext uri="{FF2B5EF4-FFF2-40B4-BE49-F238E27FC236}">
                <a16:creationId xmlns:a16="http://schemas.microsoft.com/office/drawing/2014/main" id="{1E923290-FA52-4D30-83C9-94CF9100F162}"/>
              </a:ext>
            </a:extLst>
          </p:cNvPr>
          <p:cNvSpPr>
            <a:spLocks xmlns:a="http://schemas.openxmlformats.org/drawingml/2006/main" noGrp="1"/>
          </p:cNvSpPr>
          <p:nvPr/>
        </p:nvSpPr>
        <p:spPr>
          <a:xfrm xmlns:a="http://schemas.openxmlformats.org/drawingml/2006/main">
            <a:off x="7239000" y="18859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BA426BB-F91F-437D-A088-095D74A908DB}"/>
              </a:ext>
            </a:extLst>
          </p:cNvPr>
          <p:cNvSpPr>
            <a:spLocks xmlns:a="http://schemas.openxmlformats.org/drawingml/2006/main" noGrp="1"/>
          </p:cNvSpPr>
          <p:nvPr/>
        </p:nvSpPr>
        <p:spPr>
          <a:xfrm xmlns:a="http://schemas.openxmlformats.org/drawingml/2006/main">
            <a:off x="7467600" y="180975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Student Task Sheet: Inquiries 1–10</a:t>
            </a:r>
          </a:p>
        </p:txBody>
      </p:sp>
      <p:sp>
        <p:nvSpPr>
          <p:cNvPr id="10" name="">
            <a:extLst xmlns:a="http://schemas.openxmlformats.org/drawingml/2006/main">
              <a:ext uri="{FF2B5EF4-FFF2-40B4-BE49-F238E27FC236}">
                <a16:creationId xmlns:a16="http://schemas.microsoft.com/office/drawing/2014/main" id="{9F18F610-2094-4E3B-82CD-8D8CFF0B673B}"/>
              </a:ext>
            </a:extLst>
          </p:cNvPr>
          <p:cNvSpPr>
            <a:spLocks xmlns:a="http://schemas.openxmlformats.org/drawingml/2006/main" noGrp="1"/>
          </p:cNvSpPr>
          <p:nvPr/>
        </p:nvSpPr>
        <p:spPr>
          <a:xfrm xmlns:a="http://schemas.openxmlformats.org/drawingml/2006/main">
            <a:off x="7239000" y="244792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49C514E-3946-4D2A-ABCC-30D75D89EF47}"/>
              </a:ext>
            </a:extLst>
          </p:cNvPr>
          <p:cNvSpPr>
            <a:spLocks xmlns:a="http://schemas.openxmlformats.org/drawingml/2006/main" noGrp="1"/>
          </p:cNvSpPr>
          <p:nvPr/>
        </p:nvSpPr>
        <p:spPr>
          <a:xfrm xmlns:a="http://schemas.openxmlformats.org/drawingml/2006/main">
            <a:off x="7467600" y="2371725"/>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Mission Control: Questions 1–10</a:t>
            </a:r>
          </a:p>
        </p:txBody>
      </p:sp>
      <p:sp>
        <p:nvSpPr>
          <p:cNvPr id="12" name="">
            <a:extLst xmlns:a="http://schemas.openxmlformats.org/drawingml/2006/main">
              <a:ext uri="{FF2B5EF4-FFF2-40B4-BE49-F238E27FC236}">
                <a16:creationId xmlns:a16="http://schemas.microsoft.com/office/drawing/2014/main" id="{82119692-0A65-4EFB-B43E-793BA117E362}"/>
              </a:ext>
            </a:extLst>
          </p:cNvPr>
          <p:cNvSpPr>
            <a:spLocks xmlns:a="http://schemas.openxmlformats.org/drawingml/2006/main" noGrp="1"/>
          </p:cNvSpPr>
          <p:nvPr/>
        </p:nvSpPr>
        <p:spPr>
          <a:xfrm xmlns:a="http://schemas.openxmlformats.org/drawingml/2006/main">
            <a:off x="7239000" y="300990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6C3C0DB-8455-44BD-B27C-62595F5DC1ED}"/>
              </a:ext>
            </a:extLst>
          </p:cNvPr>
          <p:cNvSpPr>
            <a:spLocks xmlns:a="http://schemas.openxmlformats.org/drawingml/2006/main" noGrp="1"/>
          </p:cNvSpPr>
          <p:nvPr/>
        </p:nvSpPr>
        <p:spPr>
          <a:xfrm xmlns:a="http://schemas.openxmlformats.org/drawingml/2006/main">
            <a:off x="7467600" y="293370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Teacher Manual: complete solution key</a:t>
            </a:r>
          </a:p>
        </p:txBody>
      </p:sp>
      <p:sp>
        <p:nvSpPr>
          <p:cNvPr id="14" name="">
            <a:extLst xmlns:a="http://schemas.openxmlformats.org/drawingml/2006/main">
              <a:ext uri="{FF2B5EF4-FFF2-40B4-BE49-F238E27FC236}">
                <a16:creationId xmlns:a16="http://schemas.microsoft.com/office/drawing/2014/main" id="{44E10B88-DEFA-4777-B544-BFB66FE143C5}"/>
              </a:ext>
            </a:extLst>
          </p:cNvPr>
          <p:cNvSpPr>
            <a:spLocks xmlns:a="http://schemas.openxmlformats.org/drawingml/2006/main" noGrp="1"/>
          </p:cNvSpPr>
          <p:nvPr/>
        </p:nvSpPr>
        <p:spPr>
          <a:xfrm xmlns:a="http://schemas.openxmlformats.org/drawingml/2006/main">
            <a:off x="7239000" y="3571875"/>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908F604-C6DB-4063-9AC1-61544EA60548}"/>
              </a:ext>
            </a:extLst>
          </p:cNvPr>
          <p:cNvSpPr>
            <a:spLocks xmlns:a="http://schemas.openxmlformats.org/drawingml/2006/main" noGrp="1"/>
          </p:cNvSpPr>
          <p:nvPr/>
        </p:nvSpPr>
        <p:spPr>
          <a:xfrm xmlns:a="http://schemas.openxmlformats.org/drawingml/2006/main">
            <a:off x="7467600" y="3495675"/>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32"/>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Nine multiple-choice items auto-score online</a:t>
            </a:r>
          </a:p>
        </p:txBody>
      </p:sp>
      <p:sp>
        <p:nvSpPr>
          <p:cNvPr id="16" name="">
            <a:extLst xmlns:a="http://schemas.openxmlformats.org/drawingml/2006/main">
              <a:ext uri="{FF2B5EF4-FFF2-40B4-BE49-F238E27FC236}">
                <a16:creationId xmlns:a16="http://schemas.microsoft.com/office/drawing/2014/main" id="{89498346-6C49-4AE3-8289-36F84AD89DCA}"/>
              </a:ext>
            </a:extLst>
          </p:cNvPr>
          <p:cNvSpPr>
            <a:spLocks xmlns:a="http://schemas.openxmlformats.org/drawingml/2006/main" noGrp="1"/>
          </p:cNvSpPr>
          <p:nvPr/>
        </p:nvSpPr>
        <p:spPr>
          <a:xfrm xmlns:a="http://schemas.openxmlformats.org/drawingml/2006/main">
            <a:off x="7239000" y="4133850"/>
            <a:ext cx="76200" cy="76200"/>
          </a:xfrm>
          <a:prstGeom xmlns:a="http://schemas.openxmlformats.org/drawingml/2006/main" prst="roundRect">
            <a:avLst>
              <a:gd name="adj" fmla="val 50000"/>
            </a:avLst>
          </a:prstGeom>
          <a:solidFill xmlns:a="http://schemas.openxmlformats.org/drawingml/2006/main">
            <a:srgbClr val="22B8F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35EEDF4-8617-4364-8E9B-A8D2B744C5BC}"/>
              </a:ext>
            </a:extLst>
          </p:cNvPr>
          <p:cNvSpPr>
            <a:spLocks xmlns:a="http://schemas.openxmlformats.org/drawingml/2006/main" noGrp="1"/>
          </p:cNvSpPr>
          <p:nvPr/>
        </p:nvSpPr>
        <p:spPr>
          <a:xfrm xmlns:a="http://schemas.openxmlformats.org/drawingml/2006/main">
            <a:off x="7467600" y="4057650"/>
            <a:ext cx="3867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D8E4F2"/>
                </a:solidFill>
                <a:latin typeface="Avenir Next"/>
                <a:ea typeface="Avenir Next"/>
                <a:cs typeface="Avenir Next"/>
              </a:defRPr>
            </a:pPr>
            <a:r>
              <a:rPr sz="1500" b="0">
                <a:solidFill>
                  <a:srgbClr val="D8E4F2"/>
                </a:solidFill>
                <a:latin typeface="Avenir Next"/>
                <a:ea typeface="Avenir Next"/>
                <a:cs typeface="Avenir Next"/>
              </a:rPr>
              <a:t>Question 4 requires instructor review</a:t>
            </a:r>
          </a:p>
        </p:txBody>
      </p:sp>
      <p:sp>
        <p:nvSpPr>
          <p:cNvPr id="18" name="">
            <a:extLst xmlns:a="http://schemas.openxmlformats.org/drawingml/2006/main">
              <a:ext uri="{FF2B5EF4-FFF2-40B4-BE49-F238E27FC236}">
                <a16:creationId xmlns:a16="http://schemas.microsoft.com/office/drawing/2014/main" id="{F2B1526C-C419-4F11-941E-05517F42CE6E}"/>
              </a:ext>
            </a:extLst>
          </p:cNvPr>
          <p:cNvSpPr>
            <a:spLocks xmlns:a="http://schemas.openxmlformats.org/drawingml/2006/main" noGrp="1"/>
          </p:cNvSpPr>
          <p:nvPr/>
        </p:nvSpPr>
        <p:spPr>
          <a:xfrm xmlns:a="http://schemas.openxmlformats.org/drawingml/2006/main">
            <a:off x="7239000" y="4857750"/>
            <a:ext cx="4095750" cy="876300"/>
          </a:xfrm>
          <a:prstGeom xmlns:a="http://schemas.openxmlformats.org/drawingml/2006/main" prst="roundRect">
            <a:avLst>
              <a:gd name="adj" fmla="val 8696"/>
            </a:avLst>
          </a:prstGeom>
          <a:solidFill xmlns:a="http://schemas.openxmlformats.org/drawingml/2006/main">
            <a:srgbClr val="11274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02351C6-C509-4C94-A290-43C29C4B3EFB}"/>
              </a:ext>
            </a:extLst>
          </p:cNvPr>
          <p:cNvSpPr>
            <a:spLocks xmlns:a="http://schemas.openxmlformats.org/drawingml/2006/main" noGrp="1"/>
          </p:cNvSpPr>
          <p:nvPr/>
        </p:nvSpPr>
        <p:spPr>
          <a:xfrm xmlns:a="http://schemas.openxmlformats.org/drawingml/2006/main">
            <a:off x="7467600" y="5029200"/>
            <a:ext cx="365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691"/>
          </a:bodyPr>
          <a:lstStyle xmlns:a="http://schemas.openxmlformats.org/drawingml/2006/main"/>
          <a:p xmlns:a="http://schemas.openxmlformats.org/drawingml/2006/main">
            <a:pPr>
              <a:defRPr sz="1350" b="1">
                <a:solidFill>
                  <a:srgbClr val="79D8F7"/>
                </a:solidFill>
                <a:latin typeface="Avenir Next"/>
                <a:ea typeface="Avenir Next"/>
                <a:cs typeface="Avenir Next"/>
              </a:defRPr>
            </a:pPr>
            <a:r>
              <a:rPr sz="1350" b="1">
                <a:solidFill>
                  <a:srgbClr val="79D8F7"/>
                </a:solidFill>
                <a:latin typeface="Avenir Next"/>
                <a:ea typeface="Avenir Next"/>
                <a:cs typeface="Avenir Next"/>
              </a:rPr>
              <a:t>Assessment focuses on mechanism, modelling, fair testing, uncertainty and spacesuit engineering trade-offs.</a:t>
            </a:r>
          </a:p>
        </p:txBody>
      </p:sp>
      <p:sp>
        <p:nvSpPr>
          <p:cNvPr id="20" name="">
            <a:extLst xmlns:a="http://schemas.openxmlformats.org/drawingml/2006/main">
              <a:ext uri="{FF2B5EF4-FFF2-40B4-BE49-F238E27FC236}">
                <a16:creationId xmlns:a16="http://schemas.microsoft.com/office/drawing/2014/main" id="{FED1ABFD-04F2-4D78-BBB0-74E96B1D6F98}"/>
              </a:ext>
            </a:extLst>
          </p:cNvPr>
          <p:cNvSpPr>
            <a:spLocks xmlns:a="http://schemas.openxmlformats.org/drawingml/2006/main" noGrp="1"/>
          </p:cNvSpPr>
          <p:nvPr/>
        </p:nvSpPr>
        <p:spPr>
          <a:xfrm xmlns:a="http://schemas.openxmlformats.org/drawingml/2006/main">
            <a:off x="495300" y="590550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1">
                <a:solidFill>
                  <a:srgbClr val="F59E0B"/>
                </a:solidFill>
                <a:latin typeface="Avenir Next"/>
                <a:ea typeface="Avenir Next"/>
                <a:cs typeface="Avenir Next"/>
              </a:defRPr>
            </a:pPr>
            <a:r>
              <a:rPr sz="1200" b="0" i="1">
                <a:solidFill>
                  <a:srgbClr val="F59E0B"/>
                </a:solidFill>
                <a:latin typeface="Avenir Next"/>
                <a:ea typeface="Avenir Next"/>
                <a:cs typeface="Avenir Next"/>
              </a:rPr>
              <a:t>Safety disclosure: the activity does not certify materials for aerospace, pressure-vessel, fire-protection or personal-protective use.</a:t>
            </a:r>
          </a:p>
        </p:txBody>
      </p:sp>
    </p:spTree>
    <p:extLst>
      <p:ext uri="{BB962C8B-B14F-4D97-AF65-F5344CB8AC3E}">
        <p14:creationId xmlns:p14="http://schemas.microsoft.com/office/powerpoint/2010/main" val="1330532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2026-09-09T08:36:22.8360000Z</dcterms:created>
  <dcterms:modified xsi:type="dcterms:W3CDTF">2026-09-09T08:36:22.8360000Z</dcterms:modified>
</coreProperties>
</file>